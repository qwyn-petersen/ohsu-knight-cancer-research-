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72" r:id="rId2"/>
  </p:sldIdLst>
  <p:sldSz cx="43891200" cy="32918400"/>
  <p:notesSz cx="32104013" cy="430768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330">
          <p15:clr>
            <a:srgbClr val="A4A3A4"/>
          </p15:clr>
        </p15:guide>
        <p15:guide id="2" pos="12425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20B1A1-8B17-8BFA-6261-08EC2D8DBE62}" name="Davies, Alexander E." initials="" userId="S::davies.474@osu.edu::a95c7f23-11b1-473c-8578-89bb3dd860d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olyn Schutt" initials="CS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F086"/>
    <a:srgbClr val="FC5DDD"/>
    <a:srgbClr val="FF00CE"/>
    <a:srgbClr val="27F282"/>
    <a:srgbClr val="E02225"/>
    <a:srgbClr val="00B1FF"/>
    <a:srgbClr val="FF00F7"/>
    <a:srgbClr val="16FF16"/>
    <a:srgbClr val="F2B449"/>
    <a:srgbClr val="FF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ABCADB-3A6A-B824-DA30-C11FB53C71B1}" v="7664" dt="2025-08-12T22:22:48.1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7330"/>
        <p:guide pos="12425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8/10/relationships/authors" Target="authors.xml"/><Relationship Id="rId5" Type="http://schemas.openxmlformats.org/officeDocument/2006/relationships/commentAuthors" Target="commentAuthor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22A69C3-5C5F-4574-816C-5B140A268D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911263" cy="215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06278" tIns="203139" rIns="406278" bIns="20313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5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0E59641-D107-4931-B904-1A6F9D48C83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8184813" y="0"/>
            <a:ext cx="13911262" cy="215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06278" tIns="203139" rIns="406278" bIns="20313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5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D4E51A9B-EA41-423A-A4ED-A5D02E31A86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40914638"/>
            <a:ext cx="13911263" cy="215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06278" tIns="203139" rIns="406278" bIns="20313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5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EF27EFB8-830C-4F7F-B539-DC6833521E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8184813" y="40914638"/>
            <a:ext cx="13911262" cy="215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06278" tIns="203139" rIns="406278" bIns="20313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5300">
                <a:solidFill>
                  <a:schemeClr val="tx1"/>
                </a:solidFill>
              </a:defRPr>
            </a:lvl1pPr>
          </a:lstStyle>
          <a:p>
            <a:fld id="{45DDAEC0-295A-4A81-A923-4E5C91BA1A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AFFA7AB-2232-4F32-A86C-5EDD55D400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911263" cy="215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29477" tIns="214736" rIns="429477" bIns="214736" numCol="1" anchor="t" anchorCtr="0" compatLnSpc="1">
            <a:prstTxWarp prst="textNoShape">
              <a:avLst/>
            </a:prstTxWarp>
          </a:bodyPr>
          <a:lstStyle>
            <a:lvl1pPr defTabSz="4295537" eaLnBrk="1" hangingPunct="1">
              <a:defRPr sz="57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2E1A5A0-FBE3-436F-85B1-3A9CCAC05ED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8184813" y="0"/>
            <a:ext cx="13911262" cy="215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29477" tIns="214736" rIns="429477" bIns="214736" numCol="1" anchor="t" anchorCtr="0" compatLnSpc="1">
            <a:prstTxWarp prst="textNoShape">
              <a:avLst/>
            </a:prstTxWarp>
          </a:bodyPr>
          <a:lstStyle>
            <a:lvl1pPr algn="r" defTabSz="4295537" eaLnBrk="1" hangingPunct="1">
              <a:defRPr sz="57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888BD4D-5DDB-43EC-93B3-C5768A5D26C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283200" y="3233738"/>
            <a:ext cx="21537613" cy="16154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16B63D52-0112-47A8-93C6-5FC6ECD3CB3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209925" y="20461288"/>
            <a:ext cx="25684163" cy="1938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29477" tIns="214736" rIns="429477" bIns="2147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22CD712-241A-4AFE-8B55-50703B8C89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40914638"/>
            <a:ext cx="13911263" cy="215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29477" tIns="214736" rIns="429477" bIns="214736" numCol="1" anchor="b" anchorCtr="0" compatLnSpc="1">
            <a:prstTxWarp prst="textNoShape">
              <a:avLst/>
            </a:prstTxWarp>
          </a:bodyPr>
          <a:lstStyle>
            <a:lvl1pPr defTabSz="4295537" eaLnBrk="1" hangingPunct="1">
              <a:defRPr sz="57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F4E4600A-78A9-4606-BD06-0FC2585335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8184813" y="40914638"/>
            <a:ext cx="13911262" cy="215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29477" tIns="214736" rIns="429477" bIns="214736" numCol="1" anchor="b" anchorCtr="0" compatLnSpc="1">
            <a:prstTxWarp prst="textNoShape">
              <a:avLst/>
            </a:prstTxWarp>
          </a:bodyPr>
          <a:lstStyle>
            <a:lvl1pPr algn="r" defTabSz="4294188" eaLnBrk="1" hangingPunct="1">
              <a:defRPr sz="5700">
                <a:solidFill>
                  <a:schemeClr val="tx1"/>
                </a:solidFill>
              </a:defRPr>
            </a:lvl1pPr>
          </a:lstStyle>
          <a:p>
            <a:fld id="{A08D5FF6-F3B9-4DE8-BAD7-088A40A61B0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FFE0F-A0A1-BC4B-AFE5-6FCEB4DC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3944F5-AFDD-B891-7DBC-F616CAD3F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27AEA-891C-278C-9255-F27AABFA7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B9B4D-5E80-0E1B-3A91-D7019B520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D5FF6-F3B9-4DE8-BAD7-088A40A61B09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0654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163" y="9799638"/>
            <a:ext cx="43526075" cy="67627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80325" y="17876838"/>
            <a:ext cx="35845750" cy="806132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9825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706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4950" y="20272375"/>
            <a:ext cx="43526075" cy="62642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50" y="13371513"/>
            <a:ext cx="43526075" cy="690086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2006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60638" y="7361238"/>
            <a:ext cx="22966362" cy="20818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79400" y="7361238"/>
            <a:ext cx="22966363" cy="20818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5854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638" y="1263650"/>
            <a:ext cx="46085125" cy="5257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638" y="7061200"/>
            <a:ext cx="22625050" cy="2943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638" y="10004425"/>
            <a:ext cx="22625050" cy="18175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12775" y="7061200"/>
            <a:ext cx="22632988" cy="2943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12775" y="10004425"/>
            <a:ext cx="22632988" cy="18175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1099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774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054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638" y="1255713"/>
            <a:ext cx="16846550" cy="53451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19963" y="1255713"/>
            <a:ext cx="28625800" cy="2692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638" y="6600825"/>
            <a:ext cx="16846550" cy="21578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057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6175" y="22082125"/>
            <a:ext cx="30724475" cy="26082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36175" y="2819400"/>
            <a:ext cx="30724475" cy="189277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36175" y="24690388"/>
            <a:ext cx="30724475" cy="37020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8921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6356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360350" y="228600"/>
            <a:ext cx="11931650" cy="279511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60638" y="228600"/>
            <a:ext cx="35647312" cy="279511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3823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9126464E-0D06-4A9F-B18E-38543D16A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95513" y="7681913"/>
            <a:ext cx="39500175" cy="2172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72873" tIns="236436" rIns="472873" bIns="2364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7D16B4A3-FB6E-4792-9C4A-8DE7C882DA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772400" y="238125"/>
            <a:ext cx="35334575" cy="389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72873" tIns="236436" rIns="472873" bIns="23643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729163" rtl="0" eaLnBrk="0" fontAlgn="base" hangingPunct="0">
        <a:spcBef>
          <a:spcPct val="0"/>
        </a:spcBef>
        <a:spcAft>
          <a:spcPct val="0"/>
        </a:spcAft>
        <a:defRPr sz="12000">
          <a:solidFill>
            <a:schemeClr val="bg1"/>
          </a:solidFill>
          <a:latin typeface="+mj-lt"/>
          <a:ea typeface="+mj-ea"/>
          <a:cs typeface="+mj-cs"/>
        </a:defRPr>
      </a:lvl1pPr>
      <a:lvl2pPr algn="l" defTabSz="4729163" rtl="0" eaLnBrk="0" fontAlgn="base" hangingPunct="0">
        <a:spcBef>
          <a:spcPct val="0"/>
        </a:spcBef>
        <a:spcAft>
          <a:spcPct val="0"/>
        </a:spcAft>
        <a:defRPr sz="12000">
          <a:solidFill>
            <a:schemeClr val="bg1"/>
          </a:solidFill>
          <a:latin typeface="Arial" charset="0"/>
        </a:defRPr>
      </a:lvl2pPr>
      <a:lvl3pPr algn="l" defTabSz="4729163" rtl="0" eaLnBrk="0" fontAlgn="base" hangingPunct="0">
        <a:spcBef>
          <a:spcPct val="0"/>
        </a:spcBef>
        <a:spcAft>
          <a:spcPct val="0"/>
        </a:spcAft>
        <a:defRPr sz="12000">
          <a:solidFill>
            <a:schemeClr val="bg1"/>
          </a:solidFill>
          <a:latin typeface="Arial" charset="0"/>
        </a:defRPr>
      </a:lvl3pPr>
      <a:lvl4pPr algn="l" defTabSz="4729163" rtl="0" eaLnBrk="0" fontAlgn="base" hangingPunct="0">
        <a:spcBef>
          <a:spcPct val="0"/>
        </a:spcBef>
        <a:spcAft>
          <a:spcPct val="0"/>
        </a:spcAft>
        <a:defRPr sz="12000">
          <a:solidFill>
            <a:schemeClr val="bg1"/>
          </a:solidFill>
          <a:latin typeface="Arial" charset="0"/>
        </a:defRPr>
      </a:lvl4pPr>
      <a:lvl5pPr algn="l" defTabSz="4729163" rtl="0" eaLnBrk="0" fontAlgn="base" hangingPunct="0">
        <a:spcBef>
          <a:spcPct val="0"/>
        </a:spcBef>
        <a:spcAft>
          <a:spcPct val="0"/>
        </a:spcAft>
        <a:defRPr sz="12000">
          <a:solidFill>
            <a:schemeClr val="bg1"/>
          </a:solidFill>
          <a:latin typeface="Arial" charset="0"/>
        </a:defRPr>
      </a:lvl5pPr>
      <a:lvl6pPr marL="457200" algn="l" defTabSz="4729163" rtl="0" fontAlgn="base">
        <a:spcBef>
          <a:spcPct val="0"/>
        </a:spcBef>
        <a:spcAft>
          <a:spcPct val="0"/>
        </a:spcAft>
        <a:defRPr sz="12000">
          <a:solidFill>
            <a:schemeClr val="bg1"/>
          </a:solidFill>
          <a:latin typeface="Arial" charset="0"/>
        </a:defRPr>
      </a:lvl6pPr>
      <a:lvl7pPr marL="914400" algn="l" defTabSz="4729163" rtl="0" fontAlgn="base">
        <a:spcBef>
          <a:spcPct val="0"/>
        </a:spcBef>
        <a:spcAft>
          <a:spcPct val="0"/>
        </a:spcAft>
        <a:defRPr sz="12000">
          <a:solidFill>
            <a:schemeClr val="bg1"/>
          </a:solidFill>
          <a:latin typeface="Arial" charset="0"/>
        </a:defRPr>
      </a:lvl7pPr>
      <a:lvl8pPr marL="1371600" algn="l" defTabSz="4729163" rtl="0" fontAlgn="base">
        <a:spcBef>
          <a:spcPct val="0"/>
        </a:spcBef>
        <a:spcAft>
          <a:spcPct val="0"/>
        </a:spcAft>
        <a:defRPr sz="12000">
          <a:solidFill>
            <a:schemeClr val="bg1"/>
          </a:solidFill>
          <a:latin typeface="Arial" charset="0"/>
        </a:defRPr>
      </a:lvl8pPr>
      <a:lvl9pPr marL="1828800" algn="l" defTabSz="4729163" rtl="0" fontAlgn="base">
        <a:spcBef>
          <a:spcPct val="0"/>
        </a:spcBef>
        <a:spcAft>
          <a:spcPct val="0"/>
        </a:spcAft>
        <a:defRPr sz="12000">
          <a:solidFill>
            <a:schemeClr val="bg1"/>
          </a:solidFill>
          <a:latin typeface="Arial" charset="0"/>
        </a:defRPr>
      </a:lvl9pPr>
    </p:titleStyle>
    <p:bodyStyle>
      <a:lvl1pPr marL="1773238" indent="-1773238" algn="l" defTabSz="4729163" rtl="0" eaLnBrk="0" fontAlgn="base" hangingPunct="0">
        <a:spcBef>
          <a:spcPct val="20000"/>
        </a:spcBef>
        <a:spcAft>
          <a:spcPct val="0"/>
        </a:spcAft>
        <a:buChar char="•"/>
        <a:defRPr sz="16500">
          <a:solidFill>
            <a:schemeClr val="tx1"/>
          </a:solidFill>
          <a:latin typeface="+mn-lt"/>
          <a:ea typeface="+mn-ea"/>
          <a:cs typeface="+mn-cs"/>
        </a:defRPr>
      </a:lvl1pPr>
      <a:lvl2pPr marL="3841750" indent="-1477963" algn="l" defTabSz="4729163" rtl="0" eaLnBrk="0" fontAlgn="base" hangingPunct="0">
        <a:spcBef>
          <a:spcPct val="20000"/>
        </a:spcBef>
        <a:spcAft>
          <a:spcPct val="0"/>
        </a:spcAft>
        <a:buChar char="–"/>
        <a:defRPr sz="14500">
          <a:solidFill>
            <a:schemeClr val="tx1"/>
          </a:solidFill>
          <a:latin typeface="+mn-lt"/>
        </a:defRPr>
      </a:lvl2pPr>
      <a:lvl3pPr marL="5910263" indent="-1181100" algn="l" defTabSz="4729163" rtl="0" eaLnBrk="0" fontAlgn="base" hangingPunct="0">
        <a:spcBef>
          <a:spcPct val="20000"/>
        </a:spcBef>
        <a:spcAft>
          <a:spcPct val="0"/>
        </a:spcAft>
        <a:buChar char="•"/>
        <a:defRPr sz="12400">
          <a:solidFill>
            <a:schemeClr val="tx1"/>
          </a:solidFill>
          <a:latin typeface="+mn-lt"/>
        </a:defRPr>
      </a:lvl3pPr>
      <a:lvl4pPr marL="8275638" indent="-1182688" algn="l" defTabSz="4729163" rtl="0" eaLnBrk="0" fontAlgn="base" hangingPunct="0">
        <a:spcBef>
          <a:spcPct val="20000"/>
        </a:spcBef>
        <a:spcAft>
          <a:spcPct val="0"/>
        </a:spcAft>
        <a:buChar char="–"/>
        <a:defRPr sz="10300">
          <a:solidFill>
            <a:schemeClr val="tx1"/>
          </a:solidFill>
          <a:latin typeface="+mn-lt"/>
        </a:defRPr>
      </a:lvl4pPr>
      <a:lvl5pPr marL="10639425" indent="-1182688" algn="l" defTabSz="4729163" rtl="0" eaLnBrk="0" fontAlgn="base" hangingPunct="0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5pPr>
      <a:lvl6pPr marL="11096625" indent="-1182688" algn="l" defTabSz="4729163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6pPr>
      <a:lvl7pPr marL="11553825" indent="-1182688" algn="l" defTabSz="4729163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7pPr>
      <a:lvl8pPr marL="12011025" indent="-1182688" algn="l" defTabSz="4729163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8pPr>
      <a:lvl9pPr marL="12468225" indent="-1182688" algn="l" defTabSz="4729163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jpe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9" Type="http://schemas.openxmlformats.org/officeDocument/2006/relationships/image" Target="../media/image35.png"/><Relationship Id="rId21" Type="http://schemas.openxmlformats.org/officeDocument/2006/relationships/image" Target="../media/image17.png"/><Relationship Id="rId34" Type="http://schemas.openxmlformats.org/officeDocument/2006/relationships/image" Target="../media/image30.png"/><Relationship Id="rId42" Type="http://schemas.openxmlformats.org/officeDocument/2006/relationships/image" Target="../media/image3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29" Type="http://schemas.openxmlformats.org/officeDocument/2006/relationships/image" Target="../media/image25.png"/><Relationship Id="rId41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image" Target="../media/image20.png"/><Relationship Id="rId32" Type="http://schemas.openxmlformats.org/officeDocument/2006/relationships/image" Target="../media/image28.png"/><Relationship Id="rId37" Type="http://schemas.openxmlformats.org/officeDocument/2006/relationships/image" Target="../media/image33.png"/><Relationship Id="rId40" Type="http://schemas.openxmlformats.org/officeDocument/2006/relationships/image" Target="../media/image36.png"/><Relationship Id="rId5" Type="http://schemas.microsoft.com/office/2007/relationships/hdphoto" Target="../media/hdphoto1.wdp"/><Relationship Id="rId15" Type="http://schemas.openxmlformats.org/officeDocument/2006/relationships/hyperlink" Target="https://doi.org/10.1016/j.cels.2020.07.004" TargetMode="External"/><Relationship Id="rId23" Type="http://schemas.openxmlformats.org/officeDocument/2006/relationships/image" Target="../media/image19.png"/><Relationship Id="rId28" Type="http://schemas.openxmlformats.org/officeDocument/2006/relationships/image" Target="../media/image24.png"/><Relationship Id="rId36" Type="http://schemas.openxmlformats.org/officeDocument/2006/relationships/image" Target="../media/image32.png"/><Relationship Id="rId10" Type="http://schemas.openxmlformats.org/officeDocument/2006/relationships/image" Target="../media/image7.png"/><Relationship Id="rId19" Type="http://schemas.openxmlformats.org/officeDocument/2006/relationships/image" Target="../media/image15.png"/><Relationship Id="rId31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Relationship Id="rId30" Type="http://schemas.openxmlformats.org/officeDocument/2006/relationships/image" Target="../media/image26.png"/><Relationship Id="rId35" Type="http://schemas.openxmlformats.org/officeDocument/2006/relationships/image" Target="../media/image31.png"/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12" Type="http://schemas.openxmlformats.org/officeDocument/2006/relationships/image" Target="../media/image9.png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33" Type="http://schemas.openxmlformats.org/officeDocument/2006/relationships/image" Target="../media/image29.png"/><Relationship Id="rId3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D0AF2-5199-E2B1-B9A8-1477FBE3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CCE1D05A-FBE5-C214-02AE-BD01F68BC167}"/>
              </a:ext>
            </a:extLst>
          </p:cNvPr>
          <p:cNvSpPr/>
          <p:nvPr/>
        </p:nvSpPr>
        <p:spPr bwMode="auto">
          <a:xfrm>
            <a:off x="32375656" y="5870214"/>
            <a:ext cx="11265437" cy="16946988"/>
          </a:xfrm>
          <a:prstGeom prst="rect">
            <a:avLst/>
          </a:prstGeom>
          <a:solidFill>
            <a:schemeClr val="bg1"/>
          </a:solidFill>
          <a:ln w="635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472873" tIns="236436" rIns="472873" bIns="236436" anchor="ctr"/>
          <a:lstStyle/>
          <a:p>
            <a:pPr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endParaRPr lang="en-US" sz="3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558024-F24E-2F7D-6A76-A39A08104A7A}"/>
              </a:ext>
            </a:extLst>
          </p:cNvPr>
          <p:cNvSpPr/>
          <p:nvPr/>
        </p:nvSpPr>
        <p:spPr bwMode="auto">
          <a:xfrm>
            <a:off x="239737" y="12184967"/>
            <a:ext cx="14288011" cy="4828879"/>
          </a:xfrm>
          <a:prstGeom prst="rect">
            <a:avLst/>
          </a:prstGeom>
          <a:solidFill>
            <a:schemeClr val="bg1"/>
          </a:solidFill>
          <a:ln w="635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472873" tIns="236436" rIns="472873" bIns="236436" anchor="ctr"/>
          <a:lstStyle/>
          <a:p>
            <a:endParaRPr lang="en-US" sz="32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1C1D6C5F-9E41-CCAA-5EFA-4234681195FA}"/>
              </a:ext>
            </a:extLst>
          </p:cNvPr>
          <p:cNvSpPr/>
          <p:nvPr/>
        </p:nvSpPr>
        <p:spPr bwMode="auto">
          <a:xfrm>
            <a:off x="32393353" y="29598913"/>
            <a:ext cx="11266368" cy="3020878"/>
          </a:xfrm>
          <a:prstGeom prst="rect">
            <a:avLst/>
          </a:prstGeom>
          <a:solidFill>
            <a:schemeClr val="bg1"/>
          </a:solidFill>
          <a:ln w="635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472873" tIns="236436" rIns="472873" bIns="236436" anchor="ctr"/>
          <a:lstStyle/>
          <a:p>
            <a:endParaRPr lang="en-US">
              <a:solidFill>
                <a:schemeClr val="tx1"/>
              </a:solidFill>
              <a:cs typeface="Arial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B632A75-3290-0695-E294-C7C9B83A9361}"/>
              </a:ext>
            </a:extLst>
          </p:cNvPr>
          <p:cNvSpPr/>
          <p:nvPr/>
        </p:nvSpPr>
        <p:spPr bwMode="auto">
          <a:xfrm>
            <a:off x="251444" y="5864446"/>
            <a:ext cx="14269258" cy="5622010"/>
          </a:xfrm>
          <a:prstGeom prst="rect">
            <a:avLst/>
          </a:prstGeom>
          <a:solidFill>
            <a:schemeClr val="bg1"/>
          </a:solidFill>
          <a:ln w="635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472873" tIns="236436" rIns="472873" bIns="236436" anchor="ctr"/>
          <a:lstStyle/>
          <a:p>
            <a:endParaRPr lang="en-US" sz="18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86EF9E6-C202-817E-AD58-1C61C6037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858" y="21859"/>
            <a:ext cx="43891200" cy="4613586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spcAft>
                <a:spcPts val="600"/>
              </a:spcAft>
            </a:pPr>
            <a:br>
              <a:rPr lang="en-US"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7A395-5CF5-55F4-937A-E363DD65ECC6}"/>
              </a:ext>
            </a:extLst>
          </p:cNvPr>
          <p:cNvSpPr txBox="1"/>
          <p:nvPr/>
        </p:nvSpPr>
        <p:spPr>
          <a:xfrm>
            <a:off x="3202930" y="211516"/>
            <a:ext cx="40345344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6600">
                <a:latin typeface="+mj-lt"/>
                <a:cs typeface="Arial"/>
              </a:rPr>
              <a:t>Learning the Language of Invasion: </a:t>
            </a:r>
            <a:endParaRPr lang="en-US">
              <a:cs typeface="Arial"/>
            </a:endParaRPr>
          </a:p>
          <a:p>
            <a:pPr algn="ctr"/>
            <a:r>
              <a:rPr lang="en-US" sz="6600">
                <a:latin typeface="+mj-lt"/>
                <a:cs typeface="Arial"/>
              </a:rPr>
              <a:t>A Deep Learning Framework for Cell-Cell Interaction and ERK Signaling in Breast Cancer</a:t>
            </a:r>
            <a:endParaRPr lang="en-US"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E325F3-7CF0-7FFC-1C98-CEDA9AE8045A}"/>
              </a:ext>
            </a:extLst>
          </p:cNvPr>
          <p:cNvSpPr/>
          <p:nvPr/>
        </p:nvSpPr>
        <p:spPr>
          <a:xfrm>
            <a:off x="13862234" y="2319113"/>
            <a:ext cx="19020913" cy="707886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4000" err="1">
                <a:latin typeface="Arial"/>
                <a:cs typeface="Arial"/>
              </a:rPr>
              <a:t>Qwynestria</a:t>
            </a:r>
            <a:r>
              <a:rPr lang="en-US" sz="4000">
                <a:latin typeface="Arial"/>
                <a:cs typeface="Arial"/>
              </a:rPr>
              <a:t> Petersen</a:t>
            </a:r>
            <a:r>
              <a:rPr lang="en-US" sz="4000" baseline="30000">
                <a:latin typeface="Arial"/>
                <a:cs typeface="Arial"/>
              </a:rPr>
              <a:t>1</a:t>
            </a:r>
            <a:r>
              <a:rPr lang="en-US" sz="4000">
                <a:latin typeface="Arial"/>
                <a:cs typeface="Arial"/>
              </a:rPr>
              <a:t>, Vaibhav Murthy</a:t>
            </a:r>
            <a:r>
              <a:rPr lang="en-US" sz="4000" baseline="30000">
                <a:latin typeface="Arial"/>
                <a:cs typeface="Arial"/>
              </a:rPr>
              <a:t>1</a:t>
            </a:r>
            <a:r>
              <a:rPr lang="en-US" sz="4000">
                <a:latin typeface="Arial"/>
                <a:cs typeface="Arial"/>
              </a:rPr>
              <a:t>, Jeremy Copperman</a:t>
            </a:r>
            <a:r>
              <a:rPr lang="en-US" sz="4000" baseline="30000">
                <a:latin typeface="Arial"/>
                <a:cs typeface="Arial"/>
              </a:rPr>
              <a:t>1</a:t>
            </a:r>
            <a:r>
              <a:rPr lang="en-US" sz="4000">
                <a:latin typeface="Arial"/>
                <a:cs typeface="Arial"/>
              </a:rPr>
              <a:t>, Alexander Davies</a:t>
            </a:r>
            <a:r>
              <a:rPr lang="en-US" sz="4000" baseline="30000">
                <a:latin typeface="Arial"/>
                <a:cs typeface="Arial"/>
              </a:rPr>
              <a:t>1,2,3</a:t>
            </a:r>
            <a:endParaRPr lang="en-US" sz="400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6BFF58-1EA2-418B-563A-95D2BCBE51E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214"/>
          <a:stretch/>
        </p:blipFill>
        <p:spPr>
          <a:xfrm>
            <a:off x="861326" y="202047"/>
            <a:ext cx="3041555" cy="4030001"/>
          </a:xfrm>
          <a:prstGeom prst="rect">
            <a:avLst/>
          </a:prstGeom>
        </p:spPr>
      </p:pic>
      <p:sp>
        <p:nvSpPr>
          <p:cNvPr id="77" name="Text Box 110">
            <a:extLst>
              <a:ext uri="{FF2B5EF4-FFF2-40B4-BE49-F238E27FC236}">
                <a16:creationId xmlns:a16="http://schemas.microsoft.com/office/drawing/2014/main" id="{40490C94-3473-F89D-A071-DA9EBBB33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425" y="5058189"/>
            <a:ext cx="14248354" cy="803646"/>
          </a:xfrm>
          <a:prstGeom prst="rect">
            <a:avLst/>
          </a:prstGeom>
          <a:solidFill>
            <a:srgbClr val="002060"/>
          </a:solidFill>
          <a:ln w="63500" algn="ctr">
            <a:solidFill>
              <a:srgbClr val="002060"/>
            </a:solidFill>
            <a:miter lim="800000"/>
            <a:headEnd/>
            <a:tailEnd/>
          </a:ln>
        </p:spPr>
        <p:txBody>
          <a:bodyPr lIns="472873" tIns="694944" rIns="472873" bIns="236436"/>
          <a:lstStyle>
            <a:lvl1pPr defTabSz="4729163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29163">
              <a:spcBef>
                <a:spcPct val="20000"/>
              </a:spcBef>
              <a:buChar char="–"/>
              <a:defRPr sz="14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29163">
              <a:spcBef>
                <a:spcPct val="20000"/>
              </a:spcBef>
              <a:buChar char="•"/>
              <a:defRPr sz="1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29163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29163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100000"/>
              </a:spcBef>
              <a:buFontTx/>
              <a:buNone/>
            </a:pPr>
            <a:endParaRPr lang="en-US" altLang="en-US" sz="4800" b="1">
              <a:solidFill>
                <a:schemeClr val="bg1"/>
              </a:solidFill>
            </a:endParaRPr>
          </a:p>
        </p:txBody>
      </p:sp>
      <p:pic>
        <p:nvPicPr>
          <p:cNvPr id="149" name="Picture 4" descr="Hoosier Cancer Research Network Knight Cancer Institute at ...">
            <a:extLst>
              <a:ext uri="{FF2B5EF4-FFF2-40B4-BE49-F238E27FC236}">
                <a16:creationId xmlns:a16="http://schemas.microsoft.com/office/drawing/2014/main" id="{88357C1A-B0D8-0578-A80C-FB1240313D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202"/>
          <a:stretch/>
        </p:blipFill>
        <p:spPr bwMode="auto">
          <a:xfrm>
            <a:off x="41667946" y="29864944"/>
            <a:ext cx="1504263" cy="1033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Picture 10" descr="History of the NIH Logo | National Institutes of Health (NIH)">
            <a:extLst>
              <a:ext uri="{FF2B5EF4-FFF2-40B4-BE49-F238E27FC236}">
                <a16:creationId xmlns:a16="http://schemas.microsoft.com/office/drawing/2014/main" id="{16A42D91-4C3A-17A6-787F-8902E4A682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85" b="17348"/>
          <a:stretch/>
        </p:blipFill>
        <p:spPr bwMode="auto">
          <a:xfrm>
            <a:off x="42185070" y="31590092"/>
            <a:ext cx="1147267" cy="73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0" name="Text Box 260">
            <a:extLst>
              <a:ext uri="{FF2B5EF4-FFF2-40B4-BE49-F238E27FC236}">
                <a16:creationId xmlns:a16="http://schemas.microsoft.com/office/drawing/2014/main" id="{97E509C7-5BBA-4CA2-D033-8FF2C7016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4093" y="5054662"/>
            <a:ext cx="1270781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sz="4000" b="1">
                <a:latin typeface="+mn-lt"/>
                <a:cs typeface="Calibri" pitchFamily="34" charset="0"/>
              </a:rPr>
              <a:t>QUESTION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C50294C-44BD-CEE8-0194-9D41A6447E41}"/>
              </a:ext>
            </a:extLst>
          </p:cNvPr>
          <p:cNvSpPr/>
          <p:nvPr/>
        </p:nvSpPr>
        <p:spPr bwMode="auto">
          <a:xfrm>
            <a:off x="256840" y="17869227"/>
            <a:ext cx="14270177" cy="14751585"/>
          </a:xfrm>
          <a:prstGeom prst="rect">
            <a:avLst/>
          </a:prstGeom>
          <a:solidFill>
            <a:schemeClr val="bg1"/>
          </a:solidFill>
          <a:ln w="635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472873" tIns="236436" rIns="472873" bIns="236436" anchor="ctr"/>
          <a:lstStyle/>
          <a:p>
            <a:endParaRPr lang="en-US" sz="18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2" name="Text Box 110">
            <a:extLst>
              <a:ext uri="{FF2B5EF4-FFF2-40B4-BE49-F238E27FC236}">
                <a16:creationId xmlns:a16="http://schemas.microsoft.com/office/drawing/2014/main" id="{6B694506-BB7D-8BD5-8731-E3F3AEA75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235" y="11472581"/>
            <a:ext cx="14425308" cy="730042"/>
          </a:xfrm>
          <a:prstGeom prst="rect">
            <a:avLst/>
          </a:prstGeom>
          <a:solidFill>
            <a:srgbClr val="002060"/>
          </a:solidFill>
          <a:ln w="63500" algn="ctr">
            <a:solidFill>
              <a:srgbClr val="002060"/>
            </a:solidFill>
            <a:miter lim="800000"/>
            <a:headEnd/>
            <a:tailEnd/>
          </a:ln>
        </p:spPr>
        <p:txBody>
          <a:bodyPr lIns="472873" tIns="694944" rIns="472873" bIns="236436"/>
          <a:lstStyle>
            <a:lvl1pPr defTabSz="4729163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29163">
              <a:spcBef>
                <a:spcPct val="20000"/>
              </a:spcBef>
              <a:buChar char="–"/>
              <a:defRPr sz="14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29163">
              <a:spcBef>
                <a:spcPct val="20000"/>
              </a:spcBef>
              <a:buChar char="•"/>
              <a:defRPr sz="1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29163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29163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100000"/>
              </a:spcBef>
              <a:buFontTx/>
              <a:buNone/>
            </a:pPr>
            <a:endParaRPr lang="en-US" altLang="en-US" sz="4800" b="1">
              <a:solidFill>
                <a:schemeClr val="bg1"/>
              </a:solidFill>
            </a:endParaRPr>
          </a:p>
        </p:txBody>
      </p:sp>
      <p:sp>
        <p:nvSpPr>
          <p:cNvPr id="13" name="Text Box 260">
            <a:extLst>
              <a:ext uri="{FF2B5EF4-FFF2-40B4-BE49-F238E27FC236}">
                <a16:creationId xmlns:a16="http://schemas.microsoft.com/office/drawing/2014/main" id="{31624262-158C-F950-2E6C-CBBAD19AD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9614" y="11534545"/>
            <a:ext cx="1015284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sz="4000" b="1" dirty="0">
                <a:latin typeface="Arial"/>
                <a:cs typeface="Calibri"/>
              </a:rPr>
              <a:t>CHALLENGES</a:t>
            </a:r>
            <a:endParaRPr lang="en-US" sz="4000" b="1" dirty="0">
              <a:cs typeface="Calibri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1582EE7A-D7B7-A985-8933-0F7E3FF3917D}"/>
              </a:ext>
            </a:extLst>
          </p:cNvPr>
          <p:cNvSpPr txBox="1"/>
          <p:nvPr/>
        </p:nvSpPr>
        <p:spPr>
          <a:xfrm>
            <a:off x="21730442" y="3355727"/>
            <a:ext cx="2193215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aseline="30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Cancer Early Detection Advance Research Center, Knight Cancer Institute, School of Medicine, Oregon Health and Science University,</a:t>
            </a: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Portland, Oregon, USA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defRPr/>
            </a:pPr>
            <a:r>
              <a:rPr lang="en-US" sz="2400" baseline="30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Division of Oncological Sciences, Knight Cancer Institute, School of Medicine, Oregon Health &amp; Science University, Portland, Oregon, USA</a:t>
            </a:r>
          </a:p>
          <a:p>
            <a:pPr algn="r">
              <a:defRPr/>
            </a:pPr>
            <a:r>
              <a:rPr lang="en-US" sz="2400" baseline="30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Department of Pediatrics, School of Medicine, Oregon Health &amp; Science University, Portland, Oregon, USA</a:t>
            </a:r>
          </a:p>
          <a:p>
            <a:pPr algn="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9A562C48-5E95-AE0D-1108-1221CEB3B1E7}"/>
              </a:ext>
            </a:extLst>
          </p:cNvPr>
          <p:cNvSpPr txBox="1"/>
          <p:nvPr/>
        </p:nvSpPr>
        <p:spPr>
          <a:xfrm>
            <a:off x="41603382" y="30908685"/>
            <a:ext cx="1923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CEDAR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A1563A-3375-8678-6088-B5E90F376A8A}"/>
              </a:ext>
            </a:extLst>
          </p:cNvPr>
          <p:cNvSpPr/>
          <p:nvPr/>
        </p:nvSpPr>
        <p:spPr bwMode="auto">
          <a:xfrm>
            <a:off x="14513734" y="8289283"/>
            <a:ext cx="17854540" cy="24332283"/>
          </a:xfrm>
          <a:prstGeom prst="rect">
            <a:avLst/>
          </a:prstGeom>
          <a:solidFill>
            <a:schemeClr val="bg1"/>
          </a:solidFill>
          <a:ln w="635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472873" tIns="236436" rIns="472873" bIns="236436" anchor="ctr"/>
          <a:lstStyle/>
          <a:p>
            <a:pPr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3200" baseline="0" dirty="0">
                <a:latin typeface="Arial"/>
                <a:ea typeface="Segoe UI"/>
                <a:cs typeface="Segoe UI"/>
              </a:rPr>
              <a:t>II</a:t>
            </a:r>
            <a:r>
              <a:rPr lang="en-US" sz="3200" b="1" baseline="0" dirty="0">
                <a:latin typeface="Arial"/>
                <a:ea typeface="Segoe UI"/>
                <a:cs typeface="Segoe UI"/>
              </a:rPr>
              <a:t>I.  Using</a:t>
            </a:r>
            <a:endParaRPr lang="en-US" sz="3200" b="1" dirty="0">
              <a:cs typeface="Segoe UI"/>
            </a:endParaRPr>
          </a:p>
        </p:txBody>
      </p:sp>
      <p:sp>
        <p:nvSpPr>
          <p:cNvPr id="40" name="Text Box 260">
            <a:extLst>
              <a:ext uri="{FF2B5EF4-FFF2-40B4-BE49-F238E27FC236}">
                <a16:creationId xmlns:a16="http://schemas.microsoft.com/office/drawing/2014/main" id="{D6E0D3C7-D6B4-5B0E-7DBA-FC153DE4C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0382" y="20849904"/>
            <a:ext cx="1019704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sz="4000" b="1">
                <a:latin typeface="Arial"/>
                <a:cs typeface="Calibri"/>
              </a:rPr>
              <a:t>SOLUTION</a:t>
            </a:r>
          </a:p>
        </p:txBody>
      </p:sp>
      <p:sp>
        <p:nvSpPr>
          <p:cNvPr id="43" name="Text Box 260">
            <a:extLst>
              <a:ext uri="{FF2B5EF4-FFF2-40B4-BE49-F238E27FC236}">
                <a16:creationId xmlns:a16="http://schemas.microsoft.com/office/drawing/2014/main" id="{644E87D9-CFDC-EE03-6FFB-C358EEA30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3737" y="5156433"/>
            <a:ext cx="1020459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sz="4000" b="1" dirty="0">
                <a:latin typeface="Arial"/>
                <a:cs typeface="Calibri"/>
              </a:rPr>
              <a:t>QUESTIONS</a:t>
            </a: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A797748E-0759-5D92-0795-7E341ADF73CE}"/>
              </a:ext>
            </a:extLst>
          </p:cNvPr>
          <p:cNvSpPr/>
          <p:nvPr/>
        </p:nvSpPr>
        <p:spPr bwMode="auto">
          <a:xfrm>
            <a:off x="1020270" y="6502185"/>
            <a:ext cx="13204599" cy="184046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514350" indent="-514350" defTabSz="4729163">
              <a:buFont typeface="Arial"/>
              <a:buChar char="•"/>
            </a:pP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What causes breast cancer cells to </a:t>
            </a:r>
            <a:r>
              <a:rPr lang="en-US" sz="3200" b="1" dirty="0">
                <a:solidFill>
                  <a:schemeClr val="tx1"/>
                </a:solidFill>
                <a:latin typeface="Arial"/>
                <a:cs typeface="Arial"/>
              </a:rPr>
              <a:t>invade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beyond the mammary gland?</a:t>
            </a:r>
            <a:endParaRPr lang="en-US" sz="32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defTabSz="4729163"/>
            <a:endParaRPr lang="en-US" sz="32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14350" indent="-514350" defTabSz="4729163">
              <a:buFont typeface="Arial"/>
              <a:buChar char="•"/>
            </a:pP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Which patterns in </a:t>
            </a:r>
            <a:r>
              <a:rPr lang="en-US" sz="3200" b="1" dirty="0">
                <a:solidFill>
                  <a:schemeClr val="tx1"/>
                </a:solidFill>
                <a:latin typeface="Arial"/>
                <a:cs typeface="Arial"/>
              </a:rPr>
              <a:t>4D imaging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(3D + time) link microenvironment interactions to ERK signaling?</a:t>
            </a: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B563C8E8-5798-A764-1686-AB3A0A245079}"/>
              </a:ext>
            </a:extLst>
          </p:cNvPr>
          <p:cNvSpPr/>
          <p:nvPr/>
        </p:nvSpPr>
        <p:spPr bwMode="auto">
          <a:xfrm>
            <a:off x="675389" y="13991030"/>
            <a:ext cx="12989711" cy="185835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28600" tIns="236436" rIns="182880" bIns="236436" numCol="1" rtlCol="0" anchor="ctr" anchorCtr="0" compatLnSpc="1">
            <a:prstTxWarp prst="textNoShape">
              <a:avLst/>
            </a:prstTxWarp>
          </a:bodyPr>
          <a:lstStyle/>
          <a:p>
            <a:pPr defTabSz="4729163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3100" dirty="0">
                <a:solidFill>
                  <a:schemeClr val="tx1"/>
                </a:solidFill>
                <a:latin typeface="Arial"/>
                <a:cs typeface="Arial"/>
              </a:rPr>
              <a:t>Understanding cancer in 4D is hard.</a:t>
            </a:r>
            <a:endParaRPr lang="en-US" sz="3100" dirty="0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  <a:p>
            <a:pPr marL="1428750" lvl="2" indent="-514350" defTabSz="4729163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3100" dirty="0">
                <a:solidFill>
                  <a:schemeClr val="tx1"/>
                </a:solidFill>
                <a:latin typeface="Arial"/>
                <a:cs typeface="Arial"/>
              </a:rPr>
              <a:t>It's computationally expensive</a:t>
            </a:r>
          </a:p>
          <a:p>
            <a:pPr marL="1428750" lvl="2" indent="-514350" defTabSz="4729163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3100" dirty="0">
                <a:solidFill>
                  <a:schemeClr val="tx1"/>
                </a:solidFill>
                <a:latin typeface="Arial"/>
                <a:cs typeface="Arial"/>
              </a:rPr>
              <a:t>It's complex</a:t>
            </a:r>
          </a:p>
          <a:p>
            <a:pPr marL="1428750" lvl="2" indent="-514350" defTabSz="4729163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3100" dirty="0">
                <a:solidFill>
                  <a:schemeClr val="tx1"/>
                </a:solidFill>
                <a:latin typeface="Arial"/>
                <a:cs typeface="Arial"/>
              </a:rPr>
              <a:t>It's time consuming</a:t>
            </a:r>
          </a:p>
          <a:p>
            <a:pPr marL="1428750" lvl="2" indent="-514350" defTabSz="4729163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3100" dirty="0">
                <a:solidFill>
                  <a:schemeClr val="tx1"/>
                </a:solidFill>
                <a:latin typeface="Arial"/>
                <a:cs typeface="Arial"/>
              </a:rPr>
              <a:t>It's experimental </a:t>
            </a:r>
            <a:endParaRPr lang="en-US" sz="3100" dirty="0">
              <a:solidFill>
                <a:schemeClr val="tx1"/>
              </a:solidFill>
              <a:cs typeface="Arial"/>
            </a:endParaRPr>
          </a:p>
          <a:p>
            <a:pPr marL="1371600" lvl="2" indent="-457200" defTabSz="4729163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endParaRPr lang="en-US" sz="3100">
              <a:solidFill>
                <a:schemeClr val="tx1"/>
              </a:solidFill>
              <a:cs typeface="Arial"/>
            </a:endParaRPr>
          </a:p>
          <a:p>
            <a:pPr marL="514350" indent="-514350" defTabSz="4729163">
              <a:buAutoNum type="romanUcPeriod"/>
            </a:pPr>
            <a:endParaRPr lang="en-US" sz="3200">
              <a:solidFill>
                <a:schemeClr val="tx1"/>
              </a:solidFill>
              <a:cs typeface="Arial"/>
            </a:endParaRPr>
          </a:p>
        </p:txBody>
      </p:sp>
      <p:pic>
        <p:nvPicPr>
          <p:cNvPr id="484" name="Picture 483" descr="A diagram of a cell&#10;&#10;AI-generated content may be incorrect.">
            <a:extLst>
              <a:ext uri="{FF2B5EF4-FFF2-40B4-BE49-F238E27FC236}">
                <a16:creationId xmlns:a16="http://schemas.microsoft.com/office/drawing/2014/main" id="{DE2044ED-B770-9C3D-3238-3BF6B08715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0910" y="9442379"/>
            <a:ext cx="10075472" cy="1868696"/>
          </a:xfrm>
          <a:prstGeom prst="rect">
            <a:avLst/>
          </a:prstGeom>
        </p:spPr>
      </p:pic>
      <p:sp>
        <p:nvSpPr>
          <p:cNvPr id="517" name="Rectangle 516">
            <a:extLst>
              <a:ext uri="{FF2B5EF4-FFF2-40B4-BE49-F238E27FC236}">
                <a16:creationId xmlns:a16="http://schemas.microsoft.com/office/drawing/2014/main" id="{C2DFC86C-14C6-F3BF-57BA-6296ADD9AB36}"/>
              </a:ext>
            </a:extLst>
          </p:cNvPr>
          <p:cNvSpPr/>
          <p:nvPr/>
        </p:nvSpPr>
        <p:spPr bwMode="auto">
          <a:xfrm>
            <a:off x="657172" y="18296139"/>
            <a:ext cx="13688618" cy="325179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defTabSz="4729163"/>
            <a:endParaRPr lang="en-US" sz="32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defTabSz="4729163"/>
            <a:endParaRPr lang="en-US" sz="3200" dirty="0">
              <a:solidFill>
                <a:schemeClr val="tx1"/>
              </a:solidFill>
              <a:latin typeface="Arial"/>
              <a:cs typeface="Arial"/>
            </a:endParaRPr>
          </a:p>
          <a:p>
            <a:pPr defTabSz="4729163"/>
            <a:endParaRPr lang="en-US" sz="3200" dirty="0">
              <a:solidFill>
                <a:schemeClr val="tx1"/>
              </a:solidFill>
              <a:latin typeface="Arial"/>
              <a:cs typeface="Arial"/>
            </a:endParaRPr>
          </a:p>
          <a:p>
            <a:pPr defTabSz="4729163"/>
            <a:r>
              <a:rPr lang="en-US" sz="3200" b="1" dirty="0">
                <a:solidFill>
                  <a:schemeClr val="tx1"/>
                </a:solidFill>
                <a:latin typeface="Arial"/>
                <a:cs typeface="Arial"/>
              </a:rPr>
              <a:t>Our pipeline turns questions into answers.</a:t>
            </a:r>
            <a:endParaRPr lang="en-US" b="1" dirty="0">
              <a:solidFill>
                <a:schemeClr val="tx1"/>
              </a:solidFill>
            </a:endParaRPr>
          </a:p>
          <a:p>
            <a:pPr marL="514350" indent="-514350" defTabSz="4729163">
              <a:buAutoNum type="arabicPeriod"/>
            </a:pPr>
            <a:endParaRPr lang="en-US" sz="3200" b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514350" indent="-514350" defTabSz="4729163">
              <a:buAutoNum type="arabicPeriod"/>
            </a:pP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Captures how cells interact in 4D using SITE.</a:t>
            </a:r>
          </a:p>
          <a:p>
            <a:pPr marL="514350" indent="-514350" defTabSz="4729163">
              <a:buAutoNum type="arabicPeriod"/>
            </a:pP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Turns raw images into structured cellular data.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  <a:p>
            <a:pPr marL="514350" indent="-514350" defTabSz="4729163">
              <a:buAutoNum type="arabicPeriod"/>
            </a:pP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Maps cell movement and</a:t>
            </a:r>
            <a:r>
              <a:rPr lang="en-US" sz="3200" b="1" dirty="0">
                <a:solidFill>
                  <a:schemeClr val="tx1"/>
                </a:solidFill>
                <a:latin typeface="Arial"/>
                <a:cs typeface="Arial"/>
              </a:rPr>
              <a:t> ERK signaling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in cancer progression.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  <a:p>
            <a:pPr marL="514350" indent="-514350" defTabSz="4729163">
              <a:buAutoNum type="arabicPeriod"/>
            </a:pP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Detects invasion patterns with a variational autoencoder (VAE).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  <a:p>
            <a:pPr marL="514350" indent="-514350" defTabSz="4729163">
              <a:buAutoNum type="arabicPeriod"/>
            </a:pPr>
            <a:endParaRPr lang="en-US" sz="32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457200" indent="-457200" defTabSz="4729163">
              <a:buAutoNum type="arabicPeriod"/>
            </a:pPr>
            <a:endParaRPr lang="en-US" sz="3200" dirty="0">
              <a:solidFill>
                <a:schemeClr val="tx1"/>
              </a:solidFill>
              <a:latin typeface="Arial"/>
              <a:cs typeface="Arial"/>
            </a:endParaRPr>
          </a:p>
          <a:p>
            <a:pPr defTabSz="4729163"/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46" name="Text Box 110">
            <a:extLst>
              <a:ext uri="{FF2B5EF4-FFF2-40B4-BE49-F238E27FC236}">
                <a16:creationId xmlns:a16="http://schemas.microsoft.com/office/drawing/2014/main" id="{F9FED8DB-D6F4-1A05-5A54-9A61FF6AA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1469" y="4803182"/>
            <a:ext cx="17834939" cy="805111"/>
          </a:xfrm>
          <a:prstGeom prst="rect">
            <a:avLst/>
          </a:prstGeom>
          <a:solidFill>
            <a:srgbClr val="002060"/>
          </a:solidFill>
          <a:ln w="63500" algn="ctr">
            <a:solidFill>
              <a:srgbClr val="002060"/>
            </a:solidFill>
            <a:miter lim="800000"/>
            <a:headEnd/>
            <a:tailEnd/>
          </a:ln>
        </p:spPr>
        <p:txBody>
          <a:bodyPr lIns="472873" tIns="694944" rIns="472873" bIns="236436"/>
          <a:lstStyle>
            <a:lvl1pPr defTabSz="4729163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29163">
              <a:spcBef>
                <a:spcPct val="20000"/>
              </a:spcBef>
              <a:buChar char="–"/>
              <a:defRPr sz="14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29163">
              <a:spcBef>
                <a:spcPct val="20000"/>
              </a:spcBef>
              <a:buChar char="•"/>
              <a:defRPr sz="1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29163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29163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100000"/>
              </a:spcBef>
              <a:buFontTx/>
              <a:buNone/>
            </a:pPr>
            <a:endParaRPr lang="en-US" altLang="en-US" sz="4800" b="1">
              <a:solidFill>
                <a:schemeClr val="bg1"/>
              </a:solidFill>
            </a:endParaRPr>
          </a:p>
        </p:txBody>
      </p:sp>
      <p:sp>
        <p:nvSpPr>
          <p:cNvPr id="549" name="Text Box 260">
            <a:extLst>
              <a:ext uri="{FF2B5EF4-FFF2-40B4-BE49-F238E27FC236}">
                <a16:creationId xmlns:a16="http://schemas.microsoft.com/office/drawing/2014/main" id="{4E8EC599-75AC-51E9-8C46-2A1AC9131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17001" y="4854893"/>
            <a:ext cx="1023176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sz="4000" b="1" dirty="0">
                <a:latin typeface="+mn-lt"/>
                <a:cs typeface="Calibri"/>
              </a:rPr>
              <a:t>OBJECTIVE</a:t>
            </a:r>
            <a:endParaRPr lang="en-US" sz="4000" b="1" dirty="0">
              <a:latin typeface="+mn-lt"/>
              <a:cs typeface="Calibri" pitchFamily="34" charset="0"/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BEBA4525-2887-FA2F-E1B2-6D4119B61ED9}"/>
              </a:ext>
            </a:extLst>
          </p:cNvPr>
          <p:cNvSpPr/>
          <p:nvPr/>
        </p:nvSpPr>
        <p:spPr bwMode="auto">
          <a:xfrm>
            <a:off x="14524198" y="5601893"/>
            <a:ext cx="17862609" cy="1840488"/>
          </a:xfrm>
          <a:prstGeom prst="rect">
            <a:avLst/>
          </a:prstGeom>
          <a:solidFill>
            <a:schemeClr val="bg1"/>
          </a:solidFill>
          <a:ln w="635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472873" tIns="236436" rIns="472873" bIns="236436" anchor="ctr"/>
          <a:lstStyle/>
          <a:p>
            <a:endParaRPr lang="en-US" sz="32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574" name="Straight Arrow Connector 573">
            <a:extLst>
              <a:ext uri="{FF2B5EF4-FFF2-40B4-BE49-F238E27FC236}">
                <a16:creationId xmlns:a16="http://schemas.microsoft.com/office/drawing/2014/main" id="{38DA6D3D-70D2-3A2B-72F0-A64BF24DAFD5}"/>
              </a:ext>
            </a:extLst>
          </p:cNvPr>
          <p:cNvCxnSpPr/>
          <p:nvPr/>
        </p:nvCxnSpPr>
        <p:spPr bwMode="auto">
          <a:xfrm>
            <a:off x="23488650" y="18002250"/>
            <a:ext cx="914400" cy="914400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F7937DF8-2E41-3D6E-6707-E5CF0F46A0A9}"/>
              </a:ext>
            </a:extLst>
          </p:cNvPr>
          <p:cNvCxnSpPr/>
          <p:nvPr/>
        </p:nvCxnSpPr>
        <p:spPr bwMode="auto">
          <a:xfrm>
            <a:off x="23631525" y="18145125"/>
            <a:ext cx="914400" cy="914400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C67DD01-46A2-EA08-A9CD-7737C86DD910}"/>
              </a:ext>
            </a:extLst>
          </p:cNvPr>
          <p:cNvCxnSpPr/>
          <p:nvPr/>
        </p:nvCxnSpPr>
        <p:spPr bwMode="auto">
          <a:xfrm>
            <a:off x="2256549" y="9417329"/>
            <a:ext cx="293298" cy="32780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B261CF4-065E-5013-0C68-2B69BE5B8366}"/>
              </a:ext>
            </a:extLst>
          </p:cNvPr>
          <p:cNvCxnSpPr/>
          <p:nvPr/>
        </p:nvCxnSpPr>
        <p:spPr bwMode="auto">
          <a:xfrm>
            <a:off x="19229358" y="15278459"/>
            <a:ext cx="914400" cy="914400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15" name="Picture 114" descr="A colorful image of a cell&#10;&#10;AI-generated content may be incorrect.">
            <a:extLst>
              <a:ext uri="{FF2B5EF4-FFF2-40B4-BE49-F238E27FC236}">
                <a16:creationId xmlns:a16="http://schemas.microsoft.com/office/drawing/2014/main" id="{C752FBB4-EE8C-6A7C-426E-7FB88C14A4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89321" y="16407250"/>
            <a:ext cx="5287176" cy="53191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6" name="Picture 115" descr="A colorful image of a cell&#10;&#10;AI-generated content may be incorrect.">
            <a:extLst>
              <a:ext uri="{FF2B5EF4-FFF2-40B4-BE49-F238E27FC236}">
                <a16:creationId xmlns:a16="http://schemas.microsoft.com/office/drawing/2014/main" id="{34D32470-3B33-A5BA-E3BA-FACAB1E253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20624" y="16404693"/>
            <a:ext cx="5290206" cy="53685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5FABCB-A20E-AB0E-5656-6C9B200A1B3C}"/>
              </a:ext>
            </a:extLst>
          </p:cNvPr>
          <p:cNvSpPr/>
          <p:nvPr/>
        </p:nvSpPr>
        <p:spPr bwMode="auto">
          <a:xfrm>
            <a:off x="5550384" y="8983872"/>
            <a:ext cx="4240204" cy="30764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72873" tIns="236436" rIns="472873" bIns="236436" numCol="1" rtlCol="0" anchor="ctr" anchorCtr="0" compatLnSpc="1">
            <a:prstTxWarp prst="textNoShape">
              <a:avLst/>
            </a:prstTxWarp>
          </a:bodyPr>
          <a:lstStyle/>
          <a:p>
            <a:pPr defTabSz="4729163"/>
            <a:r>
              <a:rPr lang="en-US" sz="2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 </a:t>
            </a:r>
            <a:r>
              <a:rPr lang="en-US" sz="2400" b="1" dirty="0">
                <a:solidFill>
                  <a:schemeClr val="tx1"/>
                </a:solidFill>
                <a:latin typeface="Arial"/>
                <a:ea typeface="Open Sans"/>
                <a:cs typeface="Arial"/>
              </a:rPr>
              <a:t>Cancer Cell Migration</a:t>
            </a:r>
          </a:p>
        </p:txBody>
      </p:sp>
      <p:sp>
        <p:nvSpPr>
          <p:cNvPr id="36" name="Text Box 110">
            <a:extLst>
              <a:ext uri="{FF2B5EF4-FFF2-40B4-BE49-F238E27FC236}">
                <a16:creationId xmlns:a16="http://schemas.microsoft.com/office/drawing/2014/main" id="{91DE4142-4412-1B29-3176-2D3885096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41684" y="7451940"/>
            <a:ext cx="17841831" cy="836525"/>
          </a:xfrm>
          <a:prstGeom prst="rect">
            <a:avLst/>
          </a:prstGeom>
          <a:solidFill>
            <a:srgbClr val="002060"/>
          </a:solidFill>
          <a:ln w="63500" algn="ctr">
            <a:solidFill>
              <a:srgbClr val="002060"/>
            </a:solidFill>
            <a:miter lim="800000"/>
            <a:headEnd/>
            <a:tailEnd/>
          </a:ln>
        </p:spPr>
        <p:txBody>
          <a:bodyPr lIns="472873" tIns="694944" rIns="472873" bIns="236436"/>
          <a:lstStyle>
            <a:lvl1pPr defTabSz="4729163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29163">
              <a:spcBef>
                <a:spcPct val="20000"/>
              </a:spcBef>
              <a:buChar char="–"/>
              <a:defRPr sz="14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29163">
              <a:spcBef>
                <a:spcPct val="20000"/>
              </a:spcBef>
              <a:buChar char="•"/>
              <a:defRPr sz="1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29163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29163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100000"/>
              </a:spcBef>
              <a:buFontTx/>
              <a:buNone/>
            </a:pPr>
            <a:endParaRPr lang="en-US" altLang="en-US" sz="4800" b="1">
              <a:solidFill>
                <a:schemeClr val="bg1"/>
              </a:solidFill>
            </a:endParaRPr>
          </a:p>
        </p:txBody>
      </p:sp>
      <p:sp>
        <p:nvSpPr>
          <p:cNvPr id="38" name="Text Box 260">
            <a:extLst>
              <a:ext uri="{FF2B5EF4-FFF2-40B4-BE49-F238E27FC236}">
                <a16:creationId xmlns:a16="http://schemas.microsoft.com/office/drawing/2014/main" id="{6B066B7C-972A-DF60-7EAF-C25E98A56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8942" y="7528689"/>
            <a:ext cx="1010469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sz="4000" b="1" dirty="0">
                <a:latin typeface="+mn-lt"/>
                <a:cs typeface="Calibri"/>
              </a:rPr>
              <a:t>VAE</a:t>
            </a:r>
            <a:endParaRPr lang="en-US" sz="4000" b="1" dirty="0">
              <a:latin typeface="+mn-lt"/>
              <a:cs typeface="Calibri" pitchFamily="34" charset="0"/>
            </a:endParaRPr>
          </a:p>
        </p:txBody>
      </p:sp>
      <p:sp>
        <p:nvSpPr>
          <p:cNvPr id="39" name="Text Box 110">
            <a:extLst>
              <a:ext uri="{FF2B5EF4-FFF2-40B4-BE49-F238E27FC236}">
                <a16:creationId xmlns:a16="http://schemas.microsoft.com/office/drawing/2014/main" id="{36E344D2-371B-C3AB-260E-C9E70274D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6790" y="5057524"/>
            <a:ext cx="11220037" cy="803946"/>
          </a:xfrm>
          <a:prstGeom prst="rect">
            <a:avLst/>
          </a:prstGeom>
          <a:solidFill>
            <a:srgbClr val="002060"/>
          </a:solidFill>
          <a:ln w="63500" algn="ctr">
            <a:solidFill>
              <a:srgbClr val="002060"/>
            </a:solidFill>
            <a:miter lim="800000"/>
            <a:headEnd/>
            <a:tailEnd/>
          </a:ln>
        </p:spPr>
        <p:txBody>
          <a:bodyPr lIns="472873" tIns="694944" rIns="472873" bIns="236436" anchor="t"/>
          <a:lstStyle>
            <a:lvl1pPr defTabSz="4729163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29163">
              <a:spcBef>
                <a:spcPct val="20000"/>
              </a:spcBef>
              <a:buChar char="–"/>
              <a:defRPr sz="14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29163">
              <a:spcBef>
                <a:spcPct val="20000"/>
              </a:spcBef>
              <a:buChar char="•"/>
              <a:defRPr sz="1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29163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29163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100000"/>
              </a:spcBef>
              <a:buFontTx/>
              <a:buNone/>
            </a:pPr>
            <a:endParaRPr lang="en-US" altLang="en-US" sz="4800" b="1">
              <a:solidFill>
                <a:schemeClr val="bg1"/>
              </a:solidFill>
            </a:endParaRPr>
          </a:p>
        </p:txBody>
      </p:sp>
      <p:sp>
        <p:nvSpPr>
          <p:cNvPr id="44" name="Text Box 260">
            <a:extLst>
              <a:ext uri="{FF2B5EF4-FFF2-40B4-BE49-F238E27FC236}">
                <a16:creationId xmlns:a16="http://schemas.microsoft.com/office/drawing/2014/main" id="{13283D05-96B7-8BE1-45B4-61C78519B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88420" y="5160004"/>
            <a:ext cx="1010469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sz="4000" b="1">
                <a:latin typeface="+mn-lt"/>
                <a:cs typeface="Calibri"/>
              </a:rPr>
              <a:t>SEGMENTATION</a:t>
            </a:r>
            <a:endParaRPr lang="en-US" sz="4000" b="1">
              <a:latin typeface="+mn-lt"/>
              <a:cs typeface="Calibri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9E10C1B-DCE5-CED2-C16F-D642531C7067}"/>
              </a:ext>
            </a:extLst>
          </p:cNvPr>
          <p:cNvSpPr/>
          <p:nvPr/>
        </p:nvSpPr>
        <p:spPr bwMode="auto">
          <a:xfrm>
            <a:off x="15998710" y="8700946"/>
            <a:ext cx="14719716" cy="28137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4729163"/>
            <a:r>
              <a:rPr lang="en-US" sz="3200" b="1" dirty="0">
                <a:solidFill>
                  <a:schemeClr val="tx1"/>
                </a:solidFill>
                <a:latin typeface="Arial"/>
                <a:cs typeface="Arial"/>
              </a:rPr>
              <a:t>VAE: 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Mapping invasion by encoding cellular information</a:t>
            </a:r>
            <a:endParaRPr lang="en-US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FDC9EAB-B22F-1D0D-8F47-421570552FD1}"/>
              </a:ext>
            </a:extLst>
          </p:cNvPr>
          <p:cNvSpPr/>
          <p:nvPr/>
        </p:nvSpPr>
        <p:spPr bwMode="auto">
          <a:xfrm>
            <a:off x="33687274" y="22205676"/>
            <a:ext cx="9065731" cy="13905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2880" tIns="236436" rIns="45720" bIns="236436" numCol="1" rtlCol="0" anchor="ctr" anchorCtr="0" compatLnSpc="1">
            <a:prstTxWarp prst="textNoShape">
              <a:avLst/>
            </a:prstTxWarp>
          </a:bodyPr>
          <a:lstStyle/>
          <a:p>
            <a:pPr defTabSz="4729163"/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Figure 6.  </a:t>
            </a: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Segmentation models for ERK signaling in basal-like breast cancer cells. </a:t>
            </a:r>
            <a:endParaRPr lang="en-US">
              <a:solidFill>
                <a:schemeClr val="tx1"/>
              </a:solidFill>
              <a:cs typeface="Arial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8021910-7BD6-7CF3-87E4-5F77022E60AE}"/>
              </a:ext>
            </a:extLst>
          </p:cNvPr>
          <p:cNvSpPr/>
          <p:nvPr/>
        </p:nvSpPr>
        <p:spPr bwMode="auto">
          <a:xfrm>
            <a:off x="32913940" y="7520143"/>
            <a:ext cx="10513378" cy="227260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9" tIns="0" rIns="91439" bIns="0" numCol="1" rtlCol="0" anchor="ctr" anchorCtr="0" compatLnSpc="1">
            <a:prstTxWarp prst="textNoShape">
              <a:avLst/>
            </a:prstTxWarp>
          </a:bodyPr>
          <a:lstStyle/>
          <a:p>
            <a:pPr defTabSz="4729163"/>
            <a:r>
              <a:rPr lang="en-US" sz="3200" b="1" err="1">
                <a:solidFill>
                  <a:schemeClr val="tx1"/>
                </a:solidFill>
                <a:latin typeface="Arial"/>
                <a:cs typeface="Arial"/>
              </a:rPr>
              <a:t>Cellpose</a:t>
            </a:r>
            <a:r>
              <a:rPr lang="en-US" sz="3200" b="1" dirty="0">
                <a:solidFill>
                  <a:schemeClr val="tx1"/>
                </a:solidFill>
                <a:latin typeface="Arial"/>
                <a:cs typeface="Arial"/>
              </a:rPr>
              <a:t>: 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software for segmenting cells in microscopy images.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  <a:p>
            <a:pPr defTabSz="4729163"/>
            <a:endParaRPr lang="en-US" sz="32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 defTabSz="4729163">
              <a:buFont typeface="Arial"/>
              <a:buChar char="•"/>
            </a:pP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Segmentation turns raw 3D images into</a:t>
            </a:r>
            <a:r>
              <a:rPr lang="en-US" sz="3200" b="1" dirty="0">
                <a:solidFill>
                  <a:schemeClr val="tx1"/>
                </a:solidFill>
                <a:latin typeface="Arial"/>
                <a:cs typeface="Arial"/>
              </a:rPr>
              <a:t> biologically interpretable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data.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 defTabSz="4729163">
              <a:buFont typeface="Arial"/>
              <a:buChar char="•"/>
            </a:pP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Manual annotations significantly improve accuracy of tracking of cell movements and ERK signaling.</a:t>
            </a:r>
          </a:p>
          <a:p>
            <a:pPr marL="285750" indent="-285750" defTabSz="4729163">
              <a:buFont typeface="Arial"/>
              <a:buChar char="•"/>
            </a:pPr>
            <a:endParaRPr lang="en-US" sz="3200" dirty="0">
              <a:solidFill>
                <a:schemeClr val="tx1"/>
              </a:solidFill>
              <a:latin typeface="Arial"/>
              <a:cs typeface="Arial"/>
            </a:endParaRPr>
          </a:p>
          <a:p>
            <a:pPr defTabSz="4729163"/>
            <a:endParaRPr lang="en-US" sz="32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defTabSz="4729163"/>
            <a:endParaRPr lang="en-US" sz="3200">
              <a:solidFill>
                <a:schemeClr val="tx1"/>
              </a:solidFill>
              <a:cs typeface="Arial"/>
            </a:endParaRPr>
          </a:p>
        </p:txBody>
      </p:sp>
      <p:pic>
        <p:nvPicPr>
          <p:cNvPr id="7" name="Picture 6" descr="A group of green glowing spots&#10;&#10;AI-generated content may be incorrect.">
            <a:extLst>
              <a:ext uri="{FF2B5EF4-FFF2-40B4-BE49-F238E27FC236}">
                <a16:creationId xmlns:a16="http://schemas.microsoft.com/office/drawing/2014/main" id="{231F793A-B1AB-5C82-DFCD-D52B788338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27633" y="10786546"/>
            <a:ext cx="3904786" cy="35875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A group of colorful shapes&#10;&#10;AI-generated content may be incorrect.">
            <a:extLst>
              <a:ext uri="{FF2B5EF4-FFF2-40B4-BE49-F238E27FC236}">
                <a16:creationId xmlns:a16="http://schemas.microsoft.com/office/drawing/2014/main" id="{5767D5E8-A108-0B63-7378-B8A8911B78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682954" y="10780151"/>
            <a:ext cx="3740287" cy="35907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 descr="A diagram of a person">
            <a:extLst>
              <a:ext uri="{FF2B5EF4-FFF2-40B4-BE49-F238E27FC236}">
                <a16:creationId xmlns:a16="http://schemas.microsoft.com/office/drawing/2014/main" id="{E45CEF36-F8C1-161D-ECBA-89EC2408F94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9767" y="22341079"/>
            <a:ext cx="13078585" cy="441717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028862E-FAEB-FE09-EC9D-52BE6A2DBC8E}"/>
              </a:ext>
            </a:extLst>
          </p:cNvPr>
          <p:cNvSpPr/>
          <p:nvPr/>
        </p:nvSpPr>
        <p:spPr bwMode="auto">
          <a:xfrm>
            <a:off x="2364087" y="21914039"/>
            <a:ext cx="10830782" cy="20413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72873" tIns="236436" rIns="472873" bIns="236436" numCol="1" rtlCol="0" anchor="ctr" anchorCtr="0" compatLnSpc="1">
            <a:prstTxWarp prst="textNoShape">
              <a:avLst/>
            </a:prstTxWarp>
          </a:bodyPr>
          <a:lstStyle/>
          <a:p>
            <a:pPr defTabSz="4729163"/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Serial Imaging of Tumor and </a:t>
            </a:r>
            <a:r>
              <a:rPr lang="en-US" sz="2400" b="1" err="1">
                <a:solidFill>
                  <a:schemeClr val="tx1"/>
                </a:solidFill>
                <a:latin typeface="Arial"/>
                <a:cs typeface="Arial"/>
              </a:rPr>
              <a:t>microEnvironment</a:t>
            </a:r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 Platform (SITE)</a:t>
            </a:r>
          </a:p>
        </p:txBody>
      </p:sp>
      <p:pic>
        <p:nvPicPr>
          <p:cNvPr id="25" name="Picture 24" descr="Immunology Resource Library - Creative Diagnostics">
            <a:extLst>
              <a:ext uri="{FF2B5EF4-FFF2-40B4-BE49-F238E27FC236}">
                <a16:creationId xmlns:a16="http://schemas.microsoft.com/office/drawing/2014/main" id="{18D431E0-B22E-948E-0932-94357728F73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83968" y="29620139"/>
            <a:ext cx="3985404" cy="25253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256C52-5EF9-7A9F-DDF2-FE4D7D87BE7C}"/>
              </a:ext>
            </a:extLst>
          </p:cNvPr>
          <p:cNvCxnSpPr/>
          <p:nvPr/>
        </p:nvCxnSpPr>
        <p:spPr bwMode="auto">
          <a:xfrm>
            <a:off x="21488400" y="16001999"/>
            <a:ext cx="914400" cy="914400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BD7A7C1-C12A-BA5A-5C72-432E7CA8E61F}"/>
              </a:ext>
            </a:extLst>
          </p:cNvPr>
          <p:cNvCxnSpPr/>
          <p:nvPr/>
        </p:nvCxnSpPr>
        <p:spPr bwMode="auto">
          <a:xfrm>
            <a:off x="21631274" y="16144875"/>
            <a:ext cx="914400" cy="914400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C65445E-4E10-AC24-1F73-7900762DD2EC}"/>
              </a:ext>
            </a:extLst>
          </p:cNvPr>
          <p:cNvCxnSpPr/>
          <p:nvPr/>
        </p:nvCxnSpPr>
        <p:spPr bwMode="auto">
          <a:xfrm flipH="1">
            <a:off x="12186564" y="24986222"/>
            <a:ext cx="362306" cy="56934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71672B-EC5C-7026-40D7-DC0D13D20968}"/>
              </a:ext>
            </a:extLst>
          </p:cNvPr>
          <p:cNvCxnSpPr>
            <a:cxnSpLocks/>
          </p:cNvCxnSpPr>
          <p:nvPr/>
        </p:nvCxnSpPr>
        <p:spPr bwMode="auto">
          <a:xfrm flipH="1">
            <a:off x="8944361" y="26853958"/>
            <a:ext cx="770080" cy="63836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9" name="Rectangle 448">
            <a:extLst>
              <a:ext uri="{FF2B5EF4-FFF2-40B4-BE49-F238E27FC236}">
                <a16:creationId xmlns:a16="http://schemas.microsoft.com/office/drawing/2014/main" id="{E84ED93D-6371-D9C5-822B-83317C2EAC04}"/>
              </a:ext>
            </a:extLst>
          </p:cNvPr>
          <p:cNvSpPr/>
          <p:nvPr/>
        </p:nvSpPr>
        <p:spPr bwMode="auto">
          <a:xfrm>
            <a:off x="33457063" y="14813517"/>
            <a:ext cx="9704179" cy="17824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11480" tIns="0" rIns="411480" bIns="0" numCol="1" rtlCol="0" anchor="ctr" anchorCtr="0" compatLnSpc="1">
            <a:prstTxWarp prst="textNoShape">
              <a:avLst/>
            </a:prstTxWarp>
          </a:bodyPr>
          <a:lstStyle/>
          <a:p>
            <a:pPr indent="-457200" defTabSz="4729163"/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Figure 5. </a:t>
            </a: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ERK signaling visualized with live-cell reporter and segmentation masks.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9" name="Text Box 110">
            <a:extLst>
              <a:ext uri="{FF2B5EF4-FFF2-40B4-BE49-F238E27FC236}">
                <a16:creationId xmlns:a16="http://schemas.microsoft.com/office/drawing/2014/main" id="{B82EDF88-322D-69FD-DDAA-E0A1AC4EE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98069" y="22833410"/>
            <a:ext cx="11254377" cy="799286"/>
          </a:xfrm>
          <a:prstGeom prst="rect">
            <a:avLst/>
          </a:prstGeom>
          <a:solidFill>
            <a:srgbClr val="002060"/>
          </a:solidFill>
          <a:ln w="63500" algn="ctr">
            <a:solidFill>
              <a:srgbClr val="002060"/>
            </a:solidFill>
            <a:miter lim="800000"/>
            <a:headEnd/>
            <a:tailEnd/>
          </a:ln>
        </p:spPr>
        <p:txBody>
          <a:bodyPr lIns="472873" tIns="694944" rIns="472873" bIns="236436" anchor="t"/>
          <a:lstStyle>
            <a:lvl1pPr defTabSz="4729163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29163">
              <a:spcBef>
                <a:spcPct val="20000"/>
              </a:spcBef>
              <a:buChar char="–"/>
              <a:defRPr sz="14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29163">
              <a:spcBef>
                <a:spcPct val="20000"/>
              </a:spcBef>
              <a:buChar char="•"/>
              <a:defRPr sz="1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29163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29163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100000"/>
              </a:spcBef>
              <a:buNone/>
            </a:pPr>
            <a:endParaRPr lang="en-US" sz="48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25548E-568C-E9E5-74E5-8BCF1A6E14C1}"/>
              </a:ext>
            </a:extLst>
          </p:cNvPr>
          <p:cNvSpPr/>
          <p:nvPr/>
        </p:nvSpPr>
        <p:spPr bwMode="auto">
          <a:xfrm>
            <a:off x="32420802" y="23647920"/>
            <a:ext cx="11208324" cy="5199310"/>
          </a:xfrm>
          <a:prstGeom prst="rect">
            <a:avLst/>
          </a:prstGeom>
          <a:solidFill>
            <a:schemeClr val="bg1"/>
          </a:solidFill>
          <a:ln w="635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472873" tIns="236436" rIns="472873" bIns="236436" anchor="ctr"/>
          <a:lstStyle/>
          <a:p>
            <a:pPr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endParaRPr lang="en-US" sz="3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2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1" name="Text Box 260">
            <a:extLst>
              <a:ext uri="{FF2B5EF4-FFF2-40B4-BE49-F238E27FC236}">
                <a16:creationId xmlns:a16="http://schemas.microsoft.com/office/drawing/2014/main" id="{44BFD7B2-EA57-3F1A-2D0C-2E66CF9A9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71222" y="22883541"/>
            <a:ext cx="1010469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sz="4000" b="1" dirty="0">
                <a:latin typeface="+mn-lt"/>
                <a:cs typeface="Calibri"/>
              </a:rPr>
              <a:t>IMPLICATIONS</a:t>
            </a:r>
            <a:endParaRPr lang="en-US" sz="4000" b="1" dirty="0">
              <a:latin typeface="+mn-lt"/>
              <a:cs typeface="Calibri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4420AC-1878-1262-0262-4A65219283D7}"/>
              </a:ext>
            </a:extLst>
          </p:cNvPr>
          <p:cNvSpPr/>
          <p:nvPr/>
        </p:nvSpPr>
        <p:spPr bwMode="auto">
          <a:xfrm>
            <a:off x="32906288" y="24541634"/>
            <a:ext cx="10415690" cy="350908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236436" rIns="0" bIns="236436" numCol="1" rtlCol="0" anchor="ctr" anchorCtr="0" compatLnSpc="1">
            <a:prstTxWarp prst="textNoShape">
              <a:avLst/>
            </a:prstTxWarp>
          </a:bodyPr>
          <a:lstStyle/>
          <a:p>
            <a:pPr marL="514350" indent="-514350" defTabSz="4729163">
              <a:buFont typeface="Arial"/>
              <a:buChar char="•"/>
            </a:pP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Accurate cellular segmentation is critical for our pipeline, supporting reliable tracking, classification, and measurement, and provides the VAE with high-quality inputs to detect patterns linked to cell invasion.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  <a:p>
            <a:pPr marL="514350" indent="-514350" defTabSz="4729163">
              <a:buFont typeface="Arial"/>
              <a:buChar char="•"/>
            </a:pP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 defTabSz="4729163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VAEs show promise in modeling early-stage invasion by capturing subtle single-cell transitions in latent space. Still, further refinement is required to optimize this approach.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EA14EC9-289E-3F03-5124-867AE77604B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11464" y="20464685"/>
            <a:ext cx="8306669" cy="3951583"/>
          </a:xfrm>
          <a:prstGeom prst="rect">
            <a:avLst/>
          </a:prstGeom>
        </p:spPr>
      </p:pic>
      <p:sp>
        <p:nvSpPr>
          <p:cNvPr id="448" name="Rectangle 447">
            <a:extLst>
              <a:ext uri="{FF2B5EF4-FFF2-40B4-BE49-F238E27FC236}">
                <a16:creationId xmlns:a16="http://schemas.microsoft.com/office/drawing/2014/main" id="{2828A267-3C34-B4CF-1D38-4AC0A385D968}"/>
              </a:ext>
            </a:extLst>
          </p:cNvPr>
          <p:cNvSpPr/>
          <p:nvPr/>
        </p:nvSpPr>
        <p:spPr bwMode="auto">
          <a:xfrm>
            <a:off x="9631943" y="29110911"/>
            <a:ext cx="3567337" cy="3693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ERK Signaling Pathway</a:t>
            </a:r>
            <a:endParaRPr lang="en-US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53" name="Text Box 110">
            <a:extLst>
              <a:ext uri="{FF2B5EF4-FFF2-40B4-BE49-F238E27FC236}">
                <a16:creationId xmlns:a16="http://schemas.microsoft.com/office/drawing/2014/main" id="{A9715382-43C4-145E-84C8-3B8DB4D36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381" y="17012816"/>
            <a:ext cx="14226740" cy="878474"/>
          </a:xfrm>
          <a:prstGeom prst="rect">
            <a:avLst/>
          </a:prstGeom>
          <a:solidFill>
            <a:srgbClr val="002060"/>
          </a:solidFill>
          <a:ln w="63500" algn="ctr">
            <a:solidFill>
              <a:srgbClr val="002060"/>
            </a:solidFill>
            <a:miter lim="800000"/>
            <a:headEnd/>
            <a:tailEnd/>
          </a:ln>
        </p:spPr>
        <p:txBody>
          <a:bodyPr lIns="472873" tIns="694944" rIns="472873" bIns="236436"/>
          <a:lstStyle>
            <a:lvl1pPr defTabSz="4729163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29163">
              <a:spcBef>
                <a:spcPct val="20000"/>
              </a:spcBef>
              <a:buChar char="–"/>
              <a:defRPr sz="14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29163">
              <a:spcBef>
                <a:spcPct val="20000"/>
              </a:spcBef>
              <a:buChar char="•"/>
              <a:defRPr sz="1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29163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29163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100000"/>
              </a:spcBef>
              <a:buFontTx/>
              <a:buNone/>
            </a:pPr>
            <a:endParaRPr lang="en-US" altLang="en-US" sz="4800" b="1">
              <a:solidFill>
                <a:schemeClr val="bg1"/>
              </a:solidFill>
            </a:endParaRPr>
          </a:p>
        </p:txBody>
      </p:sp>
      <p:sp>
        <p:nvSpPr>
          <p:cNvPr id="457" name="Text Box 260">
            <a:extLst>
              <a:ext uri="{FF2B5EF4-FFF2-40B4-BE49-F238E27FC236}">
                <a16:creationId xmlns:a16="http://schemas.microsoft.com/office/drawing/2014/main" id="{8C873A30-C56F-DB9D-DAA2-D64B4C186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2545" y="17047683"/>
            <a:ext cx="1015284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sz="4000" b="1" dirty="0">
                <a:latin typeface="Arial"/>
                <a:cs typeface="Calibri"/>
              </a:rPr>
              <a:t>METHODS</a:t>
            </a:r>
            <a:endParaRPr lang="en-US" sz="4000" b="1" dirty="0">
              <a:cs typeface="Calibri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6C42744A-4505-F45A-5CB8-4534300D034E}"/>
              </a:ext>
            </a:extLst>
          </p:cNvPr>
          <p:cNvSpPr/>
          <p:nvPr/>
        </p:nvSpPr>
        <p:spPr bwMode="auto">
          <a:xfrm>
            <a:off x="21289942" y="9414248"/>
            <a:ext cx="4343720" cy="4801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72873" tIns="236436" rIns="472873" bIns="236436" numCol="1" rtlCol="0" anchor="ctr" anchorCtr="0" compatLnSpc="1">
            <a:prstTxWarp prst="textNoShape">
              <a:avLst/>
            </a:prstTxWarp>
          </a:bodyPr>
          <a:lstStyle/>
          <a:p>
            <a:pPr algn="ctr" defTabSz="4729163"/>
            <a:r>
              <a:rPr lang="en-US" sz="2800" b="1" u="sng" dirty="0">
                <a:solidFill>
                  <a:schemeClr val="tx1"/>
                </a:solidFill>
                <a:latin typeface="Arial"/>
                <a:ea typeface="Open Sans"/>
                <a:cs typeface="Arial"/>
              </a:rPr>
              <a:t>VAE Architecture</a:t>
            </a:r>
            <a:r>
              <a:rPr lang="en-US" sz="2400" dirty="0">
                <a:solidFill>
                  <a:schemeClr val="tx1"/>
                </a:solidFill>
                <a:latin typeface="Arial"/>
                <a:ea typeface="Open Sans"/>
                <a:cs typeface="Arial"/>
              </a:rPr>
              <a:t> </a:t>
            </a:r>
            <a:endParaRPr lang="en-US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413257-EA82-4E61-62EE-0C1916CEF002}"/>
              </a:ext>
            </a:extLst>
          </p:cNvPr>
          <p:cNvSpPr/>
          <p:nvPr/>
        </p:nvSpPr>
        <p:spPr bwMode="auto">
          <a:xfrm>
            <a:off x="33310963" y="9961458"/>
            <a:ext cx="4343720" cy="4801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72873" tIns="236436" rIns="472873" bIns="236436" numCol="1" rtlCol="0" anchor="ctr" anchorCtr="0" compatLnSpc="1">
            <a:prstTxWarp prst="textNoShape">
              <a:avLst/>
            </a:prstTxWarp>
          </a:bodyPr>
          <a:lstStyle/>
          <a:p>
            <a:pPr algn="ctr" defTabSz="4729163"/>
            <a:r>
              <a:rPr lang="en-US" sz="2400" b="1" dirty="0">
                <a:solidFill>
                  <a:schemeClr val="tx1"/>
                </a:solidFill>
                <a:latin typeface="Arial"/>
                <a:ea typeface="Open Sans"/>
                <a:cs typeface="Arial"/>
              </a:rPr>
              <a:t>Original Image</a:t>
            </a:r>
            <a:endParaRPr lang="en-US" sz="2400" b="1" dirty="0">
              <a:solidFill>
                <a:schemeClr val="tx1"/>
              </a:solidFill>
              <a:ea typeface="Open Sans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FA2722-B56E-C074-E177-158B84165A1D}"/>
              </a:ext>
            </a:extLst>
          </p:cNvPr>
          <p:cNvSpPr/>
          <p:nvPr/>
        </p:nvSpPr>
        <p:spPr bwMode="auto">
          <a:xfrm>
            <a:off x="38426343" y="9943815"/>
            <a:ext cx="4343720" cy="4801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72873" tIns="236436" rIns="472873" bIns="236436" numCol="1" rtlCol="0" anchor="ctr" anchorCtr="0" compatLnSpc="1">
            <a:prstTxWarp prst="textNoShape">
              <a:avLst/>
            </a:prstTxWarp>
          </a:bodyPr>
          <a:lstStyle/>
          <a:p>
            <a:pPr algn="ctr" defTabSz="4729163"/>
            <a:r>
              <a:rPr lang="en-US" sz="2400" b="1" dirty="0">
                <a:solidFill>
                  <a:schemeClr val="tx1"/>
                </a:solidFill>
                <a:latin typeface="Arial"/>
                <a:ea typeface="Open Sans"/>
                <a:cs typeface="Arial"/>
              </a:rPr>
              <a:t>Segmented Image</a:t>
            </a:r>
            <a:endParaRPr lang="en-US" sz="2400" b="1" dirty="0">
              <a:solidFill>
                <a:schemeClr val="tx1"/>
              </a:solidFill>
              <a:ea typeface="Open Sans"/>
              <a:cs typeface="Arial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213C43A-9E33-7502-0152-E5B2C02FCA65}"/>
              </a:ext>
            </a:extLst>
          </p:cNvPr>
          <p:cNvSpPr/>
          <p:nvPr/>
        </p:nvSpPr>
        <p:spPr bwMode="auto">
          <a:xfrm>
            <a:off x="33063221" y="15668639"/>
            <a:ext cx="4343720" cy="4801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7160" tIns="228600" rIns="365760" bIns="137160" numCol="1" rtlCol="0" anchor="ctr" anchorCtr="0" compatLnSpc="1">
            <a:prstTxWarp prst="textNoShape">
              <a:avLst/>
            </a:prstTxWarp>
          </a:bodyPr>
          <a:lstStyle/>
          <a:p>
            <a:pPr algn="ctr" defTabSz="4729163"/>
            <a:r>
              <a:rPr lang="en-US" sz="2400" b="1" dirty="0">
                <a:solidFill>
                  <a:schemeClr val="tx1"/>
                </a:solidFill>
                <a:latin typeface="Arial"/>
                <a:ea typeface="Open Sans"/>
                <a:cs typeface="Arial"/>
              </a:rPr>
              <a:t>Cellpose's Model</a:t>
            </a:r>
            <a:endParaRPr lang="en-US" sz="2400" b="1">
              <a:solidFill>
                <a:schemeClr val="tx1"/>
              </a:solidFill>
              <a:ea typeface="Open Sans"/>
              <a:cs typeface="Arial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DF33A0E-789F-3FE9-1225-6BCE12F7F097}"/>
              </a:ext>
            </a:extLst>
          </p:cNvPr>
          <p:cNvSpPr/>
          <p:nvPr/>
        </p:nvSpPr>
        <p:spPr bwMode="auto">
          <a:xfrm>
            <a:off x="38291984" y="15568628"/>
            <a:ext cx="4944120" cy="56643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7160" tIns="236436" rIns="45720" bIns="137160" numCol="1" rtlCol="0" anchor="ctr" anchorCtr="0" compatLnSpc="1">
            <a:prstTxWarp prst="textNoShape">
              <a:avLst/>
            </a:prstTxWarp>
          </a:bodyPr>
          <a:lstStyle/>
          <a:p>
            <a:pPr algn="ctr" defTabSz="4729163"/>
            <a:r>
              <a:rPr lang="en-US" sz="2400" b="1" dirty="0">
                <a:solidFill>
                  <a:schemeClr val="tx1"/>
                </a:solidFill>
                <a:latin typeface="Arial"/>
                <a:ea typeface="Open Sans"/>
                <a:cs typeface="Arial"/>
              </a:rPr>
              <a:t>Model w/ Manual Annotation</a:t>
            </a:r>
            <a:endParaRPr lang="en-US" sz="2400" b="1" dirty="0">
              <a:solidFill>
                <a:schemeClr val="tx1"/>
              </a:solidFill>
              <a:ea typeface="Open Sans"/>
              <a:cs typeface="Arial"/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C01F9FB0-4FD2-CD1F-A267-D9378AF311D1}"/>
              </a:ext>
            </a:extLst>
          </p:cNvPr>
          <p:cNvSpPr/>
          <p:nvPr/>
        </p:nvSpPr>
        <p:spPr bwMode="auto">
          <a:xfrm>
            <a:off x="16001124" y="5865854"/>
            <a:ext cx="15727500" cy="11586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4729163"/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To optimize cellular </a:t>
            </a:r>
            <a:r>
              <a:rPr lang="en-US" sz="3200" b="1" dirty="0">
                <a:solidFill>
                  <a:schemeClr val="tx1"/>
                </a:solidFill>
                <a:latin typeface="Arial"/>
                <a:cs typeface="Arial"/>
              </a:rPr>
              <a:t>segmentation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and explore the use of a    </a:t>
            </a:r>
            <a:endParaRPr lang="en-US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 defTabSz="4729163"/>
            <a:r>
              <a:rPr lang="en-US" sz="3200" b="1" dirty="0">
                <a:solidFill>
                  <a:schemeClr val="tx1"/>
                </a:solidFill>
                <a:latin typeface="Arial"/>
                <a:cs typeface="Arial"/>
              </a:rPr>
              <a:t>variational autoencoder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(VAE) for modeling early-stage invasion dynamics.</a:t>
            </a:r>
            <a:endParaRPr lang="en-US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54" name="Text Box 110">
            <a:extLst>
              <a:ext uri="{FF2B5EF4-FFF2-40B4-BE49-F238E27FC236}">
                <a16:creationId xmlns:a16="http://schemas.microsoft.com/office/drawing/2014/main" id="{6155A78D-F2C3-BDB9-4F74-5201ED161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27527" y="28831400"/>
            <a:ext cx="11220261" cy="815374"/>
          </a:xfrm>
          <a:prstGeom prst="rect">
            <a:avLst/>
          </a:prstGeom>
          <a:solidFill>
            <a:srgbClr val="002060"/>
          </a:solidFill>
          <a:ln w="63500" algn="ctr">
            <a:solidFill>
              <a:srgbClr val="002060"/>
            </a:solidFill>
            <a:miter lim="800000"/>
            <a:headEnd/>
            <a:tailEnd/>
          </a:ln>
        </p:spPr>
        <p:txBody>
          <a:bodyPr lIns="472873" tIns="694944" rIns="472873" bIns="236436" anchor="t"/>
          <a:lstStyle>
            <a:lvl1pPr defTabSz="4729163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29163">
              <a:spcBef>
                <a:spcPct val="20000"/>
              </a:spcBef>
              <a:buChar char="–"/>
              <a:defRPr sz="14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29163">
              <a:spcBef>
                <a:spcPct val="20000"/>
              </a:spcBef>
              <a:buChar char="•"/>
              <a:defRPr sz="1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29163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29163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291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100000"/>
              </a:spcBef>
              <a:buNone/>
            </a:pPr>
            <a:endParaRPr lang="en-US" sz="48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4F9AF2AC-A3C6-668A-0FA6-B6272173B9D4}"/>
              </a:ext>
            </a:extLst>
          </p:cNvPr>
          <p:cNvSpPr/>
          <p:nvPr/>
        </p:nvSpPr>
        <p:spPr bwMode="auto">
          <a:xfrm>
            <a:off x="32817729" y="30619854"/>
            <a:ext cx="8872536" cy="171157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716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defTabSz="4729163">
              <a:buAutoNum type="arabicPeriod"/>
            </a:pPr>
            <a:r>
              <a:rPr lang="en-US" sz="1600" b="1" dirty="0">
                <a:solidFill>
                  <a:srgbClr val="1B1B1B"/>
                </a:solidFill>
                <a:latin typeface="Arial"/>
                <a:cs typeface="Arial"/>
              </a:rPr>
              <a:t>Davies, A. E., Pargett, M., Siebert, S., Gillies, T. E., Choi, Y., Tobin, S. J., Ram, A. R., Murthy, V., Juliano, C., Quon, G., Bissell, M. J., &amp; Albeck, J. G.</a:t>
            </a:r>
            <a:r>
              <a:rPr lang="en-US" sz="1600" dirty="0">
                <a:solidFill>
                  <a:srgbClr val="1B1B1B"/>
                </a:solidFill>
                <a:latin typeface="Arial"/>
                <a:cs typeface="Arial"/>
              </a:rPr>
              <a:t> (2020). </a:t>
            </a:r>
            <a:r>
              <a:rPr lang="en-US" sz="1600" i="1" dirty="0">
                <a:solidFill>
                  <a:srgbClr val="1B1B1B"/>
                </a:solidFill>
                <a:latin typeface="Arial"/>
                <a:cs typeface="Arial"/>
              </a:rPr>
              <a:t>Systems-level properties of EGFR-RAS-ERK signaling amplify local signals to generate dynamic gene expression heterogeneity</a:t>
            </a:r>
            <a:r>
              <a:rPr lang="en-US" sz="1600" dirty="0">
                <a:solidFill>
                  <a:srgbClr val="1B1B1B"/>
                </a:solidFill>
                <a:latin typeface="Arial"/>
                <a:cs typeface="Arial"/>
              </a:rPr>
              <a:t>. </a:t>
            </a:r>
            <a:r>
              <a:rPr lang="en-US" sz="1600" b="1" dirty="0">
                <a:solidFill>
                  <a:srgbClr val="1B1B1B"/>
                </a:solidFill>
                <a:latin typeface="Arial"/>
                <a:cs typeface="Arial"/>
              </a:rPr>
              <a:t>Cell Systems</a:t>
            </a:r>
            <a:r>
              <a:rPr lang="en-US" sz="1600" dirty="0">
                <a:solidFill>
                  <a:srgbClr val="1B1B1B"/>
                </a:solidFill>
                <a:latin typeface="Arial"/>
                <a:cs typeface="Arial"/>
              </a:rPr>
              <a:t>, 11(2), 85–100.e9. </a:t>
            </a:r>
            <a:r>
              <a:rPr lang="en-US" sz="1600" dirty="0">
                <a:solidFill>
                  <a:srgbClr val="1B1B1B"/>
                </a:solidFill>
                <a:latin typeface="Arial"/>
                <a:cs typeface="Arial"/>
                <a:hlinkClick r:id="rId15"/>
              </a:rPr>
              <a:t>https://doi.org/10.1016/j.cels.2020.07.004</a:t>
            </a:r>
            <a:endParaRPr lang="en-US" sz="1600" dirty="0">
              <a:latin typeface="Arial"/>
              <a:cs typeface="Arial"/>
            </a:endParaRPr>
          </a:p>
          <a:p>
            <a:pPr marL="342900" indent="-342900" defTabSz="4729163">
              <a:buAutoNum type="arabicPeriod"/>
            </a:pPr>
            <a:endParaRPr lang="en-US" sz="1600" dirty="0">
              <a:solidFill>
                <a:srgbClr val="1B1B1B"/>
              </a:solidFill>
              <a:latin typeface="Arial"/>
              <a:cs typeface="Arial"/>
            </a:endParaRPr>
          </a:p>
          <a:p>
            <a:pPr marL="342900" indent="-342900" defTabSz="4729163">
              <a:buAutoNum type="arabicPeriod"/>
            </a:pPr>
            <a:r>
              <a:rPr lang="en-US" sz="1600" b="1" dirty="0">
                <a:solidFill>
                  <a:srgbClr val="1B1B1B"/>
                </a:solidFill>
                <a:latin typeface="Arial"/>
                <a:cs typeface="Arial"/>
              </a:rPr>
              <a:t>Murthy, V., </a:t>
            </a:r>
            <a:r>
              <a:rPr lang="en-US" sz="1600" b="1" err="1">
                <a:solidFill>
                  <a:srgbClr val="1B1B1B"/>
                </a:solidFill>
                <a:latin typeface="Arial"/>
                <a:cs typeface="Arial"/>
              </a:rPr>
              <a:t>Makkawi</a:t>
            </a:r>
            <a:r>
              <a:rPr lang="en-US" sz="1600" b="1" dirty="0">
                <a:solidFill>
                  <a:srgbClr val="1B1B1B"/>
                </a:solidFill>
                <a:latin typeface="Arial"/>
                <a:cs typeface="Arial"/>
              </a:rPr>
              <a:t>, R., Anderson, F., Halsey, C., Manalo-Hall, E., Srikanth, S., </a:t>
            </a:r>
            <a:r>
              <a:rPr lang="en-US" sz="1600" b="1" err="1">
                <a:solidFill>
                  <a:srgbClr val="1B1B1B"/>
                </a:solidFill>
                <a:latin typeface="Arial"/>
                <a:cs typeface="Arial"/>
              </a:rPr>
              <a:t>Tangkilisan</a:t>
            </a:r>
            <a:r>
              <a:rPr lang="en-US" sz="1600" b="1" dirty="0">
                <a:solidFill>
                  <a:srgbClr val="1B1B1B"/>
                </a:solidFill>
                <a:latin typeface="Arial"/>
                <a:cs typeface="Arial"/>
              </a:rPr>
              <a:t>, G., McGann, J., Copperman, J., &amp; Davies, A. E.</a:t>
            </a:r>
            <a:r>
              <a:rPr lang="en-US" sz="1600" dirty="0">
                <a:solidFill>
                  <a:srgbClr val="1B1B1B"/>
                </a:solidFill>
                <a:latin typeface="Arial"/>
                <a:cs typeface="Arial"/>
              </a:rPr>
              <a:t> **(In preparation)**. </a:t>
            </a:r>
            <a:r>
              <a:rPr lang="en-US" sz="1600" i="1" dirty="0">
                <a:solidFill>
                  <a:srgbClr val="1B1B1B"/>
                </a:solidFill>
                <a:latin typeface="Arial"/>
                <a:cs typeface="Arial"/>
              </a:rPr>
              <a:t>Serial Imaging of Tumor and </a:t>
            </a:r>
            <a:r>
              <a:rPr lang="en-US" sz="1600" i="1" err="1">
                <a:solidFill>
                  <a:srgbClr val="1B1B1B"/>
                </a:solidFill>
                <a:latin typeface="Arial"/>
                <a:cs typeface="Arial"/>
              </a:rPr>
              <a:t>microEnvironment</a:t>
            </a:r>
            <a:r>
              <a:rPr lang="en-US" sz="1600" i="1" dirty="0">
                <a:solidFill>
                  <a:srgbClr val="1B1B1B"/>
                </a:solidFill>
                <a:latin typeface="Arial"/>
                <a:cs typeface="Arial"/>
              </a:rPr>
              <a:t> (SITE) platform for live-cell modeling of cancer progression dynamics</a:t>
            </a:r>
            <a:r>
              <a:rPr lang="en-US" sz="1600" dirty="0">
                <a:solidFill>
                  <a:srgbClr val="1B1B1B"/>
                </a:solidFill>
                <a:latin typeface="Arial"/>
                <a:cs typeface="Arial"/>
              </a:rPr>
              <a:t>. Oregon Health &amp; Science University.</a:t>
            </a:r>
            <a:endParaRPr lang="en-US" sz="1600" dirty="0">
              <a:latin typeface="Arial"/>
              <a:cs typeface="Arial"/>
            </a:endParaRPr>
          </a:p>
          <a:p>
            <a:pPr marL="342900" indent="-342900" algn="ctr" defTabSz="4729163">
              <a:buAutoNum type="arabicPeriod"/>
            </a:pPr>
            <a:endParaRPr lang="en-US" sz="1600">
              <a:solidFill>
                <a:srgbClr val="1B1B1B"/>
              </a:solidFill>
              <a:cs typeface="Arial" panose="020B0604020202020204" pitchFamily="34" charset="0"/>
            </a:endParaRPr>
          </a:p>
          <a:p>
            <a:pPr marL="342900" indent="-342900" algn="ctr" defTabSz="4729163">
              <a:buAutoNum type="arabicPeriod"/>
            </a:pPr>
            <a:endParaRPr lang="en-US" b="1">
              <a:solidFill>
                <a:srgbClr val="1B1B1B"/>
              </a:solidFill>
              <a:cs typeface="Arial" panose="020B0604020202020204" pitchFamily="34" charset="0"/>
            </a:endParaRPr>
          </a:p>
        </p:txBody>
      </p:sp>
      <p:sp>
        <p:nvSpPr>
          <p:cNvPr id="462" name="Text Box 260">
            <a:extLst>
              <a:ext uri="{FF2B5EF4-FFF2-40B4-BE49-F238E27FC236}">
                <a16:creationId xmlns:a16="http://schemas.microsoft.com/office/drawing/2014/main" id="{373720F4-33E7-A673-B684-F71F5273D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56321" y="28892575"/>
            <a:ext cx="1010469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n-US" sz="4000" b="1" dirty="0">
                <a:latin typeface="+mn-lt"/>
                <a:cs typeface="Calibri"/>
              </a:rPr>
              <a:t>RESOURCES</a:t>
            </a:r>
            <a:endParaRPr lang="en-US" sz="4000" b="1" dirty="0">
              <a:latin typeface="+mn-lt"/>
              <a:cs typeface="Calibri" pitchFamily="34" charset="0"/>
            </a:endParaRPr>
          </a:p>
        </p:txBody>
      </p:sp>
      <p:pic>
        <p:nvPicPr>
          <p:cNvPr id="458" name="Picture 457">
            <a:extLst>
              <a:ext uri="{FF2B5EF4-FFF2-40B4-BE49-F238E27FC236}">
                <a16:creationId xmlns:a16="http://schemas.microsoft.com/office/drawing/2014/main" id="{FC39C376-E95D-7C68-A10F-9014CEFAB8A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027092" y="21437110"/>
            <a:ext cx="1998812" cy="1773269"/>
          </a:xfrm>
          <a:prstGeom prst="rect">
            <a:avLst/>
          </a:prstGeom>
        </p:spPr>
      </p:pic>
      <p:pic>
        <p:nvPicPr>
          <p:cNvPr id="461" name="Picture 460">
            <a:extLst>
              <a:ext uri="{FF2B5EF4-FFF2-40B4-BE49-F238E27FC236}">
                <a16:creationId xmlns:a16="http://schemas.microsoft.com/office/drawing/2014/main" id="{5F5D5221-BE09-31A9-ED9D-9FBAEC156E7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345730" y="21282265"/>
            <a:ext cx="1990545" cy="1901763"/>
          </a:xfrm>
          <a:prstGeom prst="rect">
            <a:avLst/>
          </a:prstGeom>
        </p:spPr>
      </p:pic>
      <p:pic>
        <p:nvPicPr>
          <p:cNvPr id="465" name="Picture 464" descr="A blue and yellow light&#10;&#10;AI-generated content may be incorrect.">
            <a:extLst>
              <a:ext uri="{FF2B5EF4-FFF2-40B4-BE49-F238E27FC236}">
                <a16:creationId xmlns:a16="http://schemas.microsoft.com/office/drawing/2014/main" id="{901D9C45-FFCE-EDB0-BC44-3A5B8F6ED66E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625" t="630" r="119" b="-8618"/>
          <a:stretch>
            <a:fillRect/>
          </a:stretch>
        </p:blipFill>
        <p:spPr>
          <a:xfrm>
            <a:off x="14741918" y="13797056"/>
            <a:ext cx="1671000" cy="1803854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476" name="Picture 475" descr="A blue and green background&#10;&#10;AI-generated content may be incorrect.">
            <a:extLst>
              <a:ext uri="{FF2B5EF4-FFF2-40B4-BE49-F238E27FC236}">
                <a16:creationId xmlns:a16="http://schemas.microsoft.com/office/drawing/2014/main" id="{76CB5D2A-9E69-25C6-75BA-93289A0AEB8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741612" y="15719370"/>
            <a:ext cx="1559349" cy="1784003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485" name="Picture 484" descr="A yellow square on a blue background&#10;&#10;AI-generated content may be incorrect.">
            <a:extLst>
              <a:ext uri="{FF2B5EF4-FFF2-40B4-BE49-F238E27FC236}">
                <a16:creationId xmlns:a16="http://schemas.microsoft.com/office/drawing/2014/main" id="{C1827F47-3D0F-002F-A838-E596FA9517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584314" y="9448143"/>
            <a:ext cx="1594985" cy="1941838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7B7BD97-CC39-F200-EB4F-90D5098FC4D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744786" y="9852200"/>
            <a:ext cx="1641274" cy="1679061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486" name="Picture 485" descr="A blurry image of a blue and yellow background&#10;&#10;AI-generated content may be incorrect.">
            <a:extLst>
              <a:ext uri="{FF2B5EF4-FFF2-40B4-BE49-F238E27FC236}">
                <a16:creationId xmlns:a16="http://schemas.microsoft.com/office/drawing/2014/main" id="{7A918F70-982D-5852-9F1B-482DF99BBA33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-356" t="384" r="-200" b="730"/>
          <a:stretch>
            <a:fillRect/>
          </a:stretch>
        </p:blipFill>
        <p:spPr>
          <a:xfrm>
            <a:off x="30543924" y="11748610"/>
            <a:ext cx="1623276" cy="157876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487" name="Picture 486" descr="A bright spot in a blue and yellow light&#10;&#10;AI-generated content may be incorrect.">
            <a:extLst>
              <a:ext uri="{FF2B5EF4-FFF2-40B4-BE49-F238E27FC236}">
                <a16:creationId xmlns:a16="http://schemas.microsoft.com/office/drawing/2014/main" id="{8A9FD873-A626-1C2B-B998-F85ADB46384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563000" y="13596765"/>
            <a:ext cx="1587257" cy="164854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492" name="Picture 491" descr="A diagram of a algorithm&#10;&#10;AI-generated content may be incorrect.">
            <a:extLst>
              <a:ext uri="{FF2B5EF4-FFF2-40B4-BE49-F238E27FC236}">
                <a16:creationId xmlns:a16="http://schemas.microsoft.com/office/drawing/2014/main" id="{67529066-1069-F14F-4628-A873AC91BCFC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-617" t="-1028" r="1276" b="777"/>
          <a:stretch>
            <a:fillRect/>
          </a:stretch>
        </p:blipFill>
        <p:spPr>
          <a:xfrm>
            <a:off x="18177013" y="12530368"/>
            <a:ext cx="4055889" cy="3724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3" name="Picture 492">
            <a:extLst>
              <a:ext uri="{FF2B5EF4-FFF2-40B4-BE49-F238E27FC236}">
                <a16:creationId xmlns:a16="http://schemas.microsoft.com/office/drawing/2014/main" id="{0D558EDE-C171-F8A8-CD8A-9880DEC156B0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l="772" t="3886" r="-178" b="21253"/>
          <a:stretch>
            <a:fillRect/>
          </a:stretch>
        </p:blipFill>
        <p:spPr>
          <a:xfrm>
            <a:off x="18349677" y="10451980"/>
            <a:ext cx="10532773" cy="1165190"/>
          </a:xfrm>
          <a:prstGeom prst="rect">
            <a:avLst/>
          </a:prstGeom>
        </p:spPr>
      </p:pic>
      <p:pic>
        <p:nvPicPr>
          <p:cNvPr id="494" name="Picture 493" descr="A blue and white logo&#10;&#10;AI-generated content may be incorrect.">
            <a:extLst>
              <a:ext uri="{FF2B5EF4-FFF2-40B4-BE49-F238E27FC236}">
                <a16:creationId xmlns:a16="http://schemas.microsoft.com/office/drawing/2014/main" id="{5B0E53DB-31D6-216C-6404-6DC41E84901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7214958" y="12648749"/>
            <a:ext cx="1707241" cy="34979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04" name="Rectangle 503">
            <a:extLst>
              <a:ext uri="{FF2B5EF4-FFF2-40B4-BE49-F238E27FC236}">
                <a16:creationId xmlns:a16="http://schemas.microsoft.com/office/drawing/2014/main" id="{592E1F54-7B12-034B-F021-E20094027ACE}"/>
              </a:ext>
            </a:extLst>
          </p:cNvPr>
          <p:cNvSpPr/>
          <p:nvPr/>
        </p:nvSpPr>
        <p:spPr bwMode="auto">
          <a:xfrm>
            <a:off x="14580641" y="13540774"/>
            <a:ext cx="1640204" cy="27699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Cancer-cells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C090B919-F72F-D531-CC05-94F18955D14D}"/>
              </a:ext>
            </a:extLst>
          </p:cNvPr>
          <p:cNvSpPr/>
          <p:nvPr/>
        </p:nvSpPr>
        <p:spPr bwMode="auto">
          <a:xfrm>
            <a:off x="14615147" y="15481716"/>
            <a:ext cx="1364160" cy="27699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Bright-field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3D1F0C73-0284-1A0E-A6F4-5078C9306200}"/>
              </a:ext>
            </a:extLst>
          </p:cNvPr>
          <p:cNvSpPr/>
          <p:nvPr/>
        </p:nvSpPr>
        <p:spPr bwMode="auto">
          <a:xfrm>
            <a:off x="14615146" y="17586561"/>
            <a:ext cx="1571194" cy="27699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ERK-reporter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28" name="Picture 27" descr="A blue and yellow light&#10;&#10;AI-generated content may be incorrect.">
            <a:extLst>
              <a:ext uri="{FF2B5EF4-FFF2-40B4-BE49-F238E27FC236}">
                <a16:creationId xmlns:a16="http://schemas.microsoft.com/office/drawing/2014/main" id="{FB0393C4-69D3-639A-8C4D-418BF2A3C31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795715" y="17860012"/>
            <a:ext cx="1600917" cy="1593189"/>
          </a:xfrm>
          <a:prstGeom prst="rect">
            <a:avLst/>
          </a:prstGeom>
          <a:ln>
            <a:noFill/>
          </a:ln>
          <a:effectLst/>
        </p:spPr>
      </p:pic>
      <p:sp>
        <p:nvSpPr>
          <p:cNvPr id="502" name="Rectangle 501">
            <a:extLst>
              <a:ext uri="{FF2B5EF4-FFF2-40B4-BE49-F238E27FC236}">
                <a16:creationId xmlns:a16="http://schemas.microsoft.com/office/drawing/2014/main" id="{0D4BB9EB-7568-E9BD-4357-DC1D7BD6C67E}"/>
              </a:ext>
            </a:extLst>
          </p:cNvPr>
          <p:cNvSpPr/>
          <p:nvPr/>
        </p:nvSpPr>
        <p:spPr bwMode="auto">
          <a:xfrm>
            <a:off x="14666906" y="9518924"/>
            <a:ext cx="674050" cy="27699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Cyto</a:t>
            </a: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526B6261-D6C3-067D-EB95-A64AF9DDDE9F}"/>
              </a:ext>
            </a:extLst>
          </p:cNvPr>
          <p:cNvSpPr/>
          <p:nvPr/>
        </p:nvSpPr>
        <p:spPr bwMode="auto">
          <a:xfrm>
            <a:off x="14649654" y="11573952"/>
            <a:ext cx="1122621" cy="27699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Host-cell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29" name="Picture 28" descr="A blurry image of a blue and green background&#10;&#10;AI-generated content may be incorrect.">
            <a:extLst>
              <a:ext uri="{FF2B5EF4-FFF2-40B4-BE49-F238E27FC236}">
                <a16:creationId xmlns:a16="http://schemas.microsoft.com/office/drawing/2014/main" id="{DB9B3F1E-DA29-087D-E987-AF5288679E3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0516006" y="15577871"/>
            <a:ext cx="1646745" cy="1809748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34" name="Picture 33" descr="A blue and yellow smoke&#10;&#10;AI-generated content may be incorrect.">
            <a:extLst>
              <a:ext uri="{FF2B5EF4-FFF2-40B4-BE49-F238E27FC236}">
                <a16:creationId xmlns:a16="http://schemas.microsoft.com/office/drawing/2014/main" id="{E88BCD82-5EE9-5D8C-53FE-5E776C82C26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0481500" y="17720191"/>
            <a:ext cx="1698503" cy="1734807"/>
          </a:xfrm>
          <a:prstGeom prst="rect">
            <a:avLst/>
          </a:prstGeom>
          <a:ln>
            <a:noFill/>
          </a:ln>
          <a:effectLst/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5BBF156-5894-2FF3-8CBE-FB712BB372F4}"/>
              </a:ext>
            </a:extLst>
          </p:cNvPr>
          <p:cNvCxnSpPr/>
          <p:nvPr/>
        </p:nvCxnSpPr>
        <p:spPr bwMode="auto">
          <a:xfrm>
            <a:off x="21488400" y="16002000"/>
            <a:ext cx="914400" cy="914400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CA96C35-0637-2455-FB7B-FA6B5E161841}"/>
              </a:ext>
            </a:extLst>
          </p:cNvPr>
          <p:cNvCxnSpPr/>
          <p:nvPr/>
        </p:nvCxnSpPr>
        <p:spPr bwMode="auto">
          <a:xfrm>
            <a:off x="21631275" y="16144875"/>
            <a:ext cx="914400" cy="914400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E718DD2-4227-BF11-7A12-B46B65691C77}"/>
              </a:ext>
            </a:extLst>
          </p:cNvPr>
          <p:cNvCxnSpPr/>
          <p:nvPr/>
        </p:nvCxnSpPr>
        <p:spPr bwMode="auto">
          <a:xfrm>
            <a:off x="21774150" y="16287749"/>
            <a:ext cx="914400" cy="914400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1" name="Straight Arrow Connector 480">
            <a:extLst>
              <a:ext uri="{FF2B5EF4-FFF2-40B4-BE49-F238E27FC236}">
                <a16:creationId xmlns:a16="http://schemas.microsoft.com/office/drawing/2014/main" id="{EA96BF5C-CB7C-991A-6450-E402F0F5384D}"/>
              </a:ext>
            </a:extLst>
          </p:cNvPr>
          <p:cNvCxnSpPr>
            <a:cxnSpLocks/>
          </p:cNvCxnSpPr>
          <p:nvPr/>
        </p:nvCxnSpPr>
        <p:spPr bwMode="auto">
          <a:xfrm>
            <a:off x="16366079" y="14362807"/>
            <a:ext cx="707364" cy="189780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2" name="Straight Arrow Connector 481">
            <a:extLst>
              <a:ext uri="{FF2B5EF4-FFF2-40B4-BE49-F238E27FC236}">
                <a16:creationId xmlns:a16="http://schemas.microsoft.com/office/drawing/2014/main" id="{1DDA79A3-931B-4A7A-96DF-643D154E2A96}"/>
              </a:ext>
            </a:extLst>
          </p:cNvPr>
          <p:cNvCxnSpPr>
            <a:cxnSpLocks/>
          </p:cNvCxnSpPr>
          <p:nvPr/>
        </p:nvCxnSpPr>
        <p:spPr bwMode="auto">
          <a:xfrm flipV="1">
            <a:off x="16348825" y="14794127"/>
            <a:ext cx="672856" cy="1846051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95" name="Straight Arrow Connector 494">
            <a:extLst>
              <a:ext uri="{FF2B5EF4-FFF2-40B4-BE49-F238E27FC236}">
                <a16:creationId xmlns:a16="http://schemas.microsoft.com/office/drawing/2014/main" id="{C3BE79B8-4DAF-0443-18DE-4EA4C8C2DB5A}"/>
              </a:ext>
            </a:extLst>
          </p:cNvPr>
          <p:cNvCxnSpPr>
            <a:cxnSpLocks/>
          </p:cNvCxnSpPr>
          <p:nvPr/>
        </p:nvCxnSpPr>
        <p:spPr bwMode="auto">
          <a:xfrm flipV="1">
            <a:off x="16400583" y="15208193"/>
            <a:ext cx="603846" cy="3536830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9" name="Rectangle 498">
            <a:extLst>
              <a:ext uri="{FF2B5EF4-FFF2-40B4-BE49-F238E27FC236}">
                <a16:creationId xmlns:a16="http://schemas.microsoft.com/office/drawing/2014/main" id="{4E8228D0-0E4E-70D2-ABBF-0DE73438864A}"/>
              </a:ext>
            </a:extLst>
          </p:cNvPr>
          <p:cNvSpPr/>
          <p:nvPr/>
        </p:nvSpPr>
        <p:spPr bwMode="auto">
          <a:xfrm>
            <a:off x="29268793" y="9412582"/>
            <a:ext cx="1008749" cy="61555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sz="2000" b="1" u="sng" dirty="0">
                <a:solidFill>
                  <a:schemeClr val="tx1"/>
                </a:solidFill>
                <a:latin typeface="Arial"/>
                <a:cs typeface="Arial"/>
              </a:rPr>
              <a:t>Channel Outputs</a:t>
            </a:r>
            <a:endParaRPr lang="en-US" sz="2000" b="1" u="sng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2CC7B4D0-CA28-B157-8073-08A2C6865791}"/>
              </a:ext>
            </a:extLst>
          </p:cNvPr>
          <p:cNvCxnSpPr/>
          <p:nvPr/>
        </p:nvCxnSpPr>
        <p:spPr bwMode="auto">
          <a:xfrm>
            <a:off x="16366080" y="10860485"/>
            <a:ext cx="655605" cy="2932978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0" name="Straight Arrow Connector 479">
            <a:extLst>
              <a:ext uri="{FF2B5EF4-FFF2-40B4-BE49-F238E27FC236}">
                <a16:creationId xmlns:a16="http://schemas.microsoft.com/office/drawing/2014/main" id="{D2140332-404F-40F5-665E-B362BFCA3303}"/>
              </a:ext>
            </a:extLst>
          </p:cNvPr>
          <p:cNvCxnSpPr>
            <a:cxnSpLocks/>
          </p:cNvCxnSpPr>
          <p:nvPr/>
        </p:nvCxnSpPr>
        <p:spPr bwMode="auto">
          <a:xfrm>
            <a:off x="16366077" y="12637528"/>
            <a:ext cx="655607" cy="1552749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0" name="Rectangle 499">
            <a:extLst>
              <a:ext uri="{FF2B5EF4-FFF2-40B4-BE49-F238E27FC236}">
                <a16:creationId xmlns:a16="http://schemas.microsoft.com/office/drawing/2014/main" id="{E746CC45-C3D2-435B-4A6B-C9F28EB1F516}"/>
              </a:ext>
            </a:extLst>
          </p:cNvPr>
          <p:cNvSpPr/>
          <p:nvPr/>
        </p:nvSpPr>
        <p:spPr bwMode="auto">
          <a:xfrm>
            <a:off x="31436657" y="9208372"/>
            <a:ext cx="829325" cy="27699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Cyto</a:t>
            </a: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59815ADB-C96A-9D92-1B91-BCA1736EBCBC}"/>
              </a:ext>
            </a:extLst>
          </p:cNvPr>
          <p:cNvSpPr/>
          <p:nvPr/>
        </p:nvSpPr>
        <p:spPr bwMode="auto">
          <a:xfrm>
            <a:off x="31039841" y="11468493"/>
            <a:ext cx="1122621" cy="27699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Host-cell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7C090C43-9C53-1132-DCC5-935D71936159}"/>
              </a:ext>
            </a:extLst>
          </p:cNvPr>
          <p:cNvSpPr/>
          <p:nvPr/>
        </p:nvSpPr>
        <p:spPr bwMode="auto">
          <a:xfrm>
            <a:off x="30522258" y="13325114"/>
            <a:ext cx="1795479" cy="27699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Cancer-cells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17EB35E2-9AF2-597D-F184-ACC1C0BD9DAD}"/>
              </a:ext>
            </a:extLst>
          </p:cNvPr>
          <p:cNvSpPr/>
          <p:nvPr/>
        </p:nvSpPr>
        <p:spPr bwMode="auto">
          <a:xfrm>
            <a:off x="30849674" y="15283310"/>
            <a:ext cx="1312399" cy="27699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Bright-field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55F7A1B7-42AB-B311-62AF-0F58487A0A16}"/>
              </a:ext>
            </a:extLst>
          </p:cNvPr>
          <p:cNvSpPr/>
          <p:nvPr/>
        </p:nvSpPr>
        <p:spPr bwMode="auto">
          <a:xfrm>
            <a:off x="30591656" y="17431671"/>
            <a:ext cx="1571194" cy="27699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ERK-reporter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B7C3BD0-3661-E669-DA88-39F3FC11888A}"/>
              </a:ext>
            </a:extLst>
          </p:cNvPr>
          <p:cNvCxnSpPr>
            <a:cxnSpLocks/>
          </p:cNvCxnSpPr>
          <p:nvPr/>
        </p:nvCxnSpPr>
        <p:spPr bwMode="auto">
          <a:xfrm flipV="1">
            <a:off x="29961274" y="10466326"/>
            <a:ext cx="603848" cy="2829470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24DA26C-9F75-C379-C2AA-EBD2DFAA2A9D}"/>
              </a:ext>
            </a:extLst>
          </p:cNvPr>
          <p:cNvCxnSpPr>
            <a:cxnSpLocks/>
          </p:cNvCxnSpPr>
          <p:nvPr/>
        </p:nvCxnSpPr>
        <p:spPr bwMode="auto">
          <a:xfrm flipV="1">
            <a:off x="29944025" y="12726448"/>
            <a:ext cx="638352" cy="1000665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C194BA5-30C5-0F68-D12D-D6C6F260AC5D}"/>
              </a:ext>
            </a:extLst>
          </p:cNvPr>
          <p:cNvCxnSpPr>
            <a:cxnSpLocks/>
          </p:cNvCxnSpPr>
          <p:nvPr/>
        </p:nvCxnSpPr>
        <p:spPr bwMode="auto">
          <a:xfrm flipV="1">
            <a:off x="29961667" y="14333291"/>
            <a:ext cx="638349" cy="2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48D0B1B-4470-6125-B55D-FAC94E18FF13}"/>
              </a:ext>
            </a:extLst>
          </p:cNvPr>
          <p:cNvCxnSpPr>
            <a:cxnSpLocks/>
          </p:cNvCxnSpPr>
          <p:nvPr/>
        </p:nvCxnSpPr>
        <p:spPr bwMode="auto">
          <a:xfrm>
            <a:off x="29961307" y="15501487"/>
            <a:ext cx="500331" cy="2950235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05A1A11-2C8D-1B92-92CA-07276274AD93}"/>
              </a:ext>
            </a:extLst>
          </p:cNvPr>
          <p:cNvCxnSpPr/>
          <p:nvPr/>
        </p:nvCxnSpPr>
        <p:spPr bwMode="auto">
          <a:xfrm>
            <a:off x="22345650" y="16859250"/>
            <a:ext cx="914400" cy="914400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464" name="Picture 463" descr="A close-up of a blue and yellow circle&#10;&#10;AI-generated content may be incorrect.">
            <a:extLst>
              <a:ext uri="{FF2B5EF4-FFF2-40B4-BE49-F238E27FC236}">
                <a16:creationId xmlns:a16="http://schemas.microsoft.com/office/drawing/2014/main" id="{58404DA5-000A-DFDF-F970-439DC00634E1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5017235" y="20380686"/>
            <a:ext cx="8358281" cy="11000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96" name="Rectangle 495">
            <a:extLst>
              <a:ext uri="{FF2B5EF4-FFF2-40B4-BE49-F238E27FC236}">
                <a16:creationId xmlns:a16="http://schemas.microsoft.com/office/drawing/2014/main" id="{71F50607-B8CE-A721-44E9-10CD7BA79375}"/>
              </a:ext>
            </a:extLst>
          </p:cNvPr>
          <p:cNvSpPr/>
          <p:nvPr/>
        </p:nvSpPr>
        <p:spPr bwMode="auto">
          <a:xfrm>
            <a:off x="16800307" y="19630898"/>
            <a:ext cx="4727418" cy="29009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4729163"/>
            <a:r>
              <a:rPr lang="en-US" sz="2400" b="1" dirty="0">
                <a:solidFill>
                  <a:schemeClr val="tx1"/>
                </a:solidFill>
                <a:latin typeface="Arial"/>
                <a:ea typeface="Open Sans"/>
                <a:cs typeface="Arial"/>
              </a:rPr>
              <a:t>Cellular Image interpolations </a:t>
            </a:r>
            <a:endParaRPr lang="en-US">
              <a:solidFill>
                <a:schemeClr val="tx1"/>
              </a:solidFill>
              <a:ea typeface="Open Sans"/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40A33BB-9356-940B-E1DB-5E9EC39E54F8}"/>
              </a:ext>
            </a:extLst>
          </p:cNvPr>
          <p:cNvSpPr/>
          <p:nvPr/>
        </p:nvSpPr>
        <p:spPr bwMode="auto">
          <a:xfrm>
            <a:off x="15266764" y="24802734"/>
            <a:ext cx="7944382" cy="36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defTabSz="4729163"/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Figure 2.</a:t>
            </a: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 Interpolation between two points in latent space, with reconstructed cancer-cell channel images illustrating a smooth transition between cell states.</a:t>
            </a:r>
            <a:endParaRPr lang="en-US">
              <a:solidFill>
                <a:schemeClr val="tx1"/>
              </a:solidFill>
            </a:endParaRPr>
          </a:p>
          <a:p>
            <a:pPr indent="-457200" defTabSz="4729163"/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FB12602-6A2B-D314-2321-2211408AF152}"/>
              </a:ext>
            </a:extLst>
          </p:cNvPr>
          <p:cNvSpPr/>
          <p:nvPr/>
        </p:nvSpPr>
        <p:spPr bwMode="auto">
          <a:xfrm>
            <a:off x="24546817" y="20638512"/>
            <a:ext cx="6884019" cy="3418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72873" tIns="0" rIns="472873" bIns="0" numCol="1" rtlCol="0" anchor="ctr" anchorCtr="0" compatLnSpc="1">
            <a:prstTxWarp prst="textNoShape">
              <a:avLst/>
            </a:prstTxWarp>
          </a:bodyPr>
          <a:lstStyle/>
          <a:p>
            <a:pPr algn="ctr" defTabSz="4729163"/>
            <a:r>
              <a:rPr lang="en-US" sz="2400" b="1" dirty="0">
                <a:solidFill>
                  <a:schemeClr val="tx1"/>
                </a:solidFill>
                <a:latin typeface="Arial"/>
                <a:ea typeface="Open Sans"/>
                <a:cs typeface="Arial"/>
              </a:rPr>
              <a:t>Invasion Trajectory</a:t>
            </a:r>
          </a:p>
        </p:txBody>
      </p:sp>
      <p:sp>
        <p:nvSpPr>
          <p:cNvPr id="488" name="Arrow: Right 487">
            <a:extLst>
              <a:ext uri="{FF2B5EF4-FFF2-40B4-BE49-F238E27FC236}">
                <a16:creationId xmlns:a16="http://schemas.microsoft.com/office/drawing/2014/main" id="{C7A998DA-BC8C-1026-539B-42E83FED60AA}"/>
              </a:ext>
            </a:extLst>
          </p:cNvPr>
          <p:cNvSpPr/>
          <p:nvPr/>
        </p:nvSpPr>
        <p:spPr bwMode="auto">
          <a:xfrm>
            <a:off x="30025489" y="22170862"/>
            <a:ext cx="404405" cy="466215"/>
          </a:xfrm>
          <a:prstGeom prst="rightArrow">
            <a:avLst/>
          </a:prstGeom>
          <a:solidFill>
            <a:srgbClr val="FF00F7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72873" tIns="236436" rIns="472873" bIns="23643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729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50" name="Picture 49" descr="A diagram of a diagram&#10;&#10;AI-generated content may be incorrect.">
            <a:extLst>
              <a:ext uri="{FF2B5EF4-FFF2-40B4-BE49-F238E27FC236}">
                <a16:creationId xmlns:a16="http://schemas.microsoft.com/office/drawing/2014/main" id="{34227358-794E-7348-0F65-64AF0F38DA1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3939787" y="23271832"/>
            <a:ext cx="7658639" cy="2889309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66900F38-1D7D-FBA6-946E-D88E75A2DDB3}"/>
              </a:ext>
            </a:extLst>
          </p:cNvPr>
          <p:cNvSpPr/>
          <p:nvPr/>
        </p:nvSpPr>
        <p:spPr bwMode="auto">
          <a:xfrm>
            <a:off x="17298762" y="16618238"/>
            <a:ext cx="12740675" cy="4197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indent="-457200" defTabSz="4729163"/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Figure 1. </a:t>
            </a:r>
            <a:r>
              <a:rPr lang="en-US" dirty="0">
                <a:solidFill>
                  <a:schemeClr val="tx1"/>
                </a:solidFill>
                <a:latin typeface="Arial"/>
                <a:cs typeface="Arial"/>
              </a:rPr>
              <a:t>Multi-channel input encoding into a 64-dimensional latent space using a convolutional VAE. Reconstructions are generated by decoding points from the latent space. Channels 1,2,3 are segmentation masks &amp; Channels 4, 5 are images.</a:t>
            </a:r>
            <a:endParaRPr lang="en-US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086ACA6-68FC-CB09-9AE2-1071F329F97A}"/>
              </a:ext>
            </a:extLst>
          </p:cNvPr>
          <p:cNvSpPr/>
          <p:nvPr/>
        </p:nvSpPr>
        <p:spPr bwMode="auto">
          <a:xfrm>
            <a:off x="21428690" y="31437628"/>
            <a:ext cx="10066481" cy="62682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defTabSz="4729163"/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Figure 4.</a:t>
            </a: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 Temporal trajectory of a single cell in latent space, colored by ERK signaling intensity.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63D87EB-2B4F-8B38-7E75-CED2523F56C1}"/>
              </a:ext>
            </a:extLst>
          </p:cNvPr>
          <p:cNvSpPr/>
          <p:nvPr/>
        </p:nvSpPr>
        <p:spPr bwMode="auto">
          <a:xfrm>
            <a:off x="25006391" y="26219579"/>
            <a:ext cx="6926466" cy="54056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defTabSz="4729163"/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Figure 3.</a:t>
            </a: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 Visualization of latent space features associated with cancer cell invasion behavior.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7839A4-AF7E-7B27-0474-29AF977F5CD9}"/>
              </a:ext>
            </a:extLst>
          </p:cNvPr>
          <p:cNvSpPr/>
          <p:nvPr/>
        </p:nvSpPr>
        <p:spPr bwMode="auto">
          <a:xfrm>
            <a:off x="21726426" y="11915211"/>
            <a:ext cx="5989882" cy="5514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72873" tIns="236436" rIns="472873" bIns="236436" numCol="1" rtlCol="0" anchor="ctr" anchorCtr="0" compatLnSpc="1">
            <a:prstTxWarp prst="textNoShape">
              <a:avLst/>
            </a:prstTxWarp>
          </a:bodyPr>
          <a:lstStyle/>
          <a:p>
            <a:pPr defTabSz="4729163"/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 Latent Space</a:t>
            </a:r>
            <a:r>
              <a:rPr lang="en-US" sz="2400" b="1" dirty="0">
                <a:solidFill>
                  <a:schemeClr val="tx1">
                    <a:lumMod val="49000"/>
                    <a:lumOff val="51000"/>
                  </a:schemeClr>
                </a:solidFill>
                <a:latin typeface="Arial"/>
                <a:cs typeface="Arial"/>
              </a:rPr>
              <a:t> </a:t>
            </a:r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— t-SNE Projection</a:t>
            </a:r>
            <a:endParaRPr lang="en-US">
              <a:solidFill>
                <a:schemeClr val="tx1"/>
              </a:solidFill>
              <a:cs typeface="Arial"/>
            </a:endParaRPr>
          </a:p>
        </p:txBody>
      </p:sp>
      <p:sp>
        <p:nvSpPr>
          <p:cNvPr id="552" name="TextBox 551">
            <a:extLst>
              <a:ext uri="{FF2B5EF4-FFF2-40B4-BE49-F238E27FC236}">
                <a16:creationId xmlns:a16="http://schemas.microsoft.com/office/drawing/2014/main" id="{45EB3050-D11E-C830-B0FB-01CE3515BEA8}"/>
              </a:ext>
            </a:extLst>
          </p:cNvPr>
          <p:cNvSpPr txBox="1"/>
          <p:nvPr/>
        </p:nvSpPr>
        <p:spPr>
          <a:xfrm>
            <a:off x="605771" y="8984743"/>
            <a:ext cx="259000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/>
                <a:cs typeface="Arial"/>
              </a:rPr>
              <a:t>Mammary gland cells</a:t>
            </a:r>
          </a:p>
        </p:txBody>
      </p:sp>
      <p:pic>
        <p:nvPicPr>
          <p:cNvPr id="466" name="Picture 465" descr="A diagram of a cell mask&#10;&#10;AI-generated content may be incorrect.">
            <a:extLst>
              <a:ext uri="{FF2B5EF4-FFF2-40B4-BE49-F238E27FC236}">
                <a16:creationId xmlns:a16="http://schemas.microsoft.com/office/drawing/2014/main" id="{ECFA563F-EF00-F24D-AB1B-85573D894B1A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 t="814" r="392" b="11519"/>
          <a:stretch>
            <a:fillRect/>
          </a:stretch>
        </p:blipFill>
        <p:spPr>
          <a:xfrm>
            <a:off x="9924466" y="26071756"/>
            <a:ext cx="4376403" cy="2066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67" name="Picture 466">
            <a:extLst>
              <a:ext uri="{FF2B5EF4-FFF2-40B4-BE49-F238E27FC236}">
                <a16:creationId xmlns:a16="http://schemas.microsoft.com/office/drawing/2014/main" id="{E97C1BDA-925A-9363-CD71-127B3C55D6DB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-312" t="-247" r="120" b="28202"/>
          <a:stretch>
            <a:fillRect/>
          </a:stretch>
        </p:blipFill>
        <p:spPr>
          <a:xfrm>
            <a:off x="3365783" y="27559845"/>
            <a:ext cx="5549549" cy="1731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69" name="Picture 468" descr="A diagram of a process">
            <a:extLst>
              <a:ext uri="{FF2B5EF4-FFF2-40B4-BE49-F238E27FC236}">
                <a16:creationId xmlns:a16="http://schemas.microsoft.com/office/drawing/2014/main" id="{A28A0B9A-1714-D42E-F51F-FD04EE37E1F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0656" y="30335979"/>
            <a:ext cx="7177538" cy="1978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71" name="Rectangle 470">
            <a:extLst>
              <a:ext uri="{FF2B5EF4-FFF2-40B4-BE49-F238E27FC236}">
                <a16:creationId xmlns:a16="http://schemas.microsoft.com/office/drawing/2014/main" id="{B390C098-B424-D6BE-EF38-8614B825ECCB}"/>
              </a:ext>
            </a:extLst>
          </p:cNvPr>
          <p:cNvSpPr/>
          <p:nvPr/>
        </p:nvSpPr>
        <p:spPr bwMode="auto">
          <a:xfrm>
            <a:off x="1787978" y="29825052"/>
            <a:ext cx="4964816" cy="3693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Variational Autoencoder (VAE)</a:t>
            </a:r>
            <a:endParaRPr lang="en-US" sz="24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3B524623-EB18-8E8C-4BFC-A504714B2741}"/>
              </a:ext>
            </a:extLst>
          </p:cNvPr>
          <p:cNvSpPr/>
          <p:nvPr/>
        </p:nvSpPr>
        <p:spPr bwMode="auto">
          <a:xfrm>
            <a:off x="3772054" y="27064598"/>
            <a:ext cx="5051080" cy="3693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Cell &amp; </a:t>
            </a:r>
            <a:r>
              <a:rPr lang="en-US" sz="2400" b="1" err="1">
                <a:solidFill>
                  <a:schemeClr val="tx1"/>
                </a:solidFill>
                <a:latin typeface="Arial"/>
                <a:cs typeface="Arial"/>
              </a:rPr>
              <a:t>Spatio</a:t>
            </a:r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-temporal Tracking</a:t>
            </a:r>
            <a:endParaRPr lang="en-US" sz="2400" b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E0793411-83F8-1F2A-19E0-FD58FB5BD369}"/>
              </a:ext>
            </a:extLst>
          </p:cNvPr>
          <p:cNvSpPr/>
          <p:nvPr/>
        </p:nvSpPr>
        <p:spPr bwMode="auto">
          <a:xfrm>
            <a:off x="10019429" y="25620470"/>
            <a:ext cx="4188439" cy="3693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Cell &amp; TME Segmentation</a:t>
            </a:r>
            <a:endParaRPr lang="en-US" sz="2400" b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A31CD5B7-CB11-D98E-B6D3-CA34D07F2504}"/>
              </a:ext>
            </a:extLst>
          </p:cNvPr>
          <p:cNvCxnSpPr>
            <a:cxnSpLocks/>
          </p:cNvCxnSpPr>
          <p:nvPr/>
        </p:nvCxnSpPr>
        <p:spPr bwMode="auto">
          <a:xfrm flipH="1">
            <a:off x="11687560" y="28389460"/>
            <a:ext cx="718322" cy="67286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E35FEE06-5BDE-6B56-C423-3660964F0AC8}"/>
              </a:ext>
            </a:extLst>
          </p:cNvPr>
          <p:cNvCxnSpPr>
            <a:cxnSpLocks/>
          </p:cNvCxnSpPr>
          <p:nvPr/>
        </p:nvCxnSpPr>
        <p:spPr bwMode="auto">
          <a:xfrm flipH="1">
            <a:off x="8116225" y="31063648"/>
            <a:ext cx="1080631" cy="41407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9" name="Straight Arrow Connector 488">
            <a:extLst>
              <a:ext uri="{FF2B5EF4-FFF2-40B4-BE49-F238E27FC236}">
                <a16:creationId xmlns:a16="http://schemas.microsoft.com/office/drawing/2014/main" id="{33935E41-F889-1F02-0947-3390912C50E1}"/>
              </a:ext>
            </a:extLst>
          </p:cNvPr>
          <p:cNvCxnSpPr>
            <a:cxnSpLocks/>
          </p:cNvCxnSpPr>
          <p:nvPr/>
        </p:nvCxnSpPr>
        <p:spPr bwMode="auto">
          <a:xfrm flipH="1">
            <a:off x="7071505" y="29526517"/>
            <a:ext cx="356011" cy="62110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F5748D7-B407-D008-EFFC-AAB946CC6FBB}"/>
              </a:ext>
            </a:extLst>
          </p:cNvPr>
          <p:cNvCxnSpPr>
            <a:cxnSpLocks/>
          </p:cNvCxnSpPr>
          <p:nvPr/>
        </p:nvCxnSpPr>
        <p:spPr bwMode="auto">
          <a:xfrm>
            <a:off x="29944053" y="15018411"/>
            <a:ext cx="569342" cy="1552758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87" name="Picture 86" descr="A graph of a graph with lines and dots&#10;&#10;AI-generated content may be incorrect.">
            <a:extLst>
              <a:ext uri="{FF2B5EF4-FFF2-40B4-BE49-F238E27FC236}">
                <a16:creationId xmlns:a16="http://schemas.microsoft.com/office/drawing/2014/main" id="{F337D200-85F1-417B-F2A3-13D844493A92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5008618" y="26761279"/>
            <a:ext cx="6142366" cy="5370841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510" name="Rectangle 509">
            <a:extLst>
              <a:ext uri="{FF2B5EF4-FFF2-40B4-BE49-F238E27FC236}">
                <a16:creationId xmlns:a16="http://schemas.microsoft.com/office/drawing/2014/main" id="{FE8FDAE6-EBAC-8308-F20D-E1043C2F7815}"/>
              </a:ext>
            </a:extLst>
          </p:cNvPr>
          <p:cNvSpPr/>
          <p:nvPr/>
        </p:nvSpPr>
        <p:spPr bwMode="auto">
          <a:xfrm>
            <a:off x="14996248" y="26061864"/>
            <a:ext cx="6695403" cy="50023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72873" tIns="0" rIns="472873" bIns="0" numCol="1" rtlCol="0" anchor="ctr" anchorCtr="0" compatLnSpc="1">
            <a:prstTxWarp prst="textNoShape">
              <a:avLst/>
            </a:prstTxWarp>
          </a:bodyPr>
          <a:lstStyle/>
          <a:p>
            <a:pPr algn="ctr" defTabSz="4729163"/>
            <a:r>
              <a:rPr lang="en-US" sz="2400" b="1" dirty="0">
                <a:solidFill>
                  <a:schemeClr val="tx1"/>
                </a:solidFill>
                <a:latin typeface="Arial"/>
                <a:ea typeface="Open Sans"/>
                <a:cs typeface="Arial"/>
              </a:rPr>
              <a:t>Single-Cell Trajectory &amp; ERK Signaling </a:t>
            </a:r>
          </a:p>
        </p:txBody>
      </p:sp>
      <p:pic>
        <p:nvPicPr>
          <p:cNvPr id="90" name="Picture 89" descr="A white x on a blue background&#10;&#10;AI-generated content may be incorrect.">
            <a:extLst>
              <a:ext uri="{FF2B5EF4-FFF2-40B4-BE49-F238E27FC236}">
                <a16:creationId xmlns:a16="http://schemas.microsoft.com/office/drawing/2014/main" id="{62511E07-EE0B-C1F4-3C75-AE8A839C89F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7114448" y="13254486"/>
            <a:ext cx="846109" cy="24585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17C2732-CF52-715A-A0DD-98837E45E4F1}"/>
              </a:ext>
            </a:extLst>
          </p:cNvPr>
          <p:cNvCxnSpPr/>
          <p:nvPr/>
        </p:nvCxnSpPr>
        <p:spPr bwMode="auto">
          <a:xfrm flipH="1" flipV="1">
            <a:off x="23294555" y="17773650"/>
            <a:ext cx="1742536" cy="3605841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AA5B291-49E7-0BAD-11D6-FB3D28B5CCB8}"/>
              </a:ext>
            </a:extLst>
          </p:cNvPr>
          <p:cNvCxnSpPr>
            <a:cxnSpLocks/>
          </p:cNvCxnSpPr>
          <p:nvPr/>
        </p:nvCxnSpPr>
        <p:spPr bwMode="auto">
          <a:xfrm flipV="1">
            <a:off x="17918832" y="14466322"/>
            <a:ext cx="396813" cy="2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95" name="Picture 94" descr="A white x on a blue background&#10;&#10;AI-generated content may be incorrect.">
            <a:extLst>
              <a:ext uri="{FF2B5EF4-FFF2-40B4-BE49-F238E27FC236}">
                <a16:creationId xmlns:a16="http://schemas.microsoft.com/office/drawing/2014/main" id="{190FDCB1-424C-94CD-E9C1-5D9625968304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9099233" y="13195001"/>
            <a:ext cx="788960" cy="24222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A192A7A-91CB-8F82-953E-022045ED0684}"/>
              </a:ext>
            </a:extLst>
          </p:cNvPr>
          <p:cNvCxnSpPr>
            <a:cxnSpLocks/>
          </p:cNvCxnSpPr>
          <p:nvPr/>
        </p:nvCxnSpPr>
        <p:spPr bwMode="auto">
          <a:xfrm flipV="1">
            <a:off x="28770861" y="14345552"/>
            <a:ext cx="327803" cy="2"/>
          </a:xfrm>
          <a:prstGeom prst="straightConnector1">
            <a:avLst/>
          </a:prstGeom>
          <a:solidFill>
            <a:srgbClr val="AD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41" name="Picture 40" descr="A close-up of a cell&#10;&#10;AI-generated content may be incorrect.">
            <a:extLst>
              <a:ext uri="{FF2B5EF4-FFF2-40B4-BE49-F238E27FC236}">
                <a16:creationId xmlns:a16="http://schemas.microsoft.com/office/drawing/2014/main" id="{B93CB065-42A5-9CDC-249B-A26B89014BB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3612697" y="21364345"/>
            <a:ext cx="1870074" cy="1986970"/>
          </a:xfrm>
          <a:prstGeom prst="rect">
            <a:avLst/>
          </a:prstGeom>
        </p:spPr>
      </p:pic>
      <p:pic>
        <p:nvPicPr>
          <p:cNvPr id="57" name="Picture 56" descr="A green blob and grey blob&#10;&#10;AI-generated content may be incorrect.">
            <a:extLst>
              <a:ext uri="{FF2B5EF4-FFF2-40B4-BE49-F238E27FC236}">
                <a16:creationId xmlns:a16="http://schemas.microsoft.com/office/drawing/2014/main" id="{8A7D687A-D4BC-98F7-2632-DD86D4410853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5884621" y="21327382"/>
            <a:ext cx="1815501" cy="1988030"/>
          </a:xfrm>
          <a:prstGeom prst="rect">
            <a:avLst/>
          </a:prstGeom>
        </p:spPr>
      </p:pic>
      <p:sp>
        <p:nvSpPr>
          <p:cNvPr id="479" name="Arrow: Right 478">
            <a:extLst>
              <a:ext uri="{FF2B5EF4-FFF2-40B4-BE49-F238E27FC236}">
                <a16:creationId xmlns:a16="http://schemas.microsoft.com/office/drawing/2014/main" id="{5ECAB2F8-FB87-9397-6275-BCC6BB7093A0}"/>
              </a:ext>
            </a:extLst>
          </p:cNvPr>
          <p:cNvSpPr/>
          <p:nvPr/>
        </p:nvSpPr>
        <p:spPr bwMode="auto">
          <a:xfrm>
            <a:off x="27592840" y="22222621"/>
            <a:ext cx="421659" cy="414457"/>
          </a:xfrm>
          <a:prstGeom prst="rightArrow">
            <a:avLst/>
          </a:prstGeom>
          <a:solidFill>
            <a:srgbClr val="FF00F7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72873" tIns="236436" rIns="472873" bIns="23643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729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491" name="Arrow: Right 490">
            <a:extLst>
              <a:ext uri="{FF2B5EF4-FFF2-40B4-BE49-F238E27FC236}">
                <a16:creationId xmlns:a16="http://schemas.microsoft.com/office/drawing/2014/main" id="{F673EFE8-3548-4981-7516-2318AE508193}"/>
              </a:ext>
            </a:extLst>
          </p:cNvPr>
          <p:cNvSpPr/>
          <p:nvPr/>
        </p:nvSpPr>
        <p:spPr bwMode="auto">
          <a:xfrm>
            <a:off x="25470743" y="22222620"/>
            <a:ext cx="404405" cy="466215"/>
          </a:xfrm>
          <a:prstGeom prst="rightArrow">
            <a:avLst/>
          </a:prstGeom>
          <a:solidFill>
            <a:srgbClr val="FF00F7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72873" tIns="236436" rIns="472873" bIns="23643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729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8153117-2BB4-930D-6B67-D9AB7C24BDAF}"/>
              </a:ext>
            </a:extLst>
          </p:cNvPr>
          <p:cNvSpPr/>
          <p:nvPr/>
        </p:nvSpPr>
        <p:spPr bwMode="auto">
          <a:xfrm>
            <a:off x="16806256" y="11533515"/>
            <a:ext cx="1526335" cy="92333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(5x64x64) dimensional input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cs typeface="Aria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CCED66-ABDA-BE25-97A0-CC088A78BA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885079" y="12864358"/>
            <a:ext cx="4263871" cy="3908310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A4BDDBAD-EBB8-73F0-CDC8-1FDDE817AE1E}"/>
              </a:ext>
            </a:extLst>
          </p:cNvPr>
          <p:cNvSpPr/>
          <p:nvPr/>
        </p:nvSpPr>
        <p:spPr bwMode="auto">
          <a:xfrm>
            <a:off x="8405420" y="12394498"/>
            <a:ext cx="4969159" cy="2923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4729163"/>
            <a:r>
              <a:rPr lang="en-US" sz="2400" b="1" dirty="0">
                <a:solidFill>
                  <a:schemeClr val="tx1"/>
                </a:solidFill>
                <a:latin typeface="Arial"/>
                <a:ea typeface="Open Sans"/>
                <a:cs typeface="Arial"/>
              </a:rPr>
              <a:t>Tumor Microenvironment</a:t>
            </a:r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2" name="Picture 21" descr="A close-up of a colorful background&#10;&#10;AI-generated content may be incorrect.">
            <a:extLst>
              <a:ext uri="{FF2B5EF4-FFF2-40B4-BE49-F238E27FC236}">
                <a16:creationId xmlns:a16="http://schemas.microsoft.com/office/drawing/2014/main" id="{0EAFE631-43D3-57AB-482E-44CC4C469757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4781542" y="11900320"/>
            <a:ext cx="1578277" cy="1578275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FD92592E-1925-4E2F-2CC5-0AB62112192E}"/>
              </a:ext>
            </a:extLst>
          </p:cNvPr>
          <p:cNvSpPr/>
          <p:nvPr/>
        </p:nvSpPr>
        <p:spPr bwMode="auto">
          <a:xfrm>
            <a:off x="23453270" y="27708743"/>
            <a:ext cx="8267156" cy="31971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7160" tIns="236436" rIns="0" bIns="236436" numCol="1" rtlCol="0" anchor="ctr" anchorCtr="0" compatLnSpc="1">
            <a:prstTxWarp prst="textNoShape">
              <a:avLst/>
            </a:prstTxWarp>
          </a:bodyPr>
          <a:lstStyle/>
          <a:p>
            <a:pPr marL="514350" indent="-514350" defTabSz="4729163">
              <a:buAutoNum type="alphaUcPeriod"/>
            </a:pPr>
            <a:r>
              <a:rPr lang="en-US" sz="3200" b="1" dirty="0">
                <a:solidFill>
                  <a:schemeClr val="tx1"/>
                </a:solidFill>
                <a:latin typeface="Arial"/>
                <a:cs typeface="Arial"/>
              </a:rPr>
              <a:t>Interpolation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: smooth transitions = meaningful features learned</a:t>
            </a:r>
            <a:endParaRPr lang="en-US" sz="32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514350" indent="-514350" defTabSz="4729163">
              <a:buAutoNum type="alphaUcPeriod"/>
            </a:pPr>
            <a:r>
              <a:rPr lang="en-US" sz="3200" b="1" dirty="0">
                <a:solidFill>
                  <a:schemeClr val="tx1"/>
                </a:solidFill>
                <a:latin typeface="Arial"/>
                <a:cs typeface="Arial"/>
              </a:rPr>
              <a:t>Trajectories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link cellular behavior to microenvironment cues (i.e. host tissue contact -&gt; ERK signaling)</a:t>
            </a:r>
            <a:endParaRPr lang="en-US" sz="32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514350" indent="-514350" defTabSz="4729163">
              <a:buAutoNum type="alphaUcPeriod"/>
            </a:pPr>
            <a:r>
              <a:rPr lang="en-US" sz="3200" b="1" dirty="0">
                <a:solidFill>
                  <a:schemeClr val="tx1"/>
                </a:solidFill>
                <a:latin typeface="Arial"/>
                <a:cs typeface="Arial"/>
              </a:rPr>
              <a:t>Latent space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maps ERK activity to microenvironmental cues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A18D8A9-2933-CE47-419E-0B0420B438E8}"/>
              </a:ext>
            </a:extLst>
          </p:cNvPr>
          <p:cNvSpPr/>
          <p:nvPr/>
        </p:nvSpPr>
        <p:spPr bwMode="auto">
          <a:xfrm>
            <a:off x="21640119" y="19141904"/>
            <a:ext cx="885694" cy="83980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4729163"/>
            <a:r>
              <a:rPr lang="en-US" sz="4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endParaRPr lang="en-US" sz="4800">
              <a:solidFill>
                <a:schemeClr val="tx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D3FC80-357C-6BD0-838B-F62B9A96BB4F}"/>
              </a:ext>
            </a:extLst>
          </p:cNvPr>
          <p:cNvSpPr/>
          <p:nvPr/>
        </p:nvSpPr>
        <p:spPr bwMode="auto">
          <a:xfrm>
            <a:off x="29703626" y="20346389"/>
            <a:ext cx="885694" cy="83980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4729163"/>
            <a:r>
              <a:rPr lang="en-US" sz="4800" dirty="0">
                <a:solidFill>
                  <a:schemeClr val="tx1"/>
                </a:solidFill>
                <a:latin typeface="Arial"/>
                <a:cs typeface="Arial"/>
              </a:rPr>
              <a:t>B</a:t>
            </a:r>
            <a:endParaRPr lang="en-US" sz="4800" dirty="0">
              <a:solidFill>
                <a:schemeClr val="tx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D2393A4-4237-4688-787F-142378E70EBA}"/>
              </a:ext>
            </a:extLst>
          </p:cNvPr>
          <p:cNvSpPr/>
          <p:nvPr/>
        </p:nvSpPr>
        <p:spPr bwMode="auto">
          <a:xfrm>
            <a:off x="21430301" y="25879049"/>
            <a:ext cx="885694" cy="83980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4729163"/>
            <a:r>
              <a:rPr lang="en-US" sz="4800" dirty="0">
                <a:solidFill>
                  <a:schemeClr val="tx1"/>
                </a:solidFill>
                <a:latin typeface="Arial"/>
                <a:ea typeface="Calibri"/>
                <a:cs typeface="Arial"/>
              </a:rPr>
              <a:t>C</a:t>
            </a:r>
          </a:p>
        </p:txBody>
      </p:sp>
      <p:pic>
        <p:nvPicPr>
          <p:cNvPr id="21" name="Picture 20" descr="A grid with a red circle in the center&#10;&#10;AI-generated content may be incorrect.">
            <a:extLst>
              <a:ext uri="{FF2B5EF4-FFF2-40B4-BE49-F238E27FC236}">
                <a16:creationId xmlns:a16="http://schemas.microsoft.com/office/drawing/2014/main" id="{E29B0D96-6EF3-EE42-4BB0-4ACF067E127C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2581709" y="12696197"/>
            <a:ext cx="4300447" cy="35061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9" name="Arrow: Right 98">
            <a:extLst>
              <a:ext uri="{FF2B5EF4-FFF2-40B4-BE49-F238E27FC236}">
                <a16:creationId xmlns:a16="http://schemas.microsoft.com/office/drawing/2014/main" id="{5506FFBE-83DF-76F5-9A22-517E71C4E9D6}"/>
              </a:ext>
            </a:extLst>
          </p:cNvPr>
          <p:cNvSpPr/>
          <p:nvPr/>
        </p:nvSpPr>
        <p:spPr bwMode="auto">
          <a:xfrm rot="120000">
            <a:off x="21895386" y="14322464"/>
            <a:ext cx="2703692" cy="208587"/>
          </a:xfrm>
          <a:prstGeom prst="rightArrow">
            <a:avLst/>
          </a:prstGeom>
          <a:solidFill>
            <a:srgbClr val="30F086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72873" tIns="236436" rIns="472873" bIns="23643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729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00" name="Arrow: Right 99">
            <a:extLst>
              <a:ext uri="{FF2B5EF4-FFF2-40B4-BE49-F238E27FC236}">
                <a16:creationId xmlns:a16="http://schemas.microsoft.com/office/drawing/2014/main" id="{CF5B27D0-3764-FD2A-5F6F-BD9F0569C77F}"/>
              </a:ext>
            </a:extLst>
          </p:cNvPr>
          <p:cNvSpPr/>
          <p:nvPr/>
        </p:nvSpPr>
        <p:spPr bwMode="auto">
          <a:xfrm>
            <a:off x="25049297" y="14340636"/>
            <a:ext cx="2393142" cy="243096"/>
          </a:xfrm>
          <a:prstGeom prst="rightArrow">
            <a:avLst/>
          </a:prstGeom>
          <a:solidFill>
            <a:srgbClr val="FC5DDD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72873" tIns="236436" rIns="472873" bIns="23643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729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12BF7D-7A80-F195-0179-F890CDC55DC1}"/>
              </a:ext>
            </a:extLst>
          </p:cNvPr>
          <p:cNvSpPr/>
          <p:nvPr/>
        </p:nvSpPr>
        <p:spPr bwMode="auto">
          <a:xfrm>
            <a:off x="16574649" y="9456020"/>
            <a:ext cx="2014072" cy="92333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4729163"/>
            <a:r>
              <a:rPr lang="en-US" sz="2000" b="1" u="sng" dirty="0">
                <a:solidFill>
                  <a:schemeClr val="tx1"/>
                </a:solidFill>
                <a:latin typeface="Arial"/>
                <a:cs typeface="Arial"/>
              </a:rPr>
              <a:t>Channel inputs</a:t>
            </a: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: </a:t>
            </a:r>
            <a:endParaRPr lang="en-US" sz="2000" b="1">
              <a:solidFill>
                <a:schemeClr val="tx1"/>
              </a:solidFill>
              <a:cs typeface="Arial"/>
            </a:endParaRPr>
          </a:p>
          <a:p>
            <a:pPr algn="ctr" defTabSz="4729163"/>
            <a:r>
              <a:rPr lang="en-US" sz="2000" b="1" u="sng" dirty="0">
                <a:solidFill>
                  <a:schemeClr val="tx1"/>
                </a:solidFill>
                <a:latin typeface="Arial"/>
                <a:cs typeface="Arial"/>
              </a:rPr>
              <a:t>Single cell images &amp; masks</a:t>
            </a:r>
            <a:endParaRPr lang="en-US" sz="2000" b="1" u="sng" dirty="0">
              <a:solidFill>
                <a:schemeClr val="tx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966204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AD000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472873" tIns="236436" rIns="472873" bIns="236436" numCol="1" anchor="ctr" anchorCtr="0" compatLnSpc="1">
        <a:prstTxWarp prst="textNoShape">
          <a:avLst/>
        </a:prstTxWarp>
      </a:bodyPr>
      <a:lstStyle>
        <a:defPPr marL="0" marR="0" indent="0" algn="l" defTabSz="4729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AD000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472873" tIns="236436" rIns="472873" bIns="236436" numCol="1" anchor="ctr" anchorCtr="0" compatLnSpc="1">
        <a:prstTxWarp prst="textNoShape">
          <a:avLst/>
        </a:prstTxWarp>
      </a:bodyPr>
      <a:lstStyle>
        <a:defPPr marL="0" marR="0" indent="0" algn="l" defTabSz="4729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Default Design</vt:lpstr>
      <vt:lpstr>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a Genetic Tag Construct for Protein Visualization  in Tissue-Engineered 3D Tumor Models Katherine T. Huynh1,2, Mary K. Lowrey1,2, Mithila Handu1, Sean Speese1, Carolyn E. Schutt1,2 huynka@ohsu.edu, Ibsenc@ohsu.edu 1Cancer Early Detection Advanced Research Center, 2Biomedical Engineering Department, Oregon Health and Science University Portland, OR</dc:title>
  <dc:creator>Katherine Huynh</dc:creator>
  <cp:revision>2471</cp:revision>
  <dcterms:created xsi:type="dcterms:W3CDTF">2020-09-16T23:59:22Z</dcterms:created>
  <dcterms:modified xsi:type="dcterms:W3CDTF">2025-09-18T02:25:40Z</dcterms:modified>
</cp:coreProperties>
</file>