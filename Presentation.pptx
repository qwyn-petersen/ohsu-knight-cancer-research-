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65" r:id="rId3"/>
    <p:sldId id="257" r:id="rId4"/>
    <p:sldId id="260" r:id="rId5"/>
    <p:sldId id="259" r:id="rId6"/>
    <p:sldId id="280" r:id="rId7"/>
    <p:sldId id="261" r:id="rId8"/>
    <p:sldId id="281" r:id="rId9"/>
    <p:sldId id="283" r:id="rId10"/>
    <p:sldId id="282" r:id="rId11"/>
    <p:sldId id="279" r:id="rId12"/>
    <p:sldId id="285" r:id="rId13"/>
    <p:sldId id="263" r:id="rId14"/>
    <p:sldId id="271" r:id="rId15"/>
    <p:sldId id="272" r:id="rId16"/>
    <p:sldId id="274" r:id="rId17"/>
    <p:sldId id="264" r:id="rId18"/>
    <p:sldId id="292" r:id="rId19"/>
    <p:sldId id="286" r:id="rId20"/>
    <p:sldId id="291" r:id="rId21"/>
    <p:sldId id="290" r:id="rId22"/>
    <p:sldId id="287" r:id="rId23"/>
    <p:sldId id="293" r:id="rId24"/>
    <p:sldId id="288" r:id="rId25"/>
    <p:sldId id="289" r:id="rId26"/>
    <p:sldId id="294" r:id="rId27"/>
    <p:sldId id="267" r:id="rId28"/>
    <p:sldId id="275" r:id="rId29"/>
    <p:sldId id="278" r:id="rId30"/>
    <p:sldId id="266" r:id="rId31"/>
    <p:sldId id="268" r:id="rId32"/>
    <p:sldId id="269" r:id="rId33"/>
    <p:sldId id="27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E9F85B-B7DD-E458-F9B0-BB4F785745B2}" v="1" dt="2025-08-14T20:41:15.764"/>
    <p1510:client id="{FADF142E-32D2-854D-C9F7-FDC65DB4F132}" v="6" dt="2025-08-15T18:01:49.6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9/17/2025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347543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9/17/2025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65597914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9/17/2025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40058643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9/17/2025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64096049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9/17/2025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699863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9/17/2025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50763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9/17/2025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78242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9/17/2025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89868132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9/17/2025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28850759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9/17/2025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33262383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9/17/2025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04655751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9/17/2025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8932061"/>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Abstract smoke background">
            <a:extLst>
              <a:ext uri="{FF2B5EF4-FFF2-40B4-BE49-F238E27FC236}">
                <a16:creationId xmlns:a16="http://schemas.microsoft.com/office/drawing/2014/main" id="{6BFEB066-E020-9C49-EB21-B3A421D20318}"/>
              </a:ext>
            </a:extLst>
          </p:cNvPr>
          <p:cNvPicPr>
            <a:picLocks noChangeAspect="1"/>
          </p:cNvPicPr>
          <p:nvPr/>
        </p:nvPicPr>
        <p:blipFill>
          <a:blip r:embed="rId2"/>
          <a:srcRect t="18914" r="8862" b="4057"/>
          <a:stretch>
            <a:fillRect/>
          </a:stretch>
        </p:blipFill>
        <p:spPr>
          <a:xfrm>
            <a:off x="20" y="10"/>
            <a:ext cx="12191980" cy="6857990"/>
          </a:xfrm>
          <a:prstGeom prst="rect">
            <a:avLst/>
          </a:prstGeom>
        </p:spPr>
      </p:pic>
      <p:sp>
        <p:nvSpPr>
          <p:cNvPr id="2" name="Title 1"/>
          <p:cNvSpPr>
            <a:spLocks noGrp="1"/>
          </p:cNvSpPr>
          <p:nvPr>
            <p:ph type="ctrTitle"/>
          </p:nvPr>
        </p:nvSpPr>
        <p:spPr>
          <a:xfrm>
            <a:off x="320039" y="3838741"/>
            <a:ext cx="9659633" cy="2852959"/>
          </a:xfrm>
          <a:ln>
            <a:noFill/>
          </a:ln>
        </p:spPr>
        <p:txBody>
          <a:bodyPr anchor="ctr">
            <a:normAutofit/>
          </a:bodyPr>
          <a:lstStyle/>
          <a:p>
            <a:pPr algn="ctr">
              <a:spcAft>
                <a:spcPct val="0"/>
              </a:spcAft>
            </a:pPr>
            <a:endParaRPr lang="en-US" sz="3200">
              <a:solidFill>
                <a:schemeClr val="bg1"/>
              </a:solidFill>
              <a:latin typeface="Arial"/>
              <a:cs typeface="Arial"/>
            </a:endParaRPr>
          </a:p>
          <a:p>
            <a:endParaRPr lang="en-US" sz="4400"/>
          </a:p>
        </p:txBody>
      </p:sp>
      <p:sp>
        <p:nvSpPr>
          <p:cNvPr id="5" name="TextBox 4">
            <a:extLst>
              <a:ext uri="{FF2B5EF4-FFF2-40B4-BE49-F238E27FC236}">
                <a16:creationId xmlns:a16="http://schemas.microsoft.com/office/drawing/2014/main" id="{4634EE39-6FE3-78CA-98D0-21E572208142}"/>
              </a:ext>
            </a:extLst>
          </p:cNvPr>
          <p:cNvSpPr txBox="1"/>
          <p:nvPr/>
        </p:nvSpPr>
        <p:spPr>
          <a:xfrm>
            <a:off x="232399" y="1856090"/>
            <a:ext cx="1028424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t>Learning the Language of Invasion: </a:t>
            </a:r>
          </a:p>
          <a:p>
            <a:r>
              <a:rPr lang="en-US" sz="3200"/>
              <a:t>      </a:t>
            </a:r>
          </a:p>
        </p:txBody>
      </p:sp>
      <p:sp>
        <p:nvSpPr>
          <p:cNvPr id="7" name="TextBox 6">
            <a:extLst>
              <a:ext uri="{FF2B5EF4-FFF2-40B4-BE49-F238E27FC236}">
                <a16:creationId xmlns:a16="http://schemas.microsoft.com/office/drawing/2014/main" id="{CCCB2232-7043-3677-54B7-B195DCF18C61}"/>
              </a:ext>
            </a:extLst>
          </p:cNvPr>
          <p:cNvSpPr txBox="1"/>
          <p:nvPr/>
        </p:nvSpPr>
        <p:spPr>
          <a:xfrm>
            <a:off x="722834" y="2541079"/>
            <a:ext cx="1028424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A Deep Learning Framework for Cell-Cell Interaction</a:t>
            </a:r>
          </a:p>
          <a:p>
            <a:r>
              <a:rPr lang="en-US" sz="3200"/>
              <a:t> and ERK Signaling  </a:t>
            </a:r>
          </a:p>
        </p:txBody>
      </p:sp>
      <p:sp>
        <p:nvSpPr>
          <p:cNvPr id="9" name="TextBox 8">
            <a:extLst>
              <a:ext uri="{FF2B5EF4-FFF2-40B4-BE49-F238E27FC236}">
                <a16:creationId xmlns:a16="http://schemas.microsoft.com/office/drawing/2014/main" id="{484EFAAA-ED1A-3024-11C4-A21F9D2760AD}"/>
              </a:ext>
            </a:extLst>
          </p:cNvPr>
          <p:cNvSpPr txBox="1"/>
          <p:nvPr/>
        </p:nvSpPr>
        <p:spPr>
          <a:xfrm>
            <a:off x="232400" y="5264825"/>
            <a:ext cx="1028424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chemeClr val="accent6">
                    <a:lumMod val="76000"/>
                  </a:schemeClr>
                </a:solidFill>
              </a:rPr>
              <a:t>Qwynestria</a:t>
            </a:r>
            <a:r>
              <a:rPr lang="en-US">
                <a:solidFill>
                  <a:schemeClr val="accent6">
                    <a:lumMod val="76000"/>
                  </a:schemeClr>
                </a:solidFill>
              </a:rPr>
              <a:t> Petersen, Vaibhav Murthy, Jeremy Copperman, Alexander Davies</a:t>
            </a:r>
          </a:p>
          <a:p>
            <a:r>
              <a:rPr lang="en-US" sz="3200"/>
              <a:t>      </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307A7-3797-DA8A-9C15-3A1AB5B0E3DA}"/>
              </a:ext>
            </a:extLst>
          </p:cNvPr>
          <p:cNvSpPr>
            <a:spLocks noGrp="1"/>
          </p:cNvSpPr>
          <p:nvPr>
            <p:ph type="title"/>
          </p:nvPr>
        </p:nvSpPr>
        <p:spPr/>
        <p:txBody>
          <a:bodyPr>
            <a:normAutofit/>
          </a:bodyPr>
          <a:lstStyle/>
          <a:p>
            <a:pPr algn="ctr"/>
            <a:r>
              <a:rPr lang="en-US"/>
              <a:t>Questions</a:t>
            </a:r>
          </a:p>
        </p:txBody>
      </p:sp>
      <p:sp>
        <p:nvSpPr>
          <p:cNvPr id="3" name="Content Placeholder 2">
            <a:extLst>
              <a:ext uri="{FF2B5EF4-FFF2-40B4-BE49-F238E27FC236}">
                <a16:creationId xmlns:a16="http://schemas.microsoft.com/office/drawing/2014/main" id="{0DA18724-D52F-6ACE-8870-3FA8F9E19FF9}"/>
              </a:ext>
            </a:extLst>
          </p:cNvPr>
          <p:cNvSpPr>
            <a:spLocks noGrp="1"/>
          </p:cNvSpPr>
          <p:nvPr>
            <p:ph idx="1"/>
          </p:nvPr>
        </p:nvSpPr>
        <p:spPr/>
        <p:txBody>
          <a:bodyPr vert="horz" lIns="91440" tIns="45720" rIns="91440" bIns="45720" rtlCol="0" anchor="t">
            <a:normAutofit/>
          </a:bodyPr>
          <a:lstStyle/>
          <a:p>
            <a:pPr marL="457200" indent="-457200">
              <a:lnSpc>
                <a:spcPct val="100000"/>
              </a:lnSpc>
              <a:spcBef>
                <a:spcPct val="0"/>
              </a:spcBef>
              <a:spcAft>
                <a:spcPct val="0"/>
              </a:spcAft>
            </a:pPr>
            <a:r>
              <a:rPr lang="en-US" sz="2800">
                <a:latin typeface="Calisto MT"/>
                <a:cs typeface="Arial"/>
              </a:rPr>
              <a:t>What causes breast cancer cells to </a:t>
            </a:r>
            <a:r>
              <a:rPr lang="en-US" sz="2800" b="1">
                <a:latin typeface="Calisto MT"/>
                <a:cs typeface="Arial"/>
              </a:rPr>
              <a:t>invade</a:t>
            </a:r>
            <a:r>
              <a:rPr lang="en-US" sz="2800">
                <a:latin typeface="Calisto MT"/>
                <a:cs typeface="Arial"/>
              </a:rPr>
              <a:t> beyond the mammary gland?</a:t>
            </a:r>
            <a:endParaRPr lang="en-US" sz="2800">
              <a:latin typeface="Calisto MT"/>
            </a:endParaRPr>
          </a:p>
          <a:p>
            <a:pPr>
              <a:lnSpc>
                <a:spcPct val="100000"/>
              </a:lnSpc>
              <a:spcBef>
                <a:spcPct val="0"/>
              </a:spcBef>
              <a:spcAft>
                <a:spcPct val="0"/>
              </a:spcAft>
            </a:pPr>
            <a:endParaRPr lang="en-US" sz="2800">
              <a:latin typeface="Calisto MT"/>
              <a:cs typeface="Arial"/>
            </a:endParaRPr>
          </a:p>
          <a:p>
            <a:pPr marL="514350" indent="-514350">
              <a:lnSpc>
                <a:spcPct val="100000"/>
              </a:lnSpc>
              <a:spcBef>
                <a:spcPct val="0"/>
              </a:spcBef>
              <a:spcAft>
                <a:spcPct val="0"/>
              </a:spcAft>
            </a:pPr>
            <a:r>
              <a:rPr lang="en-US" sz="2800">
                <a:latin typeface="Calisto MT"/>
                <a:cs typeface="Arial"/>
              </a:rPr>
              <a:t>Which patterns in </a:t>
            </a:r>
            <a:r>
              <a:rPr lang="en-US" sz="2800" b="1">
                <a:latin typeface="Calisto MT"/>
                <a:cs typeface="Arial"/>
              </a:rPr>
              <a:t>4D imaging</a:t>
            </a:r>
            <a:r>
              <a:rPr lang="en-US" sz="2800">
                <a:latin typeface="Calisto MT"/>
                <a:cs typeface="Arial"/>
              </a:rPr>
              <a:t> link microenvironment interactions to ERK signaling?</a:t>
            </a:r>
          </a:p>
          <a:p>
            <a:pPr marL="0" indent="0">
              <a:buNone/>
            </a:pPr>
            <a:endParaRPr lang="en-US" sz="2400"/>
          </a:p>
          <a:p>
            <a:pPr marL="0" indent="0">
              <a:buNone/>
            </a:pPr>
            <a:endParaRPr lang="en-US"/>
          </a:p>
        </p:txBody>
      </p:sp>
      <p:sp>
        <p:nvSpPr>
          <p:cNvPr id="4" name="Date Placeholder 3">
            <a:extLst>
              <a:ext uri="{FF2B5EF4-FFF2-40B4-BE49-F238E27FC236}">
                <a16:creationId xmlns:a16="http://schemas.microsoft.com/office/drawing/2014/main" id="{B0F368D1-5495-C7B7-44E0-AC157186500C}"/>
              </a:ext>
            </a:extLst>
          </p:cNvPr>
          <p:cNvSpPr>
            <a:spLocks noGrp="1"/>
          </p:cNvSpPr>
          <p:nvPr>
            <p:ph type="dt" sz="half" idx="10"/>
          </p:nvPr>
        </p:nvSpPr>
        <p:spPr/>
        <p:txBody>
          <a:bodyPr/>
          <a:lstStyle/>
          <a:p>
            <a:fld id="{55847427-FF5C-4C6E-92A0-40FDE9381009}" type="datetime1">
              <a:t>9/17/2025</a:t>
            </a:fld>
            <a:endParaRPr lang="en-US"/>
          </a:p>
        </p:txBody>
      </p:sp>
      <p:sp>
        <p:nvSpPr>
          <p:cNvPr id="5" name="Footer Placeholder 4">
            <a:extLst>
              <a:ext uri="{FF2B5EF4-FFF2-40B4-BE49-F238E27FC236}">
                <a16:creationId xmlns:a16="http://schemas.microsoft.com/office/drawing/2014/main" id="{E36CC1D7-8D72-D144-10ED-96A8BBE7D37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CB07E10-982A-178D-2898-55EAA31474C7}"/>
              </a:ext>
            </a:extLst>
          </p:cNvPr>
          <p:cNvSpPr>
            <a:spLocks noGrp="1"/>
          </p:cNvSpPr>
          <p:nvPr>
            <p:ph type="sldNum" sz="quarter" idx="12"/>
          </p:nvPr>
        </p:nvSpPr>
        <p:spPr/>
        <p:txBody>
          <a:bodyPr/>
          <a:lstStyle/>
          <a:p>
            <a:fld id="{E30AF5A0-43BB-4336-8627-9123B9144D80}" type="slidenum">
              <a:rPr lang="en-US" dirty="0"/>
              <a:t>2</a:t>
            </a:fld>
            <a:endParaRPr lang="en-US"/>
          </a:p>
        </p:txBody>
      </p:sp>
    </p:spTree>
    <p:extLst>
      <p:ext uri="{BB962C8B-B14F-4D97-AF65-F5344CB8AC3E}">
        <p14:creationId xmlns:p14="http://schemas.microsoft.com/office/powerpoint/2010/main" val="1854306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3BE0-EB36-37C2-56D8-65490EF1D2E2}"/>
              </a:ext>
            </a:extLst>
          </p:cNvPr>
          <p:cNvSpPr>
            <a:spLocks noGrp="1"/>
          </p:cNvSpPr>
          <p:nvPr>
            <p:ph type="title"/>
          </p:nvPr>
        </p:nvSpPr>
        <p:spPr/>
        <p:txBody>
          <a:bodyPr/>
          <a:lstStyle/>
          <a:p>
            <a:pPr algn="ctr"/>
            <a:r>
              <a:rPr lang="en-US"/>
              <a:t>Challenges</a:t>
            </a:r>
          </a:p>
        </p:txBody>
      </p:sp>
      <p:sp>
        <p:nvSpPr>
          <p:cNvPr id="3" name="Content Placeholder 2">
            <a:extLst>
              <a:ext uri="{FF2B5EF4-FFF2-40B4-BE49-F238E27FC236}">
                <a16:creationId xmlns:a16="http://schemas.microsoft.com/office/drawing/2014/main" id="{009361ED-F98D-8E85-734D-FED78E300BF4}"/>
              </a:ext>
            </a:extLst>
          </p:cNvPr>
          <p:cNvSpPr>
            <a:spLocks noGrp="1"/>
          </p:cNvSpPr>
          <p:nvPr>
            <p:ph idx="1"/>
          </p:nvPr>
        </p:nvSpPr>
        <p:spPr/>
        <p:txBody>
          <a:bodyPr vert="horz" lIns="91440" tIns="45720" rIns="91440" bIns="45720" rtlCol="0" anchor="t">
            <a:normAutofit/>
          </a:bodyPr>
          <a:lstStyle/>
          <a:p>
            <a:pPr marL="0" indent="0">
              <a:buNone/>
            </a:pPr>
            <a:r>
              <a:rPr lang="en-US" sz="2800"/>
              <a:t>Understanding cancer in 4D is hard. Why?</a:t>
            </a:r>
          </a:p>
          <a:p>
            <a:pPr marL="1257300" lvl="2" indent="-342900"/>
            <a:r>
              <a:rPr lang="en-US" sz="2800"/>
              <a:t>It's </a:t>
            </a:r>
            <a:r>
              <a:rPr lang="en-US" sz="2800" b="1"/>
              <a:t>computationally expensive</a:t>
            </a:r>
            <a:r>
              <a:rPr lang="en-US" sz="2800"/>
              <a:t>.</a:t>
            </a:r>
          </a:p>
          <a:p>
            <a:pPr marL="1257300" lvl="2" indent="-342900"/>
            <a:r>
              <a:rPr lang="en-US" sz="2800"/>
              <a:t>It's </a:t>
            </a:r>
            <a:r>
              <a:rPr lang="en-US" sz="2800" b="1"/>
              <a:t>complex</a:t>
            </a:r>
            <a:r>
              <a:rPr lang="en-US" sz="2800"/>
              <a:t>.</a:t>
            </a:r>
          </a:p>
          <a:p>
            <a:pPr marL="1257300" lvl="2" indent="-342900"/>
            <a:r>
              <a:rPr lang="en-US" sz="2800"/>
              <a:t>It's </a:t>
            </a:r>
            <a:r>
              <a:rPr lang="en-US" sz="2800" b="1"/>
              <a:t>time consuming</a:t>
            </a:r>
            <a:r>
              <a:rPr lang="en-US" sz="2800"/>
              <a:t>. </a:t>
            </a:r>
          </a:p>
          <a:p>
            <a:pPr marL="1257300" lvl="2" indent="-342900"/>
            <a:endParaRPr lang="en-US" sz="2000"/>
          </a:p>
        </p:txBody>
      </p:sp>
    </p:spTree>
    <p:extLst>
      <p:ext uri="{BB962C8B-B14F-4D97-AF65-F5344CB8AC3E}">
        <p14:creationId xmlns:p14="http://schemas.microsoft.com/office/powerpoint/2010/main" val="355142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AEF90-54C3-3741-7596-50DDAB98A1BD}"/>
              </a:ext>
            </a:extLst>
          </p:cNvPr>
          <p:cNvSpPr>
            <a:spLocks noGrp="1"/>
          </p:cNvSpPr>
          <p:nvPr>
            <p:ph type="title"/>
          </p:nvPr>
        </p:nvSpPr>
        <p:spPr/>
        <p:txBody>
          <a:bodyPr/>
          <a:lstStyle/>
          <a:p>
            <a:pPr algn="ctr"/>
            <a:r>
              <a:rPr lang="en-US"/>
              <a:t>Challenges</a:t>
            </a:r>
          </a:p>
          <a:p>
            <a:endParaRPr lang="en-US"/>
          </a:p>
        </p:txBody>
      </p:sp>
      <p:sp>
        <p:nvSpPr>
          <p:cNvPr id="3" name="Content Placeholder 2">
            <a:extLst>
              <a:ext uri="{FF2B5EF4-FFF2-40B4-BE49-F238E27FC236}">
                <a16:creationId xmlns:a16="http://schemas.microsoft.com/office/drawing/2014/main" id="{8299D17D-42F1-68E5-5D19-350AD91D5F1F}"/>
              </a:ext>
            </a:extLst>
          </p:cNvPr>
          <p:cNvSpPr>
            <a:spLocks noGrp="1"/>
          </p:cNvSpPr>
          <p:nvPr>
            <p:ph idx="1"/>
          </p:nvPr>
        </p:nvSpPr>
        <p:spPr>
          <a:xfrm>
            <a:off x="709101" y="1708926"/>
            <a:ext cx="10682799" cy="4220288"/>
          </a:xfrm>
        </p:spPr>
        <p:txBody>
          <a:bodyPr vert="horz" lIns="91440" tIns="45720" rIns="91440" bIns="45720" rtlCol="0" anchor="t">
            <a:noAutofit/>
          </a:bodyPr>
          <a:lstStyle/>
          <a:p>
            <a:pPr marL="457200" indent="-457200">
              <a:buAutoNum type="arabicPeriod"/>
            </a:pPr>
            <a:r>
              <a:rPr lang="en-US" sz="2800"/>
              <a:t>It's computationally expensive.</a:t>
            </a:r>
          </a:p>
          <a:p>
            <a:pPr marL="914400" lvl="1" indent="-342900">
              <a:buAutoNum type="alphaLcPeriod"/>
            </a:pPr>
            <a:r>
              <a:rPr lang="en-US" sz="2200"/>
              <a:t>Requires </a:t>
            </a:r>
            <a:r>
              <a:rPr lang="en-US" sz="2200" i="1"/>
              <a:t>significant</a:t>
            </a:r>
            <a:r>
              <a:rPr lang="en-US" sz="2200"/>
              <a:t> amounts memory, storage and processing power. </a:t>
            </a:r>
          </a:p>
          <a:p>
            <a:pPr marL="457200" indent="-457200">
              <a:buAutoNum type="arabicPeriod"/>
            </a:pPr>
            <a:r>
              <a:rPr lang="en-US" sz="2800"/>
              <a:t>It's complex.</a:t>
            </a:r>
          </a:p>
          <a:p>
            <a:pPr marL="914400" lvl="1" indent="-342900">
              <a:buAutoNum type="alphaLcPeriod"/>
            </a:pPr>
            <a:r>
              <a:rPr lang="en-US" sz="2200">
                <a:ea typeface="+mn-lt"/>
                <a:cs typeface="+mn-lt"/>
              </a:rPr>
              <a:t>Involves capturing multi-cell </a:t>
            </a:r>
            <a:r>
              <a:rPr lang="en-US" sz="2200" b="1">
                <a:ea typeface="+mn-lt"/>
                <a:cs typeface="+mn-lt"/>
              </a:rPr>
              <a:t>microenvironments</a:t>
            </a:r>
            <a:r>
              <a:rPr lang="en-US" sz="2200">
                <a:ea typeface="+mn-lt"/>
                <a:cs typeface="+mn-lt"/>
              </a:rPr>
              <a:t> with spatial relationships, structures, signaling states, and time dynamics.</a:t>
            </a:r>
            <a:endParaRPr lang="en-US" sz="2200" b="1"/>
          </a:p>
          <a:p>
            <a:pPr marL="457200" indent="-457200">
              <a:buAutoNum type="arabicPeriod"/>
            </a:pPr>
            <a:r>
              <a:rPr lang="en-US" sz="2800"/>
              <a:t>It's time-consuming.</a:t>
            </a:r>
          </a:p>
          <a:p>
            <a:pPr marL="800100" lvl="1" indent="-342900">
              <a:buAutoNum type="alphaLcPeriod"/>
            </a:pPr>
            <a:r>
              <a:rPr lang="en-US" sz="2200">
                <a:ea typeface="+mn-lt"/>
                <a:cs typeface="+mn-lt"/>
              </a:rPr>
              <a:t>Inadequate model segmentation forces </a:t>
            </a:r>
            <a:r>
              <a:rPr lang="en-US" sz="2200" b="1">
                <a:ea typeface="+mn-lt"/>
                <a:cs typeface="+mn-lt"/>
              </a:rPr>
              <a:t>manual annotation</a:t>
            </a:r>
            <a:r>
              <a:rPr lang="en-US" sz="2200">
                <a:ea typeface="+mn-lt"/>
                <a:cs typeface="+mn-lt"/>
              </a:rPr>
              <a:t>, which is slow, subjective, and inconsistent.</a:t>
            </a:r>
            <a:endParaRPr lang="en-US" sz="2200"/>
          </a:p>
        </p:txBody>
      </p:sp>
      <p:sp>
        <p:nvSpPr>
          <p:cNvPr id="4" name="Date Placeholder 3">
            <a:extLst>
              <a:ext uri="{FF2B5EF4-FFF2-40B4-BE49-F238E27FC236}">
                <a16:creationId xmlns:a16="http://schemas.microsoft.com/office/drawing/2014/main" id="{822547A8-9A72-2FE4-0265-5F755566B0B1}"/>
              </a:ext>
            </a:extLst>
          </p:cNvPr>
          <p:cNvSpPr>
            <a:spLocks noGrp="1"/>
          </p:cNvSpPr>
          <p:nvPr>
            <p:ph type="dt" sz="half" idx="10"/>
          </p:nvPr>
        </p:nvSpPr>
        <p:spPr/>
        <p:txBody>
          <a:bodyPr/>
          <a:lstStyle/>
          <a:p>
            <a:fld id="{52B701CA-92D1-40F6-9C65-1C60EF8B0E08}" type="datetime1">
              <a:t>9/17/2025</a:t>
            </a:fld>
            <a:endParaRPr lang="en-US"/>
          </a:p>
        </p:txBody>
      </p:sp>
      <p:sp>
        <p:nvSpPr>
          <p:cNvPr id="5" name="Footer Placeholder 4">
            <a:extLst>
              <a:ext uri="{FF2B5EF4-FFF2-40B4-BE49-F238E27FC236}">
                <a16:creationId xmlns:a16="http://schemas.microsoft.com/office/drawing/2014/main" id="{8691A720-7076-BA8D-A964-F91E9511B46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629FEB5-1562-5B48-3455-36DEBB1D2CB7}"/>
              </a:ext>
            </a:extLst>
          </p:cNvPr>
          <p:cNvSpPr>
            <a:spLocks noGrp="1"/>
          </p:cNvSpPr>
          <p:nvPr>
            <p:ph type="sldNum" sz="quarter" idx="12"/>
          </p:nvPr>
        </p:nvSpPr>
        <p:spPr/>
        <p:txBody>
          <a:bodyPr/>
          <a:lstStyle/>
          <a:p>
            <a:fld id="{E30AF5A0-43BB-4336-8627-9123B9144D80}" type="slidenum">
              <a:rPr lang="en-US" dirty="0"/>
              <a:t>4</a:t>
            </a:fld>
            <a:endParaRPr lang="en-US"/>
          </a:p>
        </p:txBody>
      </p:sp>
    </p:spTree>
    <p:extLst>
      <p:ext uri="{BB962C8B-B14F-4D97-AF65-F5344CB8AC3E}">
        <p14:creationId xmlns:p14="http://schemas.microsoft.com/office/powerpoint/2010/main" val="517514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EC71-08F5-C1F2-9547-1B5953BB77C1}"/>
              </a:ext>
            </a:extLst>
          </p:cNvPr>
          <p:cNvSpPr>
            <a:spLocks noGrp="1"/>
          </p:cNvSpPr>
          <p:nvPr>
            <p:ph type="title"/>
          </p:nvPr>
        </p:nvSpPr>
        <p:spPr/>
        <p:txBody>
          <a:bodyPr/>
          <a:lstStyle/>
          <a:p>
            <a:pPr algn="ctr"/>
            <a:r>
              <a:rPr lang="en-US"/>
              <a:t>Solution</a:t>
            </a:r>
          </a:p>
          <a:p>
            <a:endParaRPr lang="en-US"/>
          </a:p>
        </p:txBody>
      </p:sp>
      <p:sp>
        <p:nvSpPr>
          <p:cNvPr id="3" name="Content Placeholder 2">
            <a:extLst>
              <a:ext uri="{FF2B5EF4-FFF2-40B4-BE49-F238E27FC236}">
                <a16:creationId xmlns:a16="http://schemas.microsoft.com/office/drawing/2014/main" id="{FA5995F9-17D0-94E0-2CCE-4444F48B524E}"/>
              </a:ext>
            </a:extLst>
          </p:cNvPr>
          <p:cNvSpPr>
            <a:spLocks noGrp="1"/>
          </p:cNvSpPr>
          <p:nvPr>
            <p:ph idx="1"/>
          </p:nvPr>
        </p:nvSpPr>
        <p:spPr/>
        <p:txBody>
          <a:bodyPr vert="horz" lIns="91440" tIns="45720" rIns="91440" bIns="45720" rtlCol="0" anchor="t">
            <a:normAutofit/>
          </a:bodyPr>
          <a:lstStyle/>
          <a:p>
            <a:pPr marL="0" indent="0">
              <a:buNone/>
            </a:pPr>
            <a:r>
              <a:rPr lang="en-US" sz="2800"/>
              <a:t>Our pipeline </a:t>
            </a:r>
            <a:r>
              <a:rPr lang="en-US" sz="2800" b="1"/>
              <a:t>overcomes</a:t>
            </a:r>
            <a:r>
              <a:rPr lang="en-US" sz="2800"/>
              <a:t> these challenge​s..</a:t>
            </a:r>
          </a:p>
          <a:p>
            <a:pPr marL="0" indent="0">
              <a:buNone/>
            </a:pPr>
            <a:r>
              <a:rPr lang="en-US" sz="2800"/>
              <a:t>      ..and turns questions into </a:t>
            </a:r>
            <a:r>
              <a:rPr lang="en-US" sz="2800" i="1"/>
              <a:t>answers</a:t>
            </a:r>
            <a:r>
              <a:rPr lang="en-US" sz="2800"/>
              <a:t>!  </a:t>
            </a:r>
            <a:endParaRPr lang="en-US"/>
          </a:p>
          <a:p>
            <a:pPr marL="342900" indent="-342900">
              <a:buAutoNum type="arabicPeriod"/>
            </a:pPr>
            <a:endParaRPr lang="en-US"/>
          </a:p>
          <a:p>
            <a:pPr marL="0" indent="0">
              <a:buNone/>
            </a:pPr>
            <a:endParaRPr lang="en-US"/>
          </a:p>
        </p:txBody>
      </p:sp>
      <p:sp>
        <p:nvSpPr>
          <p:cNvPr id="4" name="Date Placeholder 3">
            <a:extLst>
              <a:ext uri="{FF2B5EF4-FFF2-40B4-BE49-F238E27FC236}">
                <a16:creationId xmlns:a16="http://schemas.microsoft.com/office/drawing/2014/main" id="{923C48BD-0694-B708-C6CC-BB4DEC5EE5B5}"/>
              </a:ext>
            </a:extLst>
          </p:cNvPr>
          <p:cNvSpPr>
            <a:spLocks noGrp="1"/>
          </p:cNvSpPr>
          <p:nvPr>
            <p:ph type="dt" sz="half" idx="10"/>
          </p:nvPr>
        </p:nvSpPr>
        <p:spPr/>
        <p:txBody>
          <a:bodyPr/>
          <a:lstStyle/>
          <a:p>
            <a:fld id="{74266C29-80D3-4356-9378-3A17D1D38FDA}" type="datetime1">
              <a:t>9/17/2025</a:t>
            </a:fld>
            <a:endParaRPr lang="en-US"/>
          </a:p>
        </p:txBody>
      </p:sp>
      <p:sp>
        <p:nvSpPr>
          <p:cNvPr id="5" name="Footer Placeholder 4">
            <a:extLst>
              <a:ext uri="{FF2B5EF4-FFF2-40B4-BE49-F238E27FC236}">
                <a16:creationId xmlns:a16="http://schemas.microsoft.com/office/drawing/2014/main" id="{E50C5B6F-0EE6-0299-E4FF-A1878BF6562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0DC0C12-928C-61D2-1CD0-CEB7490496F5}"/>
              </a:ext>
            </a:extLst>
          </p:cNvPr>
          <p:cNvSpPr>
            <a:spLocks noGrp="1"/>
          </p:cNvSpPr>
          <p:nvPr>
            <p:ph type="sldNum" sz="quarter" idx="12"/>
          </p:nvPr>
        </p:nvSpPr>
        <p:spPr/>
        <p:txBody>
          <a:bodyPr/>
          <a:lstStyle/>
          <a:p>
            <a:fld id="{E30AF5A0-43BB-4336-8627-9123B9144D80}" type="slidenum">
              <a:rPr lang="en-US" dirty="0"/>
              <a:t>5</a:t>
            </a:fld>
            <a:endParaRPr lang="en-US"/>
          </a:p>
        </p:txBody>
      </p:sp>
    </p:spTree>
    <p:extLst>
      <p:ext uri="{BB962C8B-B14F-4D97-AF65-F5344CB8AC3E}">
        <p14:creationId xmlns:p14="http://schemas.microsoft.com/office/powerpoint/2010/main" val="689008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16CB-952B-CCC1-9F48-5A94B58E39FD}"/>
              </a:ext>
            </a:extLst>
          </p:cNvPr>
          <p:cNvSpPr>
            <a:spLocks noGrp="1"/>
          </p:cNvSpPr>
          <p:nvPr>
            <p:ph type="title"/>
          </p:nvPr>
        </p:nvSpPr>
        <p:spPr/>
        <p:txBody>
          <a:bodyPr/>
          <a:lstStyle/>
          <a:p>
            <a:r>
              <a:rPr lang="en-US"/>
              <a:t>    The pipeline</a:t>
            </a:r>
          </a:p>
        </p:txBody>
      </p:sp>
      <p:pic>
        <p:nvPicPr>
          <p:cNvPr id="7" name="Content Placeholder 6">
            <a:extLst>
              <a:ext uri="{FF2B5EF4-FFF2-40B4-BE49-F238E27FC236}">
                <a16:creationId xmlns:a16="http://schemas.microsoft.com/office/drawing/2014/main" id="{684A2BCA-CE16-7ADE-1480-43AC388C5479}"/>
              </a:ext>
            </a:extLst>
          </p:cNvPr>
          <p:cNvPicPr>
            <a:picLocks noGrp="1" noChangeAspect="1"/>
          </p:cNvPicPr>
          <p:nvPr>
            <p:ph idx="1"/>
          </p:nvPr>
        </p:nvPicPr>
        <p:blipFill>
          <a:blip r:embed="rId2"/>
          <a:srcRect t="24024"/>
          <a:stretch>
            <a:fillRect/>
          </a:stretch>
        </p:blipFill>
        <p:spPr>
          <a:xfrm>
            <a:off x="4579071" y="996105"/>
            <a:ext cx="6387712" cy="4876274"/>
          </a:xfrm>
          <a:prstGeom prst="rect">
            <a:avLst/>
          </a:prstGeom>
        </p:spPr>
      </p:pic>
      <p:sp>
        <p:nvSpPr>
          <p:cNvPr id="4" name="Date Placeholder 3">
            <a:extLst>
              <a:ext uri="{FF2B5EF4-FFF2-40B4-BE49-F238E27FC236}">
                <a16:creationId xmlns:a16="http://schemas.microsoft.com/office/drawing/2014/main" id="{6B1F6FCF-DF6B-BDFD-54E1-C463FE09BDDF}"/>
              </a:ext>
            </a:extLst>
          </p:cNvPr>
          <p:cNvSpPr>
            <a:spLocks noGrp="1"/>
          </p:cNvSpPr>
          <p:nvPr>
            <p:ph type="dt" sz="half" idx="10"/>
          </p:nvPr>
        </p:nvSpPr>
        <p:spPr/>
        <p:txBody>
          <a:bodyPr/>
          <a:lstStyle/>
          <a:p>
            <a:fld id="{C41313FE-7DB1-45BF-BBF6-4673AA3C8BDC}" type="datetime1">
              <a:t>9/17/2025</a:t>
            </a:fld>
            <a:endParaRPr lang="en-US"/>
          </a:p>
        </p:txBody>
      </p:sp>
      <p:sp>
        <p:nvSpPr>
          <p:cNvPr id="5" name="Footer Placeholder 4">
            <a:extLst>
              <a:ext uri="{FF2B5EF4-FFF2-40B4-BE49-F238E27FC236}">
                <a16:creationId xmlns:a16="http://schemas.microsoft.com/office/drawing/2014/main" id="{8ECE7613-B140-78F1-7950-8CA66F368BF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282AC80-B2C9-3188-AA48-3CB286379C40}"/>
              </a:ext>
            </a:extLst>
          </p:cNvPr>
          <p:cNvSpPr>
            <a:spLocks noGrp="1"/>
          </p:cNvSpPr>
          <p:nvPr>
            <p:ph type="sldNum" sz="quarter" idx="12"/>
          </p:nvPr>
        </p:nvSpPr>
        <p:spPr/>
        <p:txBody>
          <a:bodyPr/>
          <a:lstStyle/>
          <a:p>
            <a:fld id="{E30AF5A0-43BB-4336-8627-9123B9144D80}" type="slidenum">
              <a:rPr lang="en-US" dirty="0"/>
              <a:t>6</a:t>
            </a:fld>
            <a:endParaRPr lang="en-US"/>
          </a:p>
        </p:txBody>
      </p:sp>
      <p:sp>
        <p:nvSpPr>
          <p:cNvPr id="3" name="TextBox 2">
            <a:extLst>
              <a:ext uri="{FF2B5EF4-FFF2-40B4-BE49-F238E27FC236}">
                <a16:creationId xmlns:a16="http://schemas.microsoft.com/office/drawing/2014/main" id="{F71E7790-374F-3381-86CA-9A6BFDDA478A}"/>
              </a:ext>
            </a:extLst>
          </p:cNvPr>
          <p:cNvSpPr txBox="1"/>
          <p:nvPr/>
        </p:nvSpPr>
        <p:spPr>
          <a:xfrm>
            <a:off x="1130647" y="2009026"/>
            <a:ext cx="3230361"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200" b="1">
                <a:latin typeface="Calisto MT"/>
                <a:cs typeface="Arial"/>
              </a:rPr>
              <a:t>Captures</a:t>
            </a:r>
            <a:r>
              <a:rPr lang="en-US" sz="2200">
                <a:latin typeface="Calisto MT"/>
                <a:cs typeface="Arial"/>
              </a:rPr>
              <a:t> 4D cell interactions with </a:t>
            </a:r>
            <a:r>
              <a:rPr lang="en-US" sz="2200" i="1">
                <a:latin typeface="Calisto MT"/>
                <a:cs typeface="Arial"/>
              </a:rPr>
              <a:t>SITE</a:t>
            </a:r>
            <a:r>
              <a:rPr lang="en-US" sz="2200">
                <a:latin typeface="Calisto MT"/>
                <a:cs typeface="Arial"/>
              </a:rPr>
              <a:t>.</a:t>
            </a:r>
          </a:p>
          <a:p>
            <a:pPr marL="342900" indent="-342900">
              <a:buFont typeface="Arial"/>
              <a:buChar char="•"/>
            </a:pPr>
            <a:r>
              <a:rPr lang="en-US" sz="2200" b="1">
                <a:latin typeface="Calisto MT"/>
                <a:cs typeface="Arial"/>
              </a:rPr>
              <a:t>Turns</a:t>
            </a:r>
            <a:r>
              <a:rPr lang="en-US" sz="2200">
                <a:latin typeface="Calisto MT"/>
                <a:cs typeface="Arial"/>
              </a:rPr>
              <a:t> images into </a:t>
            </a:r>
            <a:r>
              <a:rPr lang="en-US" sz="2200" i="1">
                <a:latin typeface="Calisto MT"/>
                <a:cs typeface="Arial"/>
              </a:rPr>
              <a:t>structured data</a:t>
            </a:r>
            <a:r>
              <a:rPr lang="en-US" sz="2200">
                <a:latin typeface="Calisto MT"/>
                <a:cs typeface="Arial"/>
              </a:rPr>
              <a:t>.</a:t>
            </a:r>
          </a:p>
          <a:p>
            <a:pPr marL="342900" indent="-342900">
              <a:buFont typeface="Arial"/>
              <a:buChar char="•"/>
            </a:pPr>
            <a:r>
              <a:rPr lang="en-US" sz="2200" b="1">
                <a:latin typeface="Calisto MT"/>
                <a:cs typeface="Arial"/>
              </a:rPr>
              <a:t>Maps</a:t>
            </a:r>
            <a:r>
              <a:rPr lang="en-US" sz="2200">
                <a:latin typeface="Calisto MT"/>
                <a:cs typeface="Arial"/>
              </a:rPr>
              <a:t> cell movement and </a:t>
            </a:r>
            <a:r>
              <a:rPr lang="en-US" sz="2200" i="1">
                <a:latin typeface="Calisto MT"/>
                <a:cs typeface="Arial"/>
              </a:rPr>
              <a:t>ERK signaling</a:t>
            </a:r>
            <a:r>
              <a:rPr lang="en-US" sz="2200">
                <a:latin typeface="Calisto MT"/>
                <a:cs typeface="Arial"/>
              </a:rPr>
              <a:t>.</a:t>
            </a:r>
          </a:p>
          <a:p>
            <a:pPr marL="342900" indent="-342900">
              <a:buFont typeface="Arial"/>
              <a:buChar char="•"/>
            </a:pPr>
            <a:r>
              <a:rPr lang="en-US" sz="2200" b="1">
                <a:latin typeface="Calisto MT"/>
                <a:cs typeface="Arial"/>
              </a:rPr>
              <a:t>Detects</a:t>
            </a:r>
            <a:r>
              <a:rPr lang="en-US" sz="2200">
                <a:latin typeface="Calisto MT"/>
                <a:cs typeface="Arial"/>
              </a:rPr>
              <a:t> </a:t>
            </a:r>
            <a:r>
              <a:rPr lang="en-US" sz="2200" i="1">
                <a:latin typeface="Calisto MT"/>
                <a:cs typeface="Arial"/>
              </a:rPr>
              <a:t>invasion patterns</a:t>
            </a:r>
            <a:r>
              <a:rPr lang="en-US" sz="2200">
                <a:latin typeface="Calisto MT"/>
                <a:cs typeface="Arial"/>
              </a:rPr>
              <a:t> with a VAE.</a:t>
            </a:r>
          </a:p>
          <a:p>
            <a:pPr>
              <a:buFont typeface="Arial"/>
              <a:buChar char="•"/>
            </a:pPr>
            <a:endParaRPr lang="en-US" sz="2200">
              <a:latin typeface="Calisto MT"/>
              <a:cs typeface="Arial"/>
            </a:endParaRPr>
          </a:p>
          <a:p>
            <a:pPr marL="514350" indent="-514350">
              <a:spcBef>
                <a:spcPct val="0"/>
              </a:spcBef>
              <a:spcAft>
                <a:spcPct val="0"/>
              </a:spcAft>
              <a:buFont typeface="Arial"/>
              <a:buChar char="•"/>
            </a:pPr>
            <a:endParaRPr lang="en-US" sz="2000">
              <a:latin typeface="Arial"/>
              <a:cs typeface="Arial"/>
            </a:endParaRPr>
          </a:p>
          <a:p>
            <a:pPr algn="l"/>
            <a:endParaRPr lang="en-US"/>
          </a:p>
        </p:txBody>
      </p:sp>
    </p:spTree>
    <p:extLst>
      <p:ext uri="{BB962C8B-B14F-4D97-AF65-F5344CB8AC3E}">
        <p14:creationId xmlns:p14="http://schemas.microsoft.com/office/powerpoint/2010/main" val="2965633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EF239-FA49-85AD-97D5-39E691DD13D6}"/>
              </a:ext>
            </a:extLst>
          </p:cNvPr>
          <p:cNvSpPr>
            <a:spLocks noGrp="1"/>
          </p:cNvSpPr>
          <p:nvPr>
            <p:ph type="title"/>
          </p:nvPr>
        </p:nvSpPr>
        <p:spPr/>
        <p:txBody>
          <a:bodyPr/>
          <a:lstStyle/>
          <a:p>
            <a:pPr algn="ctr"/>
            <a:r>
              <a:rPr lang="en-US" dirty="0"/>
              <a:t>DATa</a:t>
            </a:r>
          </a:p>
          <a:p>
            <a:endParaRPr lang="en-US"/>
          </a:p>
        </p:txBody>
      </p:sp>
      <p:sp>
        <p:nvSpPr>
          <p:cNvPr id="3" name="Content Placeholder 2">
            <a:extLst>
              <a:ext uri="{FF2B5EF4-FFF2-40B4-BE49-F238E27FC236}">
                <a16:creationId xmlns:a16="http://schemas.microsoft.com/office/drawing/2014/main" id="{9DD9F02A-C483-CEBA-CB4B-AEF4225D37F4}"/>
              </a:ext>
            </a:extLst>
          </p:cNvPr>
          <p:cNvSpPr>
            <a:spLocks noGrp="1"/>
          </p:cNvSpPr>
          <p:nvPr>
            <p:ph idx="1"/>
          </p:nvPr>
        </p:nvSpPr>
        <p:spPr>
          <a:xfrm>
            <a:off x="754384" y="1547869"/>
            <a:ext cx="10687212" cy="4321075"/>
          </a:xfrm>
        </p:spPr>
        <p:txBody>
          <a:bodyPr vert="horz" lIns="91440" tIns="45720" rIns="91440" bIns="45720" rtlCol="0" anchor="t">
            <a:noAutofit/>
          </a:bodyPr>
          <a:lstStyle/>
          <a:p>
            <a:pPr marL="342900" indent="-342900"/>
            <a:endParaRPr lang="en-US"/>
          </a:p>
          <a:p>
            <a:pPr marL="342900" indent="-342900"/>
            <a:endParaRPr lang="en-US"/>
          </a:p>
          <a:p>
            <a:pPr marL="342900" indent="-342900"/>
            <a:endParaRPr lang="en-US"/>
          </a:p>
          <a:p>
            <a:pPr marL="342900" indent="-342900"/>
            <a:endParaRPr lang="en-US"/>
          </a:p>
          <a:p>
            <a:pPr marL="0" indent="0">
              <a:buNone/>
            </a:pPr>
            <a:endParaRPr lang="en-US">
              <a:ea typeface="+mn-lt"/>
              <a:cs typeface="+mn-lt"/>
            </a:endParaRPr>
          </a:p>
          <a:p>
            <a:r>
              <a:rPr lang="en-US" sz="2200" dirty="0">
                <a:ea typeface="+mn-lt"/>
                <a:cs typeface="+mn-lt"/>
              </a:rPr>
              <a:t>The </a:t>
            </a:r>
            <a:r>
              <a:rPr lang="en-US" sz="2200" b="1" dirty="0">
                <a:ea typeface="+mn-lt"/>
                <a:cs typeface="+mn-lt"/>
              </a:rPr>
              <a:t>SITE platform</a:t>
            </a:r>
            <a:r>
              <a:rPr lang="en-US" sz="2200" dirty="0">
                <a:ea typeface="+mn-lt"/>
                <a:cs typeface="+mn-lt"/>
              </a:rPr>
              <a:t> enables </a:t>
            </a:r>
            <a:r>
              <a:rPr lang="en-US" sz="2200" i="1" dirty="0">
                <a:ea typeface="+mn-lt"/>
                <a:cs typeface="+mn-lt"/>
              </a:rPr>
              <a:t>4D imaging </a:t>
            </a:r>
            <a:r>
              <a:rPr lang="en-US" sz="2200" dirty="0">
                <a:ea typeface="+mn-lt"/>
                <a:cs typeface="+mn-lt"/>
              </a:rPr>
              <a:t>of live-cell interactions and </a:t>
            </a:r>
            <a:r>
              <a:rPr lang="en-US" sz="2200" i="1" dirty="0">
                <a:ea typeface="+mn-lt"/>
                <a:cs typeface="+mn-lt"/>
              </a:rPr>
              <a:t>analysis. </a:t>
            </a:r>
          </a:p>
          <a:p>
            <a:r>
              <a:rPr lang="en-US" sz="2200" dirty="0">
                <a:ea typeface="+mn-lt"/>
                <a:cs typeface="+mn-lt"/>
              </a:rPr>
              <a:t>Images of ex-vivo host organoids from mammary tissue combined with our tumor cell lines (T4-2, MDA-MB-231) days 0, 2, and 7. </a:t>
            </a:r>
          </a:p>
          <a:p>
            <a:r>
              <a:rPr lang="en-US" sz="2200" dirty="0">
                <a:ea typeface="+mn-lt"/>
                <a:cs typeface="+mn-lt"/>
              </a:rPr>
              <a:t>Each 24-hour recording is taken in 20-minute intervals, using 20–30 z-slices spaced 3 μm apart (1024 × 1024 pixels each).</a:t>
            </a:r>
            <a:endParaRPr lang="en-US" sz="2200" dirty="0"/>
          </a:p>
          <a:p>
            <a:pPr marL="342900" indent="-342900"/>
            <a:endParaRPr lang="en-US"/>
          </a:p>
          <a:p>
            <a:pPr marL="342900" indent="-342900"/>
            <a:endParaRPr lang="en-US"/>
          </a:p>
          <a:p>
            <a:pPr marL="342900" indent="-342900"/>
            <a:endParaRPr lang="en-US"/>
          </a:p>
          <a:p>
            <a:pPr marL="342900" indent="-342900"/>
            <a:endParaRPr lang="en-US" sz="2400"/>
          </a:p>
          <a:p>
            <a:pPr marL="457200" indent="-457200"/>
            <a:endParaRPr lang="en-US" sz="2400"/>
          </a:p>
        </p:txBody>
      </p:sp>
      <p:sp>
        <p:nvSpPr>
          <p:cNvPr id="4" name="Date Placeholder 3">
            <a:extLst>
              <a:ext uri="{FF2B5EF4-FFF2-40B4-BE49-F238E27FC236}">
                <a16:creationId xmlns:a16="http://schemas.microsoft.com/office/drawing/2014/main" id="{58DB67DE-7F38-C06B-3BBF-C229D005DD80}"/>
              </a:ext>
            </a:extLst>
          </p:cNvPr>
          <p:cNvSpPr>
            <a:spLocks noGrp="1"/>
          </p:cNvSpPr>
          <p:nvPr>
            <p:ph type="dt" sz="half" idx="10"/>
          </p:nvPr>
        </p:nvSpPr>
        <p:spPr/>
        <p:txBody>
          <a:bodyPr/>
          <a:lstStyle/>
          <a:p>
            <a:fld id="{4FB8883D-9976-4970-867E-5AF4B9446ED9}" type="datetime1">
              <a:t>9/17/2025</a:t>
            </a:fld>
            <a:endParaRPr lang="en-US"/>
          </a:p>
        </p:txBody>
      </p:sp>
      <p:sp>
        <p:nvSpPr>
          <p:cNvPr id="5" name="Footer Placeholder 4">
            <a:extLst>
              <a:ext uri="{FF2B5EF4-FFF2-40B4-BE49-F238E27FC236}">
                <a16:creationId xmlns:a16="http://schemas.microsoft.com/office/drawing/2014/main" id="{77EA7698-4F3E-6C14-886C-0553FCA1AD3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5304AF9-4D8D-B071-AD9E-1C2BB0BC0335}"/>
              </a:ext>
            </a:extLst>
          </p:cNvPr>
          <p:cNvSpPr>
            <a:spLocks noGrp="1"/>
          </p:cNvSpPr>
          <p:nvPr>
            <p:ph type="sldNum" sz="quarter" idx="12"/>
          </p:nvPr>
        </p:nvSpPr>
        <p:spPr/>
        <p:txBody>
          <a:bodyPr/>
          <a:lstStyle/>
          <a:p>
            <a:fld id="{E30AF5A0-43BB-4336-8627-9123B9144D80}" type="slidenum">
              <a:rPr lang="en-US" dirty="0"/>
              <a:t>7</a:t>
            </a:fld>
            <a:endParaRPr lang="en-US"/>
          </a:p>
        </p:txBody>
      </p:sp>
      <p:pic>
        <p:nvPicPr>
          <p:cNvPr id="7" name="Picture 6" descr="A diagram of a person">
            <a:extLst>
              <a:ext uri="{FF2B5EF4-FFF2-40B4-BE49-F238E27FC236}">
                <a16:creationId xmlns:a16="http://schemas.microsoft.com/office/drawing/2014/main" id="{D6FBA34E-14A0-6F6C-6B4D-2BFD6FC475C8}"/>
              </a:ext>
            </a:extLst>
          </p:cNvPr>
          <p:cNvPicPr>
            <a:picLocks noChangeAspect="1"/>
          </p:cNvPicPr>
          <p:nvPr/>
        </p:nvPicPr>
        <p:blipFill>
          <a:blip r:embed="rId2"/>
          <a:stretch>
            <a:fillRect/>
          </a:stretch>
        </p:blipFill>
        <p:spPr>
          <a:xfrm>
            <a:off x="3046618" y="1608871"/>
            <a:ext cx="5970352" cy="1999243"/>
          </a:xfrm>
          <a:prstGeom prst="rect">
            <a:avLst/>
          </a:prstGeom>
        </p:spPr>
      </p:pic>
    </p:spTree>
    <p:extLst>
      <p:ext uri="{BB962C8B-B14F-4D97-AF65-F5344CB8AC3E}">
        <p14:creationId xmlns:p14="http://schemas.microsoft.com/office/powerpoint/2010/main" val="97207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1C9F-F6A6-BD4E-C3FC-4E713E6AC4A8}"/>
              </a:ext>
            </a:extLst>
          </p:cNvPr>
          <p:cNvSpPr>
            <a:spLocks noGrp="1"/>
          </p:cNvSpPr>
          <p:nvPr>
            <p:ph type="title"/>
          </p:nvPr>
        </p:nvSpPr>
        <p:spPr/>
        <p:txBody>
          <a:bodyPr/>
          <a:lstStyle/>
          <a:p>
            <a:pPr algn="ctr"/>
            <a:r>
              <a:rPr lang="en-US"/>
              <a:t>segmentation</a:t>
            </a:r>
          </a:p>
        </p:txBody>
      </p:sp>
      <p:sp>
        <p:nvSpPr>
          <p:cNvPr id="4" name="Date Placeholder 3">
            <a:extLst>
              <a:ext uri="{FF2B5EF4-FFF2-40B4-BE49-F238E27FC236}">
                <a16:creationId xmlns:a16="http://schemas.microsoft.com/office/drawing/2014/main" id="{12FB4255-0B46-ED6B-81C6-8F87C6F2E812}"/>
              </a:ext>
            </a:extLst>
          </p:cNvPr>
          <p:cNvSpPr>
            <a:spLocks noGrp="1"/>
          </p:cNvSpPr>
          <p:nvPr>
            <p:ph type="dt" sz="half" idx="10"/>
          </p:nvPr>
        </p:nvSpPr>
        <p:spPr/>
        <p:txBody>
          <a:bodyPr/>
          <a:lstStyle/>
          <a:p>
            <a:fld id="{67BB4327-5338-4E94-ADB4-97592EAED1F0}" type="datetime1">
              <a:t>9/17/2025</a:t>
            </a:fld>
            <a:endParaRPr lang="en-US"/>
          </a:p>
        </p:txBody>
      </p:sp>
      <p:sp>
        <p:nvSpPr>
          <p:cNvPr id="5" name="Footer Placeholder 4">
            <a:extLst>
              <a:ext uri="{FF2B5EF4-FFF2-40B4-BE49-F238E27FC236}">
                <a16:creationId xmlns:a16="http://schemas.microsoft.com/office/drawing/2014/main" id="{A0B5461B-4CBD-4AB3-95B2-EEF4DAE65E4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75262E7-E9F7-6FB0-A4CC-3428B61ACD6E}"/>
              </a:ext>
            </a:extLst>
          </p:cNvPr>
          <p:cNvSpPr>
            <a:spLocks noGrp="1"/>
          </p:cNvSpPr>
          <p:nvPr>
            <p:ph type="sldNum" sz="quarter" idx="12"/>
          </p:nvPr>
        </p:nvSpPr>
        <p:spPr/>
        <p:txBody>
          <a:bodyPr/>
          <a:lstStyle/>
          <a:p>
            <a:fld id="{E30AF5A0-43BB-4336-8627-9123B9144D80}" type="slidenum">
              <a:rPr lang="en-US" dirty="0"/>
              <a:t>8</a:t>
            </a:fld>
            <a:endParaRPr lang="en-US"/>
          </a:p>
        </p:txBody>
      </p:sp>
      <p:sp>
        <p:nvSpPr>
          <p:cNvPr id="10" name="Content Placeholder 9">
            <a:extLst>
              <a:ext uri="{FF2B5EF4-FFF2-40B4-BE49-F238E27FC236}">
                <a16:creationId xmlns:a16="http://schemas.microsoft.com/office/drawing/2014/main" id="{3FE486D2-2F11-B694-F59A-A697DE22C0AA}"/>
              </a:ext>
            </a:extLst>
          </p:cNvPr>
          <p:cNvSpPr>
            <a:spLocks noGrp="1"/>
          </p:cNvSpPr>
          <p:nvPr>
            <p:ph idx="1"/>
          </p:nvPr>
        </p:nvSpPr>
        <p:spPr>
          <a:xfrm>
            <a:off x="704688" y="2483626"/>
            <a:ext cx="10796648" cy="3542864"/>
          </a:xfrm>
        </p:spPr>
        <p:txBody>
          <a:bodyPr vert="horz" lIns="91440" tIns="45720" rIns="91440" bIns="45720" rtlCol="0" anchor="t">
            <a:normAutofit/>
          </a:bodyPr>
          <a:lstStyle/>
          <a:p>
            <a:endParaRPr lang="en-US"/>
          </a:p>
          <a:p>
            <a:endParaRPr lang="en-US"/>
          </a:p>
          <a:p>
            <a:endParaRPr lang="en-US"/>
          </a:p>
          <a:p>
            <a:pPr>
              <a:buFont typeface="Arial"/>
              <a:buChar char="•"/>
            </a:pPr>
            <a:r>
              <a:rPr lang="en-US" sz="2200" dirty="0">
                <a:ea typeface="+mn-lt"/>
                <a:cs typeface="+mn-lt"/>
              </a:rPr>
              <a:t>Uses software package (</a:t>
            </a:r>
            <a:r>
              <a:rPr lang="en-US" sz="2200" b="1" dirty="0">
                <a:ea typeface="+mn-lt"/>
                <a:cs typeface="+mn-lt"/>
              </a:rPr>
              <a:t>Cellpose</a:t>
            </a:r>
            <a:r>
              <a:rPr lang="en-US" sz="2200" dirty="0">
                <a:ea typeface="+mn-lt"/>
                <a:cs typeface="+mn-lt"/>
              </a:rPr>
              <a:t>) to outline key cell features like nuclei and ERK activity.</a:t>
            </a:r>
            <a:endParaRPr lang="en-US" sz="2200">
              <a:ea typeface="+mn-lt"/>
              <a:cs typeface="+mn-lt"/>
            </a:endParaRPr>
          </a:p>
          <a:p>
            <a:pPr>
              <a:buFont typeface="Arial"/>
              <a:buChar char="•"/>
            </a:pPr>
            <a:r>
              <a:rPr lang="en-US" sz="2200" dirty="0">
                <a:ea typeface="+mn-lt"/>
                <a:cs typeface="+mn-lt"/>
              </a:rPr>
              <a:t>Identifies surrounding tissue structures, such as host cells, extracellular matrix, and cancer cell regions. (</a:t>
            </a:r>
            <a:r>
              <a:rPr lang="en-US" sz="2200" b="1" dirty="0">
                <a:ea typeface="+mn-lt"/>
                <a:cs typeface="+mn-lt"/>
              </a:rPr>
              <a:t>ilastik</a:t>
            </a:r>
            <a:r>
              <a:rPr lang="en-US" sz="2200" dirty="0">
                <a:ea typeface="+mn-lt"/>
                <a:cs typeface="+mn-lt"/>
              </a:rPr>
              <a:t>)</a:t>
            </a:r>
            <a:endParaRPr lang="en-US" sz="2200" dirty="0"/>
          </a:p>
          <a:p>
            <a:pPr marL="0" indent="0">
              <a:buNone/>
            </a:pPr>
            <a:endParaRPr lang="en-US"/>
          </a:p>
          <a:p>
            <a:endParaRPr lang="en-US"/>
          </a:p>
          <a:p>
            <a:endParaRPr lang="en-US"/>
          </a:p>
          <a:p>
            <a:endParaRPr lang="en-US"/>
          </a:p>
        </p:txBody>
      </p:sp>
      <p:pic>
        <p:nvPicPr>
          <p:cNvPr id="7" name="Picture 6" descr="A diagram of a mask&#10;&#10;AI-generated content may be incorrect.">
            <a:extLst>
              <a:ext uri="{FF2B5EF4-FFF2-40B4-BE49-F238E27FC236}">
                <a16:creationId xmlns:a16="http://schemas.microsoft.com/office/drawing/2014/main" id="{25486276-95DA-C522-3B07-C4FCAF5445A0}"/>
              </a:ext>
            </a:extLst>
          </p:cNvPr>
          <p:cNvPicPr>
            <a:picLocks noChangeAspect="1"/>
          </p:cNvPicPr>
          <p:nvPr/>
        </p:nvPicPr>
        <p:blipFill>
          <a:blip r:embed="rId2"/>
          <a:stretch>
            <a:fillRect/>
          </a:stretch>
        </p:blipFill>
        <p:spPr>
          <a:xfrm>
            <a:off x="4475635" y="1977594"/>
            <a:ext cx="3143453" cy="15152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95362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AA7B-FC28-793E-A579-45D60F5183D0}"/>
              </a:ext>
            </a:extLst>
          </p:cNvPr>
          <p:cNvSpPr>
            <a:spLocks noGrp="1"/>
          </p:cNvSpPr>
          <p:nvPr>
            <p:ph type="title"/>
          </p:nvPr>
        </p:nvSpPr>
        <p:spPr/>
        <p:txBody>
          <a:bodyPr/>
          <a:lstStyle/>
          <a:p>
            <a:pPr algn="ctr"/>
            <a:r>
              <a:rPr lang="en-US"/>
              <a:t>ERK Signaling</a:t>
            </a:r>
          </a:p>
        </p:txBody>
      </p:sp>
      <p:sp>
        <p:nvSpPr>
          <p:cNvPr id="3" name="Content Placeholder 2">
            <a:extLst>
              <a:ext uri="{FF2B5EF4-FFF2-40B4-BE49-F238E27FC236}">
                <a16:creationId xmlns:a16="http://schemas.microsoft.com/office/drawing/2014/main" id="{D5C1B948-C7D7-0F23-3AE7-280C13D6EADF}"/>
              </a:ext>
            </a:extLst>
          </p:cNvPr>
          <p:cNvSpPr>
            <a:spLocks noGrp="1"/>
          </p:cNvSpPr>
          <p:nvPr>
            <p:ph idx="1"/>
          </p:nvPr>
        </p:nvSpPr>
        <p:spPr>
          <a:xfrm>
            <a:off x="704688" y="2475519"/>
            <a:ext cx="10687212" cy="3453695"/>
          </a:xfrm>
        </p:spPr>
        <p:txBody>
          <a:bodyPr vert="horz" lIns="91440" tIns="45720" rIns="91440" bIns="45720" rtlCol="0" anchor="t">
            <a:normAutofit/>
          </a:bodyPr>
          <a:lstStyle/>
          <a:p>
            <a:endParaRPr lang="en-US"/>
          </a:p>
          <a:p>
            <a:endParaRPr lang="en-US"/>
          </a:p>
          <a:p>
            <a:endParaRPr lang="en-US"/>
          </a:p>
          <a:p>
            <a:endParaRPr lang="en-US"/>
          </a:p>
          <a:p>
            <a:r>
              <a:rPr lang="en-US" sz="2200" b="1">
                <a:ea typeface="+mn-lt"/>
                <a:cs typeface="+mn-lt"/>
              </a:rPr>
              <a:t>ERKTR signaling</a:t>
            </a:r>
            <a:r>
              <a:rPr lang="en-US" sz="2200">
                <a:ea typeface="+mn-lt"/>
                <a:cs typeface="+mn-lt"/>
              </a:rPr>
              <a:t> is tied to cancer growth and changes how cells behave by affecting their ability to multiply, survive, and transform.</a:t>
            </a:r>
            <a:endParaRPr lang="en-US" sz="2200"/>
          </a:p>
        </p:txBody>
      </p:sp>
      <p:sp>
        <p:nvSpPr>
          <p:cNvPr id="4" name="Date Placeholder 3">
            <a:extLst>
              <a:ext uri="{FF2B5EF4-FFF2-40B4-BE49-F238E27FC236}">
                <a16:creationId xmlns:a16="http://schemas.microsoft.com/office/drawing/2014/main" id="{1208F9E1-2CEF-F8AF-5981-B49FD8783DED}"/>
              </a:ext>
            </a:extLst>
          </p:cNvPr>
          <p:cNvSpPr>
            <a:spLocks noGrp="1"/>
          </p:cNvSpPr>
          <p:nvPr>
            <p:ph type="dt" sz="half" idx="10"/>
          </p:nvPr>
        </p:nvSpPr>
        <p:spPr/>
        <p:txBody>
          <a:bodyPr/>
          <a:lstStyle/>
          <a:p>
            <a:fld id="{BF2DA211-B534-449D-AFB2-DF91D9675947}" type="datetime1">
              <a:t>9/17/2025</a:t>
            </a:fld>
            <a:endParaRPr lang="en-US"/>
          </a:p>
        </p:txBody>
      </p:sp>
      <p:sp>
        <p:nvSpPr>
          <p:cNvPr id="5" name="Footer Placeholder 4">
            <a:extLst>
              <a:ext uri="{FF2B5EF4-FFF2-40B4-BE49-F238E27FC236}">
                <a16:creationId xmlns:a16="http://schemas.microsoft.com/office/drawing/2014/main" id="{74A88D44-2161-868A-2F35-907DCF85B15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CF7D889-2864-B580-D60F-DADD8082E88D}"/>
              </a:ext>
            </a:extLst>
          </p:cNvPr>
          <p:cNvSpPr>
            <a:spLocks noGrp="1"/>
          </p:cNvSpPr>
          <p:nvPr>
            <p:ph type="sldNum" sz="quarter" idx="12"/>
          </p:nvPr>
        </p:nvSpPr>
        <p:spPr/>
        <p:txBody>
          <a:bodyPr/>
          <a:lstStyle/>
          <a:p>
            <a:fld id="{E30AF5A0-43BB-4336-8627-9123B9144D80}" type="slidenum">
              <a:rPr lang="en-US" dirty="0"/>
              <a:t>9</a:t>
            </a:fld>
            <a:endParaRPr lang="en-US"/>
          </a:p>
        </p:txBody>
      </p:sp>
      <p:pic>
        <p:nvPicPr>
          <p:cNvPr id="8" name="Picture 7" descr="Immunology and Inflammation Signaling Pathway - Creative Diagnostics">
            <a:extLst>
              <a:ext uri="{FF2B5EF4-FFF2-40B4-BE49-F238E27FC236}">
                <a16:creationId xmlns:a16="http://schemas.microsoft.com/office/drawing/2014/main" id="{715457C8-0BA7-4D3B-DF05-3C723C4EA022}"/>
              </a:ext>
            </a:extLst>
          </p:cNvPr>
          <p:cNvPicPr>
            <a:picLocks noChangeAspect="1"/>
          </p:cNvPicPr>
          <p:nvPr/>
        </p:nvPicPr>
        <p:blipFill>
          <a:blip r:embed="rId2"/>
          <a:stretch>
            <a:fillRect/>
          </a:stretch>
        </p:blipFill>
        <p:spPr>
          <a:xfrm>
            <a:off x="4639283" y="2009717"/>
            <a:ext cx="2824263" cy="19995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89137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54A5-2B03-972E-1965-3B2FD14773BA}"/>
              </a:ext>
            </a:extLst>
          </p:cNvPr>
          <p:cNvSpPr>
            <a:spLocks noGrp="1"/>
          </p:cNvSpPr>
          <p:nvPr>
            <p:ph type="title"/>
          </p:nvPr>
        </p:nvSpPr>
        <p:spPr/>
        <p:txBody>
          <a:bodyPr/>
          <a:lstStyle/>
          <a:p>
            <a:pPr algn="ctr"/>
            <a:r>
              <a:rPr lang="en-US"/>
              <a:t>tracking</a:t>
            </a:r>
          </a:p>
        </p:txBody>
      </p:sp>
      <p:sp>
        <p:nvSpPr>
          <p:cNvPr id="3" name="Content Placeholder 2">
            <a:extLst>
              <a:ext uri="{FF2B5EF4-FFF2-40B4-BE49-F238E27FC236}">
                <a16:creationId xmlns:a16="http://schemas.microsoft.com/office/drawing/2014/main" id="{5FDA491E-E1D4-9477-B52B-D670DFC87A77}"/>
              </a:ext>
            </a:extLst>
          </p:cNvPr>
          <p:cNvSpPr>
            <a:spLocks noGrp="1"/>
          </p:cNvSpPr>
          <p:nvPr>
            <p:ph idx="1"/>
          </p:nvPr>
        </p:nvSpPr>
        <p:spPr>
          <a:xfrm>
            <a:off x="704688" y="2499839"/>
            <a:ext cx="10687212" cy="3429375"/>
          </a:xfrm>
        </p:spPr>
        <p:txBody>
          <a:bodyPr vert="horz" lIns="91440" tIns="45720" rIns="91440" bIns="45720" rtlCol="0" anchor="t">
            <a:normAutofit/>
          </a:bodyPr>
          <a:lstStyle/>
          <a:p>
            <a:endParaRPr lang="en-US"/>
          </a:p>
          <a:p>
            <a:endParaRPr lang="en-US"/>
          </a:p>
          <a:p>
            <a:endParaRPr lang="en-US"/>
          </a:p>
          <a:p>
            <a:r>
              <a:rPr lang="en-US" sz="2200">
                <a:ea typeface="+mn-lt"/>
                <a:cs typeface="+mn-lt"/>
              </a:rPr>
              <a:t>Maps each cell’s 3D shape, measured how its surface moved, and tracked changes over time.</a:t>
            </a:r>
            <a:endParaRPr lang="en-US" sz="2200"/>
          </a:p>
          <a:p>
            <a:r>
              <a:rPr lang="en-US" sz="2200">
                <a:ea typeface="+mn-lt"/>
                <a:cs typeface="+mn-lt"/>
              </a:rPr>
              <a:t>Matches the</a:t>
            </a:r>
            <a:r>
              <a:rPr lang="en-US" sz="2200" b="1">
                <a:ea typeface="+mn-lt"/>
                <a:cs typeface="+mn-lt"/>
              </a:rPr>
              <a:t> same cells</a:t>
            </a:r>
            <a:r>
              <a:rPr lang="en-US" sz="2200">
                <a:ea typeface="+mn-lt"/>
                <a:cs typeface="+mn-lt"/>
              </a:rPr>
              <a:t> across frames by comparing their position and shape.</a:t>
            </a:r>
            <a:endParaRPr lang="en-US" sz="2200"/>
          </a:p>
          <a:p>
            <a:r>
              <a:rPr lang="en-US" sz="2200"/>
              <a:t>Analyzes </a:t>
            </a:r>
            <a:r>
              <a:rPr lang="en-US" sz="2200" b="1"/>
              <a:t>ERK activity</a:t>
            </a:r>
            <a:r>
              <a:rPr lang="en-US" sz="2200"/>
              <a:t> based on distance to host tissue, cluster size, cell density, etc. </a:t>
            </a:r>
          </a:p>
          <a:p>
            <a:endParaRPr lang="en-US" sz="2200"/>
          </a:p>
          <a:p>
            <a:endParaRPr lang="en-US"/>
          </a:p>
          <a:p>
            <a:endParaRPr lang="en-US">
              <a:ea typeface="+mn-lt"/>
              <a:cs typeface="+mn-lt"/>
            </a:endParaRPr>
          </a:p>
          <a:p>
            <a:endParaRPr lang="en-US"/>
          </a:p>
          <a:p>
            <a:endParaRPr lang="en-US"/>
          </a:p>
          <a:p>
            <a:endParaRPr lang="en-US"/>
          </a:p>
        </p:txBody>
      </p:sp>
      <p:sp>
        <p:nvSpPr>
          <p:cNvPr id="4" name="Date Placeholder 3">
            <a:extLst>
              <a:ext uri="{FF2B5EF4-FFF2-40B4-BE49-F238E27FC236}">
                <a16:creationId xmlns:a16="http://schemas.microsoft.com/office/drawing/2014/main" id="{ED3A0842-A623-5EF3-4758-DA01CD78E6DA}"/>
              </a:ext>
            </a:extLst>
          </p:cNvPr>
          <p:cNvSpPr>
            <a:spLocks noGrp="1"/>
          </p:cNvSpPr>
          <p:nvPr>
            <p:ph type="dt" sz="half" idx="10"/>
          </p:nvPr>
        </p:nvSpPr>
        <p:spPr/>
        <p:txBody>
          <a:bodyPr/>
          <a:lstStyle/>
          <a:p>
            <a:fld id="{1B523048-B12D-41E0-8031-32C40CBD7291}" type="datetime1">
              <a:t>9/17/2025</a:t>
            </a:fld>
            <a:endParaRPr lang="en-US"/>
          </a:p>
        </p:txBody>
      </p:sp>
      <p:sp>
        <p:nvSpPr>
          <p:cNvPr id="5" name="Footer Placeholder 4">
            <a:extLst>
              <a:ext uri="{FF2B5EF4-FFF2-40B4-BE49-F238E27FC236}">
                <a16:creationId xmlns:a16="http://schemas.microsoft.com/office/drawing/2014/main" id="{999BE3EC-FFD1-B84B-B45B-178D974FB5A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6913964-5BE5-1CF8-0C86-41462D82D95C}"/>
              </a:ext>
            </a:extLst>
          </p:cNvPr>
          <p:cNvSpPr>
            <a:spLocks noGrp="1"/>
          </p:cNvSpPr>
          <p:nvPr>
            <p:ph type="sldNum" sz="quarter" idx="12"/>
          </p:nvPr>
        </p:nvSpPr>
        <p:spPr/>
        <p:txBody>
          <a:bodyPr/>
          <a:lstStyle/>
          <a:p>
            <a:fld id="{E30AF5A0-43BB-4336-8627-9123B9144D80}" type="slidenum">
              <a:rPr lang="en-US" dirty="0"/>
              <a:t>10</a:t>
            </a:fld>
            <a:endParaRPr lang="en-US"/>
          </a:p>
        </p:txBody>
      </p:sp>
      <p:pic>
        <p:nvPicPr>
          <p:cNvPr id="7" name="Picture 6">
            <a:extLst>
              <a:ext uri="{FF2B5EF4-FFF2-40B4-BE49-F238E27FC236}">
                <a16:creationId xmlns:a16="http://schemas.microsoft.com/office/drawing/2014/main" id="{361EE460-B5A8-E3F1-87B1-33601D52028B}"/>
              </a:ext>
            </a:extLst>
          </p:cNvPr>
          <p:cNvPicPr>
            <a:picLocks noChangeAspect="1"/>
          </p:cNvPicPr>
          <p:nvPr/>
        </p:nvPicPr>
        <p:blipFill>
          <a:blip r:embed="rId2"/>
          <a:stretch>
            <a:fillRect/>
          </a:stretch>
        </p:blipFill>
        <p:spPr>
          <a:xfrm>
            <a:off x="3947418" y="1885879"/>
            <a:ext cx="4088253" cy="165694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99143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B817-67E4-D16E-D76C-9C9E3A1D7556}"/>
              </a:ext>
            </a:extLst>
          </p:cNvPr>
          <p:cNvSpPr>
            <a:spLocks noGrp="1"/>
          </p:cNvSpPr>
          <p:nvPr>
            <p:ph type="title"/>
          </p:nvPr>
        </p:nvSpPr>
        <p:spPr/>
        <p:txBody>
          <a:bodyPr/>
          <a:lstStyle/>
          <a:p>
            <a:pPr algn="ctr"/>
            <a:r>
              <a:rPr lang="en-US"/>
              <a:t>Machine Learning</a:t>
            </a:r>
          </a:p>
        </p:txBody>
      </p:sp>
      <p:sp>
        <p:nvSpPr>
          <p:cNvPr id="3" name="Content Placeholder 2">
            <a:extLst>
              <a:ext uri="{FF2B5EF4-FFF2-40B4-BE49-F238E27FC236}">
                <a16:creationId xmlns:a16="http://schemas.microsoft.com/office/drawing/2014/main" id="{53260606-DE7E-5B27-ECEF-673B31319B32}"/>
              </a:ext>
            </a:extLst>
          </p:cNvPr>
          <p:cNvSpPr>
            <a:spLocks noGrp="1"/>
          </p:cNvSpPr>
          <p:nvPr>
            <p:ph idx="1"/>
          </p:nvPr>
        </p:nvSpPr>
        <p:spPr>
          <a:xfrm>
            <a:off x="708917" y="3278756"/>
            <a:ext cx="10682983" cy="3578110"/>
          </a:xfrm>
        </p:spPr>
        <p:txBody>
          <a:bodyPr vert="horz" lIns="91440" tIns="45720" rIns="91440" bIns="45720" rtlCol="0" anchor="t">
            <a:normAutofit/>
          </a:bodyPr>
          <a:lstStyle/>
          <a:p>
            <a:endParaRPr lang="en-US"/>
          </a:p>
          <a:p>
            <a:endParaRPr lang="en-US"/>
          </a:p>
          <a:p>
            <a:endParaRPr lang="en-US"/>
          </a:p>
          <a:p>
            <a:r>
              <a:rPr lang="en-US" sz="2200">
                <a:ea typeface="+mn-lt"/>
                <a:cs typeface="+mn-lt"/>
              </a:rPr>
              <a:t>Trained a variation autoencoder (VAE) on cell images to see if it could</a:t>
            </a:r>
            <a:r>
              <a:rPr lang="en-US" sz="2200" b="1">
                <a:ea typeface="+mn-lt"/>
                <a:cs typeface="+mn-lt"/>
              </a:rPr>
              <a:t> identify signs</a:t>
            </a:r>
            <a:r>
              <a:rPr lang="en-US" sz="2200">
                <a:ea typeface="+mn-lt"/>
                <a:cs typeface="+mn-lt"/>
              </a:rPr>
              <a:t> of invasive behavior.</a:t>
            </a:r>
            <a:endParaRPr lang="en-US" sz="2200"/>
          </a:p>
          <a:p>
            <a:endParaRPr lang="en-US" sz="2400"/>
          </a:p>
          <a:p>
            <a:endParaRPr lang="en-US" sz="2400"/>
          </a:p>
          <a:p>
            <a:endParaRPr lang="en-US" sz="2400"/>
          </a:p>
        </p:txBody>
      </p:sp>
      <p:sp>
        <p:nvSpPr>
          <p:cNvPr id="4" name="Date Placeholder 3">
            <a:extLst>
              <a:ext uri="{FF2B5EF4-FFF2-40B4-BE49-F238E27FC236}">
                <a16:creationId xmlns:a16="http://schemas.microsoft.com/office/drawing/2014/main" id="{399D6A72-8EC1-CE38-3588-9C602635A8C1}"/>
              </a:ext>
            </a:extLst>
          </p:cNvPr>
          <p:cNvSpPr>
            <a:spLocks noGrp="1"/>
          </p:cNvSpPr>
          <p:nvPr>
            <p:ph type="dt" sz="half" idx="10"/>
          </p:nvPr>
        </p:nvSpPr>
        <p:spPr/>
        <p:txBody>
          <a:bodyPr/>
          <a:lstStyle/>
          <a:p>
            <a:fld id="{DBD4F238-B9A6-4C44-82B5-CC025E0F8E1D}" type="datetime1">
              <a:t>9/17/2025</a:t>
            </a:fld>
            <a:endParaRPr lang="en-US"/>
          </a:p>
        </p:txBody>
      </p:sp>
      <p:sp>
        <p:nvSpPr>
          <p:cNvPr id="5" name="Footer Placeholder 4">
            <a:extLst>
              <a:ext uri="{FF2B5EF4-FFF2-40B4-BE49-F238E27FC236}">
                <a16:creationId xmlns:a16="http://schemas.microsoft.com/office/drawing/2014/main" id="{F09B1008-CA50-9FE2-2BCF-D71D5756A08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DD82643-84DA-3D48-6445-E3B424D7F21E}"/>
              </a:ext>
            </a:extLst>
          </p:cNvPr>
          <p:cNvSpPr>
            <a:spLocks noGrp="1"/>
          </p:cNvSpPr>
          <p:nvPr>
            <p:ph type="sldNum" sz="quarter" idx="12"/>
          </p:nvPr>
        </p:nvSpPr>
        <p:spPr/>
        <p:txBody>
          <a:bodyPr/>
          <a:lstStyle/>
          <a:p>
            <a:fld id="{E30AF5A0-43BB-4336-8627-9123B9144D80}" type="slidenum">
              <a:rPr lang="en-US" dirty="0"/>
              <a:t>11</a:t>
            </a:fld>
            <a:endParaRPr lang="en-US"/>
          </a:p>
        </p:txBody>
      </p:sp>
      <p:pic>
        <p:nvPicPr>
          <p:cNvPr id="7" name="Picture 6" descr="Variational Autoencoders are Beautiful | Blogs">
            <a:extLst>
              <a:ext uri="{FF2B5EF4-FFF2-40B4-BE49-F238E27FC236}">
                <a16:creationId xmlns:a16="http://schemas.microsoft.com/office/drawing/2014/main" id="{1F7940D3-B528-6244-148E-C42B7F69E310}"/>
              </a:ext>
            </a:extLst>
          </p:cNvPr>
          <p:cNvPicPr>
            <a:picLocks noChangeAspect="1"/>
          </p:cNvPicPr>
          <p:nvPr/>
        </p:nvPicPr>
        <p:blipFill>
          <a:blip r:embed="rId2"/>
          <a:stretch>
            <a:fillRect/>
          </a:stretch>
        </p:blipFill>
        <p:spPr>
          <a:xfrm>
            <a:off x="4203630" y="1822174"/>
            <a:ext cx="3428587" cy="25676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027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0AAE-F48E-83F8-0365-CDE380A3E148}"/>
              </a:ext>
            </a:extLst>
          </p:cNvPr>
          <p:cNvSpPr>
            <a:spLocks noGrp="1"/>
          </p:cNvSpPr>
          <p:nvPr>
            <p:ph type="title"/>
          </p:nvPr>
        </p:nvSpPr>
        <p:spPr/>
        <p:txBody>
          <a:bodyPr/>
          <a:lstStyle/>
          <a:p>
            <a:pPr algn="ctr"/>
            <a:r>
              <a:rPr lang="en-US"/>
              <a:t>Obejective</a:t>
            </a:r>
          </a:p>
        </p:txBody>
      </p:sp>
      <p:sp>
        <p:nvSpPr>
          <p:cNvPr id="3" name="Content Placeholder 2">
            <a:extLst>
              <a:ext uri="{FF2B5EF4-FFF2-40B4-BE49-F238E27FC236}">
                <a16:creationId xmlns:a16="http://schemas.microsoft.com/office/drawing/2014/main" id="{80EB7090-4495-C8E6-2EFD-9600EA374B07}"/>
              </a:ext>
            </a:extLst>
          </p:cNvPr>
          <p:cNvSpPr>
            <a:spLocks noGrp="1"/>
          </p:cNvSpPr>
          <p:nvPr>
            <p:ph idx="1"/>
          </p:nvPr>
        </p:nvSpPr>
        <p:spPr>
          <a:xfrm>
            <a:off x="712730" y="1736746"/>
            <a:ext cx="10679170" cy="4192468"/>
          </a:xfrm>
        </p:spPr>
        <p:txBody>
          <a:bodyPr vert="horz" lIns="91440" tIns="45720" rIns="91440" bIns="45720" rtlCol="0" anchor="t">
            <a:normAutofit/>
          </a:bodyPr>
          <a:lstStyle/>
          <a:p>
            <a:pPr marL="0" indent="0">
              <a:lnSpc>
                <a:spcPct val="100000"/>
              </a:lnSpc>
              <a:spcBef>
                <a:spcPct val="0"/>
              </a:spcBef>
              <a:spcAft>
                <a:spcPct val="0"/>
              </a:spcAft>
              <a:buNone/>
            </a:pPr>
            <a:r>
              <a:rPr lang="en-US" sz="2800">
                <a:latin typeface="Calisto MT"/>
                <a:cs typeface="Arial"/>
              </a:rPr>
              <a:t>To optimize cellular </a:t>
            </a:r>
            <a:r>
              <a:rPr lang="en-US" sz="2800" b="1">
                <a:latin typeface="Calisto MT"/>
                <a:cs typeface="Arial"/>
              </a:rPr>
              <a:t>segmentation</a:t>
            </a:r>
            <a:r>
              <a:rPr lang="en-US" sz="2800">
                <a:latin typeface="Calisto MT"/>
                <a:cs typeface="Arial"/>
              </a:rPr>
              <a:t> and explore the use of a    </a:t>
            </a:r>
            <a:endParaRPr lang="en-US"/>
          </a:p>
          <a:p>
            <a:pPr marL="0" indent="0">
              <a:lnSpc>
                <a:spcPct val="100000"/>
              </a:lnSpc>
              <a:spcBef>
                <a:spcPct val="0"/>
              </a:spcBef>
              <a:spcAft>
                <a:spcPct val="0"/>
              </a:spcAft>
              <a:buNone/>
            </a:pPr>
            <a:r>
              <a:rPr lang="en-US" sz="2800" b="1">
                <a:latin typeface="Calisto MT"/>
                <a:cs typeface="Arial"/>
              </a:rPr>
              <a:t>variational autoencoder</a:t>
            </a:r>
            <a:r>
              <a:rPr lang="en-US" sz="2800">
                <a:latin typeface="Calisto MT"/>
                <a:cs typeface="Arial"/>
              </a:rPr>
              <a:t> (VAE) for modeling early-stage invasion dynamics.</a:t>
            </a:r>
          </a:p>
          <a:p>
            <a:pPr marL="0" indent="0">
              <a:lnSpc>
                <a:spcPct val="100000"/>
              </a:lnSpc>
              <a:spcBef>
                <a:spcPct val="0"/>
              </a:spcBef>
              <a:spcAft>
                <a:spcPct val="0"/>
              </a:spcAft>
              <a:buNone/>
            </a:pPr>
            <a:endParaRPr lang="en-US" sz="2800">
              <a:cs typeface="Arial"/>
            </a:endParaRPr>
          </a:p>
          <a:p>
            <a:pPr marL="0" indent="0">
              <a:lnSpc>
                <a:spcPct val="100000"/>
              </a:lnSpc>
              <a:spcBef>
                <a:spcPct val="0"/>
              </a:spcBef>
              <a:spcAft>
                <a:spcPct val="0"/>
              </a:spcAft>
              <a:buNone/>
            </a:pPr>
            <a:endParaRPr lang="en-US" sz="2800" b="1">
              <a:cs typeface="Arial"/>
            </a:endParaRPr>
          </a:p>
          <a:p>
            <a:pPr marL="0" indent="0">
              <a:buNone/>
            </a:pPr>
            <a:endParaRPr lang="en-US"/>
          </a:p>
        </p:txBody>
      </p:sp>
      <p:sp>
        <p:nvSpPr>
          <p:cNvPr id="4" name="Date Placeholder 3">
            <a:extLst>
              <a:ext uri="{FF2B5EF4-FFF2-40B4-BE49-F238E27FC236}">
                <a16:creationId xmlns:a16="http://schemas.microsoft.com/office/drawing/2014/main" id="{7AF82626-152B-B1F5-CF69-A9DA180D381D}"/>
              </a:ext>
            </a:extLst>
          </p:cNvPr>
          <p:cNvSpPr>
            <a:spLocks noGrp="1"/>
          </p:cNvSpPr>
          <p:nvPr>
            <p:ph type="dt" sz="half" idx="10"/>
          </p:nvPr>
        </p:nvSpPr>
        <p:spPr/>
        <p:txBody>
          <a:bodyPr/>
          <a:lstStyle/>
          <a:p>
            <a:fld id="{C518F57D-4D3C-4805-9A94-1E1D39E4D4FC}" type="datetime1">
              <a:t>9/17/2025</a:t>
            </a:fld>
            <a:endParaRPr lang="en-US"/>
          </a:p>
        </p:txBody>
      </p:sp>
      <p:sp>
        <p:nvSpPr>
          <p:cNvPr id="5" name="Footer Placeholder 4">
            <a:extLst>
              <a:ext uri="{FF2B5EF4-FFF2-40B4-BE49-F238E27FC236}">
                <a16:creationId xmlns:a16="http://schemas.microsoft.com/office/drawing/2014/main" id="{142BA9E1-8B54-2099-0000-E589912F174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58CABEF-7818-234F-500A-1F288C3DD315}"/>
              </a:ext>
            </a:extLst>
          </p:cNvPr>
          <p:cNvSpPr>
            <a:spLocks noGrp="1"/>
          </p:cNvSpPr>
          <p:nvPr>
            <p:ph type="sldNum" sz="quarter" idx="12"/>
          </p:nvPr>
        </p:nvSpPr>
        <p:spPr/>
        <p:txBody>
          <a:bodyPr/>
          <a:lstStyle/>
          <a:p>
            <a:fld id="{E30AF5A0-43BB-4336-8627-9123B9144D80}" type="slidenum">
              <a:rPr lang="en-US" dirty="0"/>
              <a:t>12</a:t>
            </a:fld>
            <a:endParaRPr lang="en-US"/>
          </a:p>
        </p:txBody>
      </p:sp>
      <p:pic>
        <p:nvPicPr>
          <p:cNvPr id="10" name="Picture 9" descr="A diagram of cell and tme segmentation&#10;&#10;AI-generated content may be incorrect.">
            <a:extLst>
              <a:ext uri="{FF2B5EF4-FFF2-40B4-BE49-F238E27FC236}">
                <a16:creationId xmlns:a16="http://schemas.microsoft.com/office/drawing/2014/main" id="{86179CDD-7942-B0DF-DEB9-EB12CB962EC6}"/>
              </a:ext>
            </a:extLst>
          </p:cNvPr>
          <p:cNvPicPr>
            <a:picLocks noChangeAspect="1"/>
          </p:cNvPicPr>
          <p:nvPr/>
        </p:nvPicPr>
        <p:blipFill>
          <a:blip r:embed="rId2"/>
          <a:stretch>
            <a:fillRect/>
          </a:stretch>
        </p:blipFill>
        <p:spPr>
          <a:xfrm>
            <a:off x="4484234" y="2827791"/>
            <a:ext cx="4312104" cy="3270704"/>
          </a:xfrm>
          <a:prstGeom prst="rect">
            <a:avLst/>
          </a:prstGeom>
        </p:spPr>
      </p:pic>
    </p:spTree>
    <p:extLst>
      <p:ext uri="{BB962C8B-B14F-4D97-AF65-F5344CB8AC3E}">
        <p14:creationId xmlns:p14="http://schemas.microsoft.com/office/powerpoint/2010/main" val="248792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DB0C6-8721-382A-9A5D-A286F72C6607}"/>
              </a:ext>
            </a:extLst>
          </p:cNvPr>
          <p:cNvSpPr>
            <a:spLocks noGrp="1"/>
          </p:cNvSpPr>
          <p:nvPr>
            <p:ph type="title"/>
          </p:nvPr>
        </p:nvSpPr>
        <p:spPr/>
        <p:txBody>
          <a:bodyPr/>
          <a:lstStyle/>
          <a:p>
            <a:pPr algn="ctr"/>
            <a:r>
              <a:rPr lang="en-US" err="1"/>
              <a:t>Cellpose</a:t>
            </a:r>
          </a:p>
        </p:txBody>
      </p:sp>
      <p:sp>
        <p:nvSpPr>
          <p:cNvPr id="3" name="Content Placeholder 2">
            <a:extLst>
              <a:ext uri="{FF2B5EF4-FFF2-40B4-BE49-F238E27FC236}">
                <a16:creationId xmlns:a16="http://schemas.microsoft.com/office/drawing/2014/main" id="{F4AFEF68-58B7-DAF8-14E7-534BA2B12ACF}"/>
              </a:ext>
            </a:extLst>
          </p:cNvPr>
          <p:cNvSpPr>
            <a:spLocks noGrp="1"/>
          </p:cNvSpPr>
          <p:nvPr>
            <p:ph idx="1"/>
          </p:nvPr>
        </p:nvSpPr>
        <p:spPr>
          <a:xfrm>
            <a:off x="708741" y="1966051"/>
            <a:ext cx="10683159" cy="3963163"/>
          </a:xfrm>
        </p:spPr>
        <p:txBody>
          <a:bodyPr vert="horz" lIns="91440" tIns="45720" rIns="91440" bIns="45720" rtlCol="0" anchor="t">
            <a:normAutofit/>
          </a:bodyPr>
          <a:lstStyle/>
          <a:p>
            <a:pPr marL="0" indent="0">
              <a:buNone/>
            </a:pPr>
            <a:endParaRPr lang="en-US" sz="2400" b="1"/>
          </a:p>
          <a:p>
            <a:r>
              <a:rPr lang="en-US" sz="2400" b="1" err="1">
                <a:ea typeface="+mn-lt"/>
                <a:cs typeface="+mn-lt"/>
              </a:rPr>
              <a:t>Cellpose</a:t>
            </a:r>
            <a:r>
              <a:rPr lang="en-US" sz="2400">
                <a:ea typeface="+mn-lt"/>
                <a:cs typeface="+mn-lt"/>
              </a:rPr>
              <a:t> detects and segments cells in microscopy images, dividing them into meaningful regions.</a:t>
            </a:r>
            <a:endParaRPr lang="en-US" sz="2400"/>
          </a:p>
          <a:p>
            <a:r>
              <a:rPr lang="en-US" sz="2400">
                <a:ea typeface="+mn-lt"/>
                <a:cs typeface="+mn-lt"/>
              </a:rPr>
              <a:t>With large datasets, manual labeling is impossible — segmentation models save time by automating the process.</a:t>
            </a:r>
            <a:endParaRPr lang="en-US"/>
          </a:p>
          <a:p>
            <a:r>
              <a:rPr lang="en-US" sz="2400">
                <a:ea typeface="+mn-lt"/>
                <a:cs typeface="+mn-lt"/>
              </a:rPr>
              <a:t>Models aren’t always accurate, so I </a:t>
            </a:r>
            <a:r>
              <a:rPr lang="en-US" sz="2400" b="1">
                <a:ea typeface="+mn-lt"/>
                <a:cs typeface="+mn-lt"/>
              </a:rPr>
              <a:t>trained one with manual annotations</a:t>
            </a:r>
            <a:r>
              <a:rPr lang="en-US" sz="2400">
                <a:ea typeface="+mn-lt"/>
                <a:cs typeface="+mn-lt"/>
              </a:rPr>
              <a:t>, greatly improving segmentation accuracy for cancer cells and downstream tracking of movement and ERK signaling.</a:t>
            </a:r>
            <a:endParaRPr lang="en-US"/>
          </a:p>
          <a:p>
            <a:endParaRPr lang="en-US" sz="2400"/>
          </a:p>
          <a:p>
            <a:pPr marL="457200" indent="-457200">
              <a:buAutoNum type="arabicPeriod"/>
            </a:pPr>
            <a:endParaRPr lang="en-US" sz="2400"/>
          </a:p>
          <a:p>
            <a:pPr marL="0" indent="0">
              <a:buNone/>
            </a:pPr>
            <a:endParaRPr lang="en-US" sz="2400" b="1"/>
          </a:p>
        </p:txBody>
      </p:sp>
      <p:sp>
        <p:nvSpPr>
          <p:cNvPr id="4" name="Date Placeholder 3">
            <a:extLst>
              <a:ext uri="{FF2B5EF4-FFF2-40B4-BE49-F238E27FC236}">
                <a16:creationId xmlns:a16="http://schemas.microsoft.com/office/drawing/2014/main" id="{8D3F99ED-E55E-E95D-6269-6DF621410A2F}"/>
              </a:ext>
            </a:extLst>
          </p:cNvPr>
          <p:cNvSpPr>
            <a:spLocks noGrp="1"/>
          </p:cNvSpPr>
          <p:nvPr>
            <p:ph type="dt" sz="half" idx="10"/>
          </p:nvPr>
        </p:nvSpPr>
        <p:spPr/>
        <p:txBody>
          <a:bodyPr/>
          <a:lstStyle/>
          <a:p>
            <a:fld id="{59C41B22-A44B-40DC-856D-DAE48334BA66}" type="datetime1">
              <a:t>9/17/2025</a:t>
            </a:fld>
            <a:endParaRPr lang="en-US"/>
          </a:p>
        </p:txBody>
      </p:sp>
      <p:sp>
        <p:nvSpPr>
          <p:cNvPr id="5" name="Footer Placeholder 4">
            <a:extLst>
              <a:ext uri="{FF2B5EF4-FFF2-40B4-BE49-F238E27FC236}">
                <a16:creationId xmlns:a16="http://schemas.microsoft.com/office/drawing/2014/main" id="{085ADCC1-58B7-A62C-5EF2-439AEA25A15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D6A8E98-8134-DFF2-ADA9-B5D5AA646C9C}"/>
              </a:ext>
            </a:extLst>
          </p:cNvPr>
          <p:cNvSpPr>
            <a:spLocks noGrp="1"/>
          </p:cNvSpPr>
          <p:nvPr>
            <p:ph type="sldNum" sz="quarter" idx="12"/>
          </p:nvPr>
        </p:nvSpPr>
        <p:spPr/>
        <p:txBody>
          <a:bodyPr/>
          <a:lstStyle/>
          <a:p>
            <a:fld id="{E30AF5A0-43BB-4336-8627-9123B9144D80}" type="slidenum">
              <a:rPr lang="en-US" dirty="0"/>
              <a:t>13</a:t>
            </a:fld>
            <a:endParaRPr lang="en-US"/>
          </a:p>
        </p:txBody>
      </p:sp>
      <p:pic>
        <p:nvPicPr>
          <p:cNvPr id="8" name="Picture 7" descr="A diagram of a mask&#10;&#10;AI-generated content may be incorrect.">
            <a:extLst>
              <a:ext uri="{FF2B5EF4-FFF2-40B4-BE49-F238E27FC236}">
                <a16:creationId xmlns:a16="http://schemas.microsoft.com/office/drawing/2014/main" id="{F51DA30F-C254-8115-3CE5-F38A17E40234}"/>
              </a:ext>
            </a:extLst>
          </p:cNvPr>
          <p:cNvPicPr>
            <a:picLocks noChangeAspect="1"/>
          </p:cNvPicPr>
          <p:nvPr/>
        </p:nvPicPr>
        <p:blipFill>
          <a:blip r:embed="rId2"/>
          <a:srcRect t="3486" r="48813" b="3395"/>
          <a:stretch>
            <a:fillRect/>
          </a:stretch>
        </p:blipFill>
        <p:spPr>
          <a:xfrm>
            <a:off x="1551874" y="887039"/>
            <a:ext cx="1609052" cy="14110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40966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0951C-F105-36CF-03E5-7B58400D1A4D}"/>
              </a:ext>
            </a:extLst>
          </p:cNvPr>
          <p:cNvSpPr>
            <a:spLocks noGrp="1"/>
          </p:cNvSpPr>
          <p:nvPr>
            <p:ph type="title"/>
          </p:nvPr>
        </p:nvSpPr>
        <p:spPr/>
        <p:txBody>
          <a:bodyPr/>
          <a:lstStyle/>
          <a:p>
            <a:pPr algn="ctr"/>
            <a:r>
              <a:rPr lang="en-US"/>
              <a:t>Results</a:t>
            </a:r>
          </a:p>
        </p:txBody>
      </p:sp>
      <p:pic>
        <p:nvPicPr>
          <p:cNvPr id="7" name="Content Placeholder 6" descr="A colorful image of a cell&#10;&#10;AI-generated content may be incorrect.">
            <a:extLst>
              <a:ext uri="{FF2B5EF4-FFF2-40B4-BE49-F238E27FC236}">
                <a16:creationId xmlns:a16="http://schemas.microsoft.com/office/drawing/2014/main" id="{1D8FA70F-A4CA-4549-CBFF-176C32B43740}"/>
              </a:ext>
            </a:extLst>
          </p:cNvPr>
          <p:cNvPicPr>
            <a:picLocks noGrp="1" noChangeAspect="1"/>
          </p:cNvPicPr>
          <p:nvPr>
            <p:ph idx="1"/>
          </p:nvPr>
        </p:nvPicPr>
        <p:blipFill>
          <a:blip r:embed="rId2"/>
          <a:stretch>
            <a:fillRect/>
          </a:stretch>
        </p:blipFill>
        <p:spPr>
          <a:xfrm>
            <a:off x="467484" y="2120999"/>
            <a:ext cx="3584390" cy="3636088"/>
          </a:xfrm>
          <a:prstGeom prst="rect">
            <a:avLst/>
          </a:prstGeom>
          <a:ln>
            <a:noFill/>
          </a:ln>
          <a:effectLst>
            <a:outerShdw blurRad="292100" dist="139700" dir="2700000" algn="tl" rotWithShape="0">
              <a:srgbClr val="333333">
                <a:alpha val="65000"/>
              </a:srgbClr>
            </a:outerShdw>
          </a:effectLst>
        </p:spPr>
      </p:pic>
      <p:sp>
        <p:nvSpPr>
          <p:cNvPr id="4" name="Date Placeholder 3">
            <a:extLst>
              <a:ext uri="{FF2B5EF4-FFF2-40B4-BE49-F238E27FC236}">
                <a16:creationId xmlns:a16="http://schemas.microsoft.com/office/drawing/2014/main" id="{6EA3D5A3-1085-7417-96B7-1AADD27AA555}"/>
              </a:ext>
            </a:extLst>
          </p:cNvPr>
          <p:cNvSpPr>
            <a:spLocks noGrp="1"/>
          </p:cNvSpPr>
          <p:nvPr>
            <p:ph type="dt" sz="half" idx="10"/>
          </p:nvPr>
        </p:nvSpPr>
        <p:spPr/>
        <p:txBody>
          <a:bodyPr/>
          <a:lstStyle/>
          <a:p>
            <a:fld id="{7A61EA04-C57C-40C7-AD9E-20CFA7CB2461}" type="datetime1">
              <a:t>9/17/2025</a:t>
            </a:fld>
            <a:endParaRPr lang="en-US"/>
          </a:p>
        </p:txBody>
      </p:sp>
      <p:sp>
        <p:nvSpPr>
          <p:cNvPr id="5" name="Footer Placeholder 4">
            <a:extLst>
              <a:ext uri="{FF2B5EF4-FFF2-40B4-BE49-F238E27FC236}">
                <a16:creationId xmlns:a16="http://schemas.microsoft.com/office/drawing/2014/main" id="{9C82A763-CEED-3F2E-EB43-DDB6C92DEEB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37A78E6-0AEC-56D3-A96C-3809352AA193}"/>
              </a:ext>
            </a:extLst>
          </p:cNvPr>
          <p:cNvSpPr>
            <a:spLocks noGrp="1"/>
          </p:cNvSpPr>
          <p:nvPr>
            <p:ph type="sldNum" sz="quarter" idx="12"/>
          </p:nvPr>
        </p:nvSpPr>
        <p:spPr/>
        <p:txBody>
          <a:bodyPr/>
          <a:lstStyle/>
          <a:p>
            <a:fld id="{E30AF5A0-43BB-4336-8627-9123B9144D80}" type="slidenum">
              <a:rPr lang="en-US" dirty="0"/>
              <a:t>14</a:t>
            </a:fld>
            <a:endParaRPr lang="en-US"/>
          </a:p>
        </p:txBody>
      </p:sp>
      <p:pic>
        <p:nvPicPr>
          <p:cNvPr id="3" name="Picture 2">
            <a:extLst>
              <a:ext uri="{FF2B5EF4-FFF2-40B4-BE49-F238E27FC236}">
                <a16:creationId xmlns:a16="http://schemas.microsoft.com/office/drawing/2014/main" id="{5F8B9EFF-50D3-9CAE-65E2-F816F12449FF}"/>
              </a:ext>
            </a:extLst>
          </p:cNvPr>
          <p:cNvPicPr>
            <a:picLocks noChangeAspect="1"/>
          </p:cNvPicPr>
          <p:nvPr/>
        </p:nvPicPr>
        <p:blipFill>
          <a:blip r:embed="rId3"/>
          <a:stretch>
            <a:fillRect/>
          </a:stretch>
        </p:blipFill>
        <p:spPr>
          <a:xfrm>
            <a:off x="4235491" y="2113704"/>
            <a:ext cx="3620532" cy="3654256"/>
          </a:xfrm>
          <a:prstGeom prst="rect">
            <a:avLst/>
          </a:prstGeom>
          <a:ln>
            <a:noFill/>
          </a:ln>
          <a:effectLst>
            <a:outerShdw blurRad="292100" dist="139700" dir="2700000" algn="tl" rotWithShape="0">
              <a:srgbClr val="333333">
                <a:alpha val="65000"/>
              </a:srgbClr>
            </a:outerShdw>
          </a:effectLst>
        </p:spPr>
      </p:pic>
      <p:pic>
        <p:nvPicPr>
          <p:cNvPr id="8" name="Picture 7" descr="A colorful image of a cell&#10;&#10;AI-generated content may be incorrect.">
            <a:extLst>
              <a:ext uri="{FF2B5EF4-FFF2-40B4-BE49-F238E27FC236}">
                <a16:creationId xmlns:a16="http://schemas.microsoft.com/office/drawing/2014/main" id="{D6D00D69-074A-3356-DB2B-8ED7230C430B}"/>
              </a:ext>
            </a:extLst>
          </p:cNvPr>
          <p:cNvPicPr>
            <a:picLocks noChangeAspect="1"/>
          </p:cNvPicPr>
          <p:nvPr/>
        </p:nvPicPr>
        <p:blipFill>
          <a:blip r:embed="rId4"/>
          <a:stretch>
            <a:fillRect/>
          </a:stretch>
        </p:blipFill>
        <p:spPr>
          <a:xfrm>
            <a:off x="8050425" y="2106318"/>
            <a:ext cx="3645244" cy="3659919"/>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9C7FDAB-4965-5FAC-B390-A4429ECC4425}"/>
              </a:ext>
            </a:extLst>
          </p:cNvPr>
          <p:cNvSpPr txBox="1"/>
          <p:nvPr/>
        </p:nvSpPr>
        <p:spPr>
          <a:xfrm>
            <a:off x="1171491" y="1712065"/>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Cellpose3 model</a:t>
            </a:r>
          </a:p>
        </p:txBody>
      </p:sp>
      <p:sp>
        <p:nvSpPr>
          <p:cNvPr id="10" name="TextBox 9">
            <a:extLst>
              <a:ext uri="{FF2B5EF4-FFF2-40B4-BE49-F238E27FC236}">
                <a16:creationId xmlns:a16="http://schemas.microsoft.com/office/drawing/2014/main" id="{47FBE087-84D4-AEE5-F69A-1D357E8BBA63}"/>
              </a:ext>
            </a:extLst>
          </p:cNvPr>
          <p:cNvSpPr txBox="1"/>
          <p:nvPr/>
        </p:nvSpPr>
        <p:spPr>
          <a:xfrm>
            <a:off x="5005554" y="1712064"/>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Sanjay's model</a:t>
            </a:r>
          </a:p>
        </p:txBody>
      </p:sp>
      <p:sp>
        <p:nvSpPr>
          <p:cNvPr id="11" name="TextBox 10">
            <a:extLst>
              <a:ext uri="{FF2B5EF4-FFF2-40B4-BE49-F238E27FC236}">
                <a16:creationId xmlns:a16="http://schemas.microsoft.com/office/drawing/2014/main" id="{C1BC1DAE-666E-0E07-412D-4418D03EFB10}"/>
              </a:ext>
            </a:extLst>
          </p:cNvPr>
          <p:cNvSpPr txBox="1"/>
          <p:nvPr/>
        </p:nvSpPr>
        <p:spPr>
          <a:xfrm>
            <a:off x="8871701" y="1712065"/>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err="1"/>
              <a:t>Qwyn's</a:t>
            </a:r>
            <a:r>
              <a:rPr lang="en-US"/>
              <a:t> model</a:t>
            </a:r>
          </a:p>
        </p:txBody>
      </p:sp>
      <p:sp>
        <p:nvSpPr>
          <p:cNvPr id="12" name="TextBox 11">
            <a:extLst>
              <a:ext uri="{FF2B5EF4-FFF2-40B4-BE49-F238E27FC236}">
                <a16:creationId xmlns:a16="http://schemas.microsoft.com/office/drawing/2014/main" id="{BEED7C84-1B78-25A6-1ABF-52678EF50C18}"/>
              </a:ext>
            </a:extLst>
          </p:cNvPr>
          <p:cNvSpPr txBox="1"/>
          <p:nvPr/>
        </p:nvSpPr>
        <p:spPr>
          <a:xfrm>
            <a:off x="2598731" y="5882018"/>
            <a:ext cx="650819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a:solidFill>
                  <a:srgbClr val="222222"/>
                </a:solidFill>
                <a:latin typeface="Arial"/>
                <a:cs typeface="Arial"/>
              </a:rPr>
              <a:t>&lt;-------------------------------------------------T4_Day7_t73_z7_xy1_roi1.tif --------------------------------------------&gt;</a:t>
            </a:r>
            <a:endParaRPr lang="en-US"/>
          </a:p>
        </p:txBody>
      </p:sp>
    </p:spTree>
    <p:extLst>
      <p:ext uri="{BB962C8B-B14F-4D97-AF65-F5344CB8AC3E}">
        <p14:creationId xmlns:p14="http://schemas.microsoft.com/office/powerpoint/2010/main" val="350176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2DC-A241-5698-FE4D-04CCE5607EF4}"/>
              </a:ext>
            </a:extLst>
          </p:cNvPr>
          <p:cNvSpPr>
            <a:spLocks noGrp="1"/>
          </p:cNvSpPr>
          <p:nvPr>
            <p:ph type="title"/>
          </p:nvPr>
        </p:nvSpPr>
        <p:spPr/>
        <p:txBody>
          <a:bodyPr/>
          <a:lstStyle/>
          <a:p>
            <a:pPr algn="ctr"/>
            <a:r>
              <a:rPr lang="en-US"/>
              <a:t>Results</a:t>
            </a:r>
          </a:p>
        </p:txBody>
      </p:sp>
      <p:pic>
        <p:nvPicPr>
          <p:cNvPr id="7" name="Content Placeholder 6">
            <a:extLst>
              <a:ext uri="{FF2B5EF4-FFF2-40B4-BE49-F238E27FC236}">
                <a16:creationId xmlns:a16="http://schemas.microsoft.com/office/drawing/2014/main" id="{5A9B5783-AC82-D31E-E151-86A91D7BB07A}"/>
              </a:ext>
            </a:extLst>
          </p:cNvPr>
          <p:cNvPicPr>
            <a:picLocks noGrp="1" noChangeAspect="1"/>
          </p:cNvPicPr>
          <p:nvPr>
            <p:ph idx="1"/>
          </p:nvPr>
        </p:nvPicPr>
        <p:blipFill>
          <a:blip r:embed="rId2"/>
          <a:stretch>
            <a:fillRect/>
          </a:stretch>
        </p:blipFill>
        <p:spPr>
          <a:xfrm>
            <a:off x="528086" y="2057690"/>
            <a:ext cx="3676339" cy="3755535"/>
          </a:xfrm>
          <a:prstGeom prst="rect">
            <a:avLst/>
          </a:prstGeom>
          <a:ln>
            <a:noFill/>
          </a:ln>
          <a:effectLst>
            <a:outerShdw blurRad="292100" dist="139700" dir="2700000" algn="tl" rotWithShape="0">
              <a:srgbClr val="333333">
                <a:alpha val="65000"/>
              </a:srgbClr>
            </a:outerShdw>
          </a:effectLst>
        </p:spPr>
      </p:pic>
      <p:sp>
        <p:nvSpPr>
          <p:cNvPr id="4" name="Date Placeholder 3">
            <a:extLst>
              <a:ext uri="{FF2B5EF4-FFF2-40B4-BE49-F238E27FC236}">
                <a16:creationId xmlns:a16="http://schemas.microsoft.com/office/drawing/2014/main" id="{7480B250-811A-3C6D-133B-6C6D7C9115EB}"/>
              </a:ext>
            </a:extLst>
          </p:cNvPr>
          <p:cNvSpPr>
            <a:spLocks noGrp="1"/>
          </p:cNvSpPr>
          <p:nvPr>
            <p:ph type="dt" sz="half" idx="10"/>
          </p:nvPr>
        </p:nvSpPr>
        <p:spPr/>
        <p:txBody>
          <a:bodyPr/>
          <a:lstStyle/>
          <a:p>
            <a:fld id="{DE21F132-05B6-45CF-B967-70795866D87D}" type="datetime1">
              <a:t>9/17/2025</a:t>
            </a:fld>
            <a:endParaRPr lang="en-US"/>
          </a:p>
        </p:txBody>
      </p:sp>
      <p:sp>
        <p:nvSpPr>
          <p:cNvPr id="5" name="Footer Placeholder 4">
            <a:extLst>
              <a:ext uri="{FF2B5EF4-FFF2-40B4-BE49-F238E27FC236}">
                <a16:creationId xmlns:a16="http://schemas.microsoft.com/office/drawing/2014/main" id="{8B88E787-3039-962C-77B2-1BAE09DB057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CAE00CB-3F40-E594-C254-E9B0543AAB45}"/>
              </a:ext>
            </a:extLst>
          </p:cNvPr>
          <p:cNvSpPr>
            <a:spLocks noGrp="1"/>
          </p:cNvSpPr>
          <p:nvPr>
            <p:ph type="sldNum" sz="quarter" idx="12"/>
          </p:nvPr>
        </p:nvSpPr>
        <p:spPr/>
        <p:txBody>
          <a:bodyPr/>
          <a:lstStyle/>
          <a:p>
            <a:fld id="{E30AF5A0-43BB-4336-8627-9123B9144D80}" type="slidenum">
              <a:rPr lang="en-US" dirty="0"/>
              <a:t>15</a:t>
            </a:fld>
            <a:endParaRPr lang="en-US"/>
          </a:p>
        </p:txBody>
      </p:sp>
      <p:pic>
        <p:nvPicPr>
          <p:cNvPr id="8" name="Picture 7" descr="A green glowing object on a black background&#10;&#10;AI-generated content may be incorrect.">
            <a:extLst>
              <a:ext uri="{FF2B5EF4-FFF2-40B4-BE49-F238E27FC236}">
                <a16:creationId xmlns:a16="http://schemas.microsoft.com/office/drawing/2014/main" id="{8F482DAE-0D2D-EE5B-0D53-DE97DD4D4BB3}"/>
              </a:ext>
            </a:extLst>
          </p:cNvPr>
          <p:cNvPicPr>
            <a:picLocks noChangeAspect="1"/>
          </p:cNvPicPr>
          <p:nvPr/>
        </p:nvPicPr>
        <p:blipFill>
          <a:blip r:embed="rId3"/>
          <a:stretch>
            <a:fillRect/>
          </a:stretch>
        </p:blipFill>
        <p:spPr>
          <a:xfrm>
            <a:off x="4468639" y="2062589"/>
            <a:ext cx="3258839" cy="3781942"/>
          </a:xfrm>
          <a:prstGeom prst="rect">
            <a:avLst/>
          </a:prstGeom>
          <a:ln>
            <a:noFill/>
          </a:ln>
          <a:effectLst>
            <a:outerShdw blurRad="292100" dist="139700" dir="2700000" algn="tl" rotWithShape="0">
              <a:srgbClr val="333333">
                <a:alpha val="65000"/>
              </a:srgbClr>
            </a:outerShdw>
          </a:effectLst>
        </p:spPr>
      </p:pic>
      <p:pic>
        <p:nvPicPr>
          <p:cNvPr id="9" name="Picture 8" descr="A green glowing light on a black background&#10;&#10;AI-generated content may be incorrect.">
            <a:extLst>
              <a:ext uri="{FF2B5EF4-FFF2-40B4-BE49-F238E27FC236}">
                <a16:creationId xmlns:a16="http://schemas.microsoft.com/office/drawing/2014/main" id="{5D5F1318-131C-F04C-D4B7-4488F9A07626}"/>
              </a:ext>
            </a:extLst>
          </p:cNvPr>
          <p:cNvPicPr>
            <a:picLocks noChangeAspect="1"/>
          </p:cNvPicPr>
          <p:nvPr/>
        </p:nvPicPr>
        <p:blipFill>
          <a:blip r:embed="rId4"/>
          <a:stretch>
            <a:fillRect/>
          </a:stretch>
        </p:blipFill>
        <p:spPr>
          <a:xfrm>
            <a:off x="7986326" y="2052704"/>
            <a:ext cx="3604568" cy="3770612"/>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9B82732A-68F0-8B2A-6B11-15CBEAC6489C}"/>
              </a:ext>
            </a:extLst>
          </p:cNvPr>
          <p:cNvSpPr txBox="1"/>
          <p:nvPr/>
        </p:nvSpPr>
        <p:spPr>
          <a:xfrm>
            <a:off x="8695002" y="1607694"/>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err="1"/>
              <a:t>Qwyn's</a:t>
            </a:r>
            <a:r>
              <a:rPr lang="en-US" b="1"/>
              <a:t> model</a:t>
            </a:r>
          </a:p>
        </p:txBody>
      </p:sp>
      <p:sp>
        <p:nvSpPr>
          <p:cNvPr id="12" name="TextBox 11">
            <a:extLst>
              <a:ext uri="{FF2B5EF4-FFF2-40B4-BE49-F238E27FC236}">
                <a16:creationId xmlns:a16="http://schemas.microsoft.com/office/drawing/2014/main" id="{3019B076-2532-BDC5-3389-8FC577B492D8}"/>
              </a:ext>
            </a:extLst>
          </p:cNvPr>
          <p:cNvSpPr txBox="1"/>
          <p:nvPr/>
        </p:nvSpPr>
        <p:spPr>
          <a:xfrm>
            <a:off x="5005944" y="1610129"/>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Sanjay's model</a:t>
            </a:r>
          </a:p>
        </p:txBody>
      </p:sp>
      <p:sp>
        <p:nvSpPr>
          <p:cNvPr id="14" name="TextBox 13">
            <a:extLst>
              <a:ext uri="{FF2B5EF4-FFF2-40B4-BE49-F238E27FC236}">
                <a16:creationId xmlns:a16="http://schemas.microsoft.com/office/drawing/2014/main" id="{5965736A-F56B-9D3D-7499-C80DEED92734}"/>
              </a:ext>
            </a:extLst>
          </p:cNvPr>
          <p:cNvSpPr txBox="1"/>
          <p:nvPr/>
        </p:nvSpPr>
        <p:spPr>
          <a:xfrm>
            <a:off x="1270103" y="1611310"/>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Cellpose3 model</a:t>
            </a:r>
          </a:p>
        </p:txBody>
      </p:sp>
      <p:sp>
        <p:nvSpPr>
          <p:cNvPr id="16" name="TextBox 15">
            <a:extLst>
              <a:ext uri="{FF2B5EF4-FFF2-40B4-BE49-F238E27FC236}">
                <a16:creationId xmlns:a16="http://schemas.microsoft.com/office/drawing/2014/main" id="{ECB22333-BAE5-414B-930E-745F1DA39FD8}"/>
              </a:ext>
            </a:extLst>
          </p:cNvPr>
          <p:cNvSpPr txBox="1"/>
          <p:nvPr/>
        </p:nvSpPr>
        <p:spPr>
          <a:xfrm>
            <a:off x="2598731" y="5882018"/>
            <a:ext cx="650819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a:solidFill>
                  <a:srgbClr val="222222"/>
                </a:solidFill>
                <a:latin typeface="Arial"/>
                <a:cs typeface="Arial"/>
              </a:rPr>
              <a:t>&lt;-------------------------------------------------T4_Day7_t73_z7_xy1_roi1.tif --------------------------------------------&gt;</a:t>
            </a:r>
            <a:endParaRPr lang="en-US"/>
          </a:p>
        </p:txBody>
      </p:sp>
    </p:spTree>
    <p:extLst>
      <p:ext uri="{BB962C8B-B14F-4D97-AF65-F5344CB8AC3E}">
        <p14:creationId xmlns:p14="http://schemas.microsoft.com/office/powerpoint/2010/main" val="2670273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5C9A-0EAA-C1C0-99A4-3E99FB75A7BD}"/>
              </a:ext>
            </a:extLst>
          </p:cNvPr>
          <p:cNvSpPr>
            <a:spLocks noGrp="1"/>
          </p:cNvSpPr>
          <p:nvPr>
            <p:ph type="title"/>
          </p:nvPr>
        </p:nvSpPr>
        <p:spPr/>
        <p:txBody>
          <a:bodyPr/>
          <a:lstStyle/>
          <a:p>
            <a:r>
              <a:rPr lang="en-US"/>
              <a:t>results</a:t>
            </a:r>
          </a:p>
        </p:txBody>
      </p:sp>
      <p:sp>
        <p:nvSpPr>
          <p:cNvPr id="4" name="Date Placeholder 3">
            <a:extLst>
              <a:ext uri="{FF2B5EF4-FFF2-40B4-BE49-F238E27FC236}">
                <a16:creationId xmlns:a16="http://schemas.microsoft.com/office/drawing/2014/main" id="{33ED3A29-B94A-D8D3-78DF-4D9698E35E36}"/>
              </a:ext>
            </a:extLst>
          </p:cNvPr>
          <p:cNvSpPr>
            <a:spLocks noGrp="1"/>
          </p:cNvSpPr>
          <p:nvPr>
            <p:ph type="dt" sz="half" idx="10"/>
          </p:nvPr>
        </p:nvSpPr>
        <p:spPr/>
        <p:txBody>
          <a:bodyPr/>
          <a:lstStyle/>
          <a:p>
            <a:fld id="{7564B49F-2F36-4F91-B5C6-3BF92688DC3B}" type="datetime1">
              <a:t>9/17/2025</a:t>
            </a:fld>
            <a:endParaRPr lang="en-US"/>
          </a:p>
        </p:txBody>
      </p:sp>
      <p:sp>
        <p:nvSpPr>
          <p:cNvPr id="5" name="Footer Placeholder 4">
            <a:extLst>
              <a:ext uri="{FF2B5EF4-FFF2-40B4-BE49-F238E27FC236}">
                <a16:creationId xmlns:a16="http://schemas.microsoft.com/office/drawing/2014/main" id="{CB309295-1DCD-E470-2A1E-7D3AE89D21B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194C527-A568-07EE-00D4-68F413E5F734}"/>
              </a:ext>
            </a:extLst>
          </p:cNvPr>
          <p:cNvSpPr>
            <a:spLocks noGrp="1"/>
          </p:cNvSpPr>
          <p:nvPr>
            <p:ph type="sldNum" sz="quarter" idx="12"/>
          </p:nvPr>
        </p:nvSpPr>
        <p:spPr/>
        <p:txBody>
          <a:bodyPr/>
          <a:lstStyle/>
          <a:p>
            <a:fld id="{E30AF5A0-43BB-4336-8627-9123B9144D80}" type="slidenum">
              <a:rPr lang="en-US" dirty="0"/>
              <a:t>16</a:t>
            </a:fld>
            <a:endParaRPr lang="en-US"/>
          </a:p>
        </p:txBody>
      </p:sp>
      <p:pic>
        <p:nvPicPr>
          <p:cNvPr id="18" name="Content Placeholder 17" descr="A blurry image of a plant&#10;&#10;AI-generated content may be incorrect.">
            <a:extLst>
              <a:ext uri="{FF2B5EF4-FFF2-40B4-BE49-F238E27FC236}">
                <a16:creationId xmlns:a16="http://schemas.microsoft.com/office/drawing/2014/main" id="{FF424FB2-FC8D-BD13-ED5A-F7D0E65B2F7E}"/>
              </a:ext>
            </a:extLst>
          </p:cNvPr>
          <p:cNvPicPr>
            <a:picLocks noGrp="1" noChangeAspect="1"/>
          </p:cNvPicPr>
          <p:nvPr>
            <p:ph idx="1"/>
          </p:nvPr>
        </p:nvPicPr>
        <p:blipFill>
          <a:blip r:embed="rId2"/>
          <a:srcRect t="7361" b="2831"/>
          <a:stretch>
            <a:fillRect/>
          </a:stretch>
        </p:blipFill>
        <p:spPr>
          <a:xfrm>
            <a:off x="2933350" y="1637368"/>
            <a:ext cx="2462664" cy="4146933"/>
          </a:xfrm>
          <a:prstGeom prst="rect">
            <a:avLst/>
          </a:prstGeom>
        </p:spPr>
      </p:pic>
      <p:pic>
        <p:nvPicPr>
          <p:cNvPr id="19" name="Picture 18">
            <a:extLst>
              <a:ext uri="{FF2B5EF4-FFF2-40B4-BE49-F238E27FC236}">
                <a16:creationId xmlns:a16="http://schemas.microsoft.com/office/drawing/2014/main" id="{FCEB9017-9BD2-659F-2BEC-BF5F889667AF}"/>
              </a:ext>
            </a:extLst>
          </p:cNvPr>
          <p:cNvPicPr>
            <a:picLocks noChangeAspect="1"/>
          </p:cNvPicPr>
          <p:nvPr/>
        </p:nvPicPr>
        <p:blipFill>
          <a:blip r:embed="rId3"/>
          <a:srcRect t="8641" r="-174" b="6171"/>
          <a:stretch>
            <a:fillRect/>
          </a:stretch>
        </p:blipFill>
        <p:spPr>
          <a:xfrm>
            <a:off x="5627635" y="1613637"/>
            <a:ext cx="2758910" cy="4166859"/>
          </a:xfrm>
          <a:prstGeom prst="rect">
            <a:avLst/>
          </a:prstGeom>
        </p:spPr>
      </p:pic>
      <p:pic>
        <p:nvPicPr>
          <p:cNvPr id="20" name="Picture 19" descr="A screenshot of a computer screen&#10;&#10;AI-generated content may be incorrect.">
            <a:extLst>
              <a:ext uri="{FF2B5EF4-FFF2-40B4-BE49-F238E27FC236}">
                <a16:creationId xmlns:a16="http://schemas.microsoft.com/office/drawing/2014/main" id="{47CE6571-9390-F140-EC56-67713910AEDB}"/>
              </a:ext>
            </a:extLst>
          </p:cNvPr>
          <p:cNvPicPr>
            <a:picLocks noChangeAspect="1"/>
          </p:cNvPicPr>
          <p:nvPr/>
        </p:nvPicPr>
        <p:blipFill>
          <a:blip r:embed="rId4"/>
          <a:srcRect t="9208" r="-147" b="4496"/>
          <a:stretch>
            <a:fillRect/>
          </a:stretch>
        </p:blipFill>
        <p:spPr>
          <a:xfrm>
            <a:off x="8115244" y="1606383"/>
            <a:ext cx="3269912" cy="4172799"/>
          </a:xfrm>
          <a:prstGeom prst="rect">
            <a:avLst/>
          </a:prstGeom>
        </p:spPr>
      </p:pic>
      <p:sp>
        <p:nvSpPr>
          <p:cNvPr id="7" name="TextBox 6">
            <a:extLst>
              <a:ext uri="{FF2B5EF4-FFF2-40B4-BE49-F238E27FC236}">
                <a16:creationId xmlns:a16="http://schemas.microsoft.com/office/drawing/2014/main" id="{4BB19EE3-0FDE-9D5C-3D88-43476CE20B4C}"/>
              </a:ext>
            </a:extLst>
          </p:cNvPr>
          <p:cNvSpPr txBox="1"/>
          <p:nvPr/>
        </p:nvSpPr>
        <p:spPr>
          <a:xfrm>
            <a:off x="3077660" y="1249603"/>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Cellpose3 model</a:t>
            </a:r>
          </a:p>
        </p:txBody>
      </p:sp>
      <p:sp>
        <p:nvSpPr>
          <p:cNvPr id="9" name="TextBox 8">
            <a:extLst>
              <a:ext uri="{FF2B5EF4-FFF2-40B4-BE49-F238E27FC236}">
                <a16:creationId xmlns:a16="http://schemas.microsoft.com/office/drawing/2014/main" id="{E847D6FD-4B5D-6C4B-AC00-3B8E874D69CB}"/>
              </a:ext>
            </a:extLst>
          </p:cNvPr>
          <p:cNvSpPr txBox="1"/>
          <p:nvPr/>
        </p:nvSpPr>
        <p:spPr>
          <a:xfrm>
            <a:off x="2408231" y="5865453"/>
            <a:ext cx="897641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a:solidFill>
                  <a:srgbClr val="222222"/>
                </a:solidFill>
                <a:latin typeface="Arial"/>
                <a:cs typeface="Arial"/>
              </a:rPr>
              <a:t>&lt;-------------------------------------------------T4_day7_t73_x1_xy11_roi1.tif --------------------------------------------&gt;</a:t>
            </a:r>
            <a:endParaRPr lang="en-US"/>
          </a:p>
        </p:txBody>
      </p:sp>
      <p:sp>
        <p:nvSpPr>
          <p:cNvPr id="11" name="TextBox 10">
            <a:extLst>
              <a:ext uri="{FF2B5EF4-FFF2-40B4-BE49-F238E27FC236}">
                <a16:creationId xmlns:a16="http://schemas.microsoft.com/office/drawing/2014/main" id="{5696841E-5391-0EA3-988F-67D8C6908F23}"/>
              </a:ext>
            </a:extLst>
          </p:cNvPr>
          <p:cNvSpPr txBox="1"/>
          <p:nvPr/>
        </p:nvSpPr>
        <p:spPr>
          <a:xfrm>
            <a:off x="6041270" y="1229129"/>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Sanjay's model</a:t>
            </a:r>
          </a:p>
        </p:txBody>
      </p:sp>
      <p:sp>
        <p:nvSpPr>
          <p:cNvPr id="13" name="TextBox 12">
            <a:extLst>
              <a:ext uri="{FF2B5EF4-FFF2-40B4-BE49-F238E27FC236}">
                <a16:creationId xmlns:a16="http://schemas.microsoft.com/office/drawing/2014/main" id="{9284B11C-F58C-960C-BBD3-67186662D6EA}"/>
              </a:ext>
            </a:extLst>
          </p:cNvPr>
          <p:cNvSpPr txBox="1"/>
          <p:nvPr/>
        </p:nvSpPr>
        <p:spPr>
          <a:xfrm>
            <a:off x="8993176" y="1226694"/>
            <a:ext cx="2184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err="1"/>
              <a:t>Qwyn's</a:t>
            </a:r>
            <a:r>
              <a:rPr lang="en-US" b="1"/>
              <a:t> model</a:t>
            </a:r>
          </a:p>
        </p:txBody>
      </p:sp>
    </p:spTree>
    <p:extLst>
      <p:ext uri="{BB962C8B-B14F-4D97-AF65-F5344CB8AC3E}">
        <p14:creationId xmlns:p14="http://schemas.microsoft.com/office/powerpoint/2010/main" val="2649177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DFEC8-A816-16C5-CD81-785C743E0AF1}"/>
              </a:ext>
            </a:extLst>
          </p:cNvPr>
          <p:cNvSpPr>
            <a:spLocks noGrp="1"/>
          </p:cNvSpPr>
          <p:nvPr>
            <p:ph type="title"/>
          </p:nvPr>
        </p:nvSpPr>
        <p:spPr/>
        <p:txBody>
          <a:bodyPr/>
          <a:lstStyle/>
          <a:p>
            <a:pPr algn="ctr"/>
            <a:r>
              <a:rPr lang="en-US" err="1"/>
              <a:t>VAe</a:t>
            </a:r>
          </a:p>
        </p:txBody>
      </p:sp>
      <p:sp>
        <p:nvSpPr>
          <p:cNvPr id="3" name="Content Placeholder 2">
            <a:extLst>
              <a:ext uri="{FF2B5EF4-FFF2-40B4-BE49-F238E27FC236}">
                <a16:creationId xmlns:a16="http://schemas.microsoft.com/office/drawing/2014/main" id="{488A8B35-EF6F-5B7A-8E39-FC2EE9DF04F8}"/>
              </a:ext>
            </a:extLst>
          </p:cNvPr>
          <p:cNvSpPr>
            <a:spLocks noGrp="1"/>
          </p:cNvSpPr>
          <p:nvPr>
            <p:ph idx="1"/>
          </p:nvPr>
        </p:nvSpPr>
        <p:spPr>
          <a:xfrm>
            <a:off x="717199" y="2864625"/>
            <a:ext cx="10674701" cy="3064589"/>
          </a:xfrm>
        </p:spPr>
        <p:txBody>
          <a:bodyPr vert="horz" lIns="91440" tIns="45720" rIns="91440" bIns="45720" rtlCol="0" anchor="t">
            <a:normAutofit/>
          </a:bodyPr>
          <a:lstStyle/>
          <a:p>
            <a:pPr marL="457200" indent="-457200"/>
            <a:r>
              <a:rPr lang="en-US" sz="2400" b="1"/>
              <a:t>VAE:</a:t>
            </a:r>
            <a:r>
              <a:rPr lang="en-US" sz="2400"/>
              <a:t> </a:t>
            </a:r>
            <a:r>
              <a:rPr lang="en-US" sz="2400">
                <a:ea typeface="+mn-lt"/>
                <a:cs typeface="+mn-lt"/>
              </a:rPr>
              <a:t>A VAE is a </a:t>
            </a:r>
            <a:r>
              <a:rPr lang="en-US" sz="2400" b="1">
                <a:ea typeface="+mn-lt"/>
                <a:cs typeface="+mn-lt"/>
              </a:rPr>
              <a:t>neural network</a:t>
            </a:r>
            <a:r>
              <a:rPr lang="en-US" sz="2400">
                <a:ea typeface="+mn-lt"/>
                <a:cs typeface="+mn-lt"/>
              </a:rPr>
              <a:t> that compresses data into a smaller form (called a latent space) and then tries to recreate the original data. </a:t>
            </a:r>
            <a:endParaRPr lang="en-US" sz="2400"/>
          </a:p>
          <a:p>
            <a:pPr marL="457200" indent="-457200"/>
            <a:r>
              <a:rPr lang="en-US" sz="2400">
                <a:ea typeface="+mn-lt"/>
                <a:cs typeface="+mn-lt"/>
              </a:rPr>
              <a:t>In this process it also learns patterns and variations, which makes it useful for </a:t>
            </a:r>
            <a:r>
              <a:rPr lang="en-US" sz="2400"/>
              <a:t>analysis.</a:t>
            </a:r>
          </a:p>
          <a:p>
            <a:pPr marL="0" indent="0">
              <a:buNone/>
            </a:pPr>
            <a:endParaRPr lang="en-US" sz="2200"/>
          </a:p>
        </p:txBody>
      </p:sp>
      <p:sp>
        <p:nvSpPr>
          <p:cNvPr id="4" name="Date Placeholder 3">
            <a:extLst>
              <a:ext uri="{FF2B5EF4-FFF2-40B4-BE49-F238E27FC236}">
                <a16:creationId xmlns:a16="http://schemas.microsoft.com/office/drawing/2014/main" id="{60A59653-C12E-332E-DC9C-1DE4F5836FAA}"/>
              </a:ext>
            </a:extLst>
          </p:cNvPr>
          <p:cNvSpPr>
            <a:spLocks noGrp="1"/>
          </p:cNvSpPr>
          <p:nvPr>
            <p:ph type="dt" sz="half" idx="10"/>
          </p:nvPr>
        </p:nvSpPr>
        <p:spPr/>
        <p:txBody>
          <a:bodyPr/>
          <a:lstStyle/>
          <a:p>
            <a:fld id="{DD4683D1-1098-4A30-8CAD-DE1ABB7350F8}" type="datetime1">
              <a:t>9/17/2025</a:t>
            </a:fld>
            <a:endParaRPr lang="en-US"/>
          </a:p>
        </p:txBody>
      </p:sp>
      <p:sp>
        <p:nvSpPr>
          <p:cNvPr id="5" name="Footer Placeholder 4">
            <a:extLst>
              <a:ext uri="{FF2B5EF4-FFF2-40B4-BE49-F238E27FC236}">
                <a16:creationId xmlns:a16="http://schemas.microsoft.com/office/drawing/2014/main" id="{D93D6ED0-D256-467A-7D15-2B6EF3912A8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D63F397-498D-875D-DE5A-8A3D3C226E60}"/>
              </a:ext>
            </a:extLst>
          </p:cNvPr>
          <p:cNvSpPr>
            <a:spLocks noGrp="1"/>
          </p:cNvSpPr>
          <p:nvPr>
            <p:ph type="sldNum" sz="quarter" idx="12"/>
          </p:nvPr>
        </p:nvSpPr>
        <p:spPr/>
        <p:txBody>
          <a:bodyPr/>
          <a:lstStyle/>
          <a:p>
            <a:fld id="{E30AF5A0-43BB-4336-8627-9123B9144D80}" type="slidenum">
              <a:rPr lang="en-US" dirty="0"/>
              <a:t>17</a:t>
            </a:fld>
            <a:endParaRPr lang="en-US"/>
          </a:p>
        </p:txBody>
      </p:sp>
      <p:pic>
        <p:nvPicPr>
          <p:cNvPr id="8" name="Picture 7" descr="Variational Autoencoders are Beautiful | Blogs">
            <a:extLst>
              <a:ext uri="{FF2B5EF4-FFF2-40B4-BE49-F238E27FC236}">
                <a16:creationId xmlns:a16="http://schemas.microsoft.com/office/drawing/2014/main" id="{DC066560-5B45-1999-7492-7115B05DF520}"/>
              </a:ext>
            </a:extLst>
          </p:cNvPr>
          <p:cNvPicPr>
            <a:picLocks noChangeAspect="1"/>
          </p:cNvPicPr>
          <p:nvPr/>
        </p:nvPicPr>
        <p:blipFill>
          <a:blip r:embed="rId2"/>
          <a:stretch>
            <a:fillRect/>
          </a:stretch>
        </p:blipFill>
        <p:spPr>
          <a:xfrm>
            <a:off x="1694000" y="919369"/>
            <a:ext cx="2235892" cy="16399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40579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Diving Deep into Variational AutoEncoders (VAEs) | by Shounak Desai | Medium">
            <a:extLst>
              <a:ext uri="{FF2B5EF4-FFF2-40B4-BE49-F238E27FC236}">
                <a16:creationId xmlns:a16="http://schemas.microsoft.com/office/drawing/2014/main" id="{50095C74-3694-3D59-278D-108F5D709D06}"/>
              </a:ext>
            </a:extLst>
          </p:cNvPr>
          <p:cNvPicPr>
            <a:picLocks noGrp="1" noChangeAspect="1"/>
          </p:cNvPicPr>
          <p:nvPr>
            <p:ph idx="1"/>
          </p:nvPr>
        </p:nvPicPr>
        <p:blipFill>
          <a:blip r:embed="rId2"/>
          <a:stretch>
            <a:fillRect/>
          </a:stretch>
        </p:blipFill>
        <p:spPr>
          <a:xfrm>
            <a:off x="1769326" y="957016"/>
            <a:ext cx="9159302" cy="4940882"/>
          </a:xfrm>
          <a:prstGeom prst="rect">
            <a:avLst/>
          </a:prstGeom>
        </p:spPr>
      </p:pic>
      <p:sp>
        <p:nvSpPr>
          <p:cNvPr id="4" name="Date Placeholder 3">
            <a:extLst>
              <a:ext uri="{FF2B5EF4-FFF2-40B4-BE49-F238E27FC236}">
                <a16:creationId xmlns:a16="http://schemas.microsoft.com/office/drawing/2014/main" id="{0A90BDC4-6A52-4E35-CD7A-81CB55AD30F0}"/>
              </a:ext>
            </a:extLst>
          </p:cNvPr>
          <p:cNvSpPr>
            <a:spLocks noGrp="1"/>
          </p:cNvSpPr>
          <p:nvPr>
            <p:ph type="dt" sz="half" idx="10"/>
          </p:nvPr>
        </p:nvSpPr>
        <p:spPr/>
        <p:txBody>
          <a:bodyPr/>
          <a:lstStyle/>
          <a:p>
            <a:fld id="{89E186E4-7AD4-4F1F-9A50-B8AFFA96F0DC}" type="datetime1">
              <a:t>9/17/2025</a:t>
            </a:fld>
            <a:endParaRPr lang="en-US"/>
          </a:p>
        </p:txBody>
      </p:sp>
      <p:sp>
        <p:nvSpPr>
          <p:cNvPr id="5" name="Footer Placeholder 4">
            <a:extLst>
              <a:ext uri="{FF2B5EF4-FFF2-40B4-BE49-F238E27FC236}">
                <a16:creationId xmlns:a16="http://schemas.microsoft.com/office/drawing/2014/main" id="{1E84D4DF-515F-BABD-76B4-EE111B23AD2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6F25C8F-A6D8-2162-E22D-2B47757A33C5}"/>
              </a:ext>
            </a:extLst>
          </p:cNvPr>
          <p:cNvSpPr>
            <a:spLocks noGrp="1"/>
          </p:cNvSpPr>
          <p:nvPr>
            <p:ph type="sldNum" sz="quarter" idx="12"/>
          </p:nvPr>
        </p:nvSpPr>
        <p:spPr/>
        <p:txBody>
          <a:bodyPr/>
          <a:lstStyle/>
          <a:p>
            <a:fld id="{E30AF5A0-43BB-4336-8627-9123B9144D80}" type="slidenum">
              <a:rPr lang="en-US" dirty="0"/>
              <a:t>18</a:t>
            </a:fld>
            <a:endParaRPr lang="en-US"/>
          </a:p>
        </p:txBody>
      </p:sp>
    </p:spTree>
    <p:extLst>
      <p:ext uri="{BB962C8B-B14F-4D97-AF65-F5344CB8AC3E}">
        <p14:creationId xmlns:p14="http://schemas.microsoft.com/office/powerpoint/2010/main" val="1276080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9126E9A-029A-5ECD-34A3-42E4031FEDF2}"/>
              </a:ext>
            </a:extLst>
          </p:cNvPr>
          <p:cNvSpPr>
            <a:spLocks noGrp="1"/>
          </p:cNvSpPr>
          <p:nvPr>
            <p:ph type="dt" sz="half" idx="10"/>
          </p:nvPr>
        </p:nvSpPr>
        <p:spPr/>
        <p:txBody>
          <a:bodyPr/>
          <a:lstStyle/>
          <a:p>
            <a:fld id="{EC94AE8D-C57E-495F-94D2-B6ACC5B71E90}" type="datetime1">
              <a:t>9/17/2025</a:t>
            </a:fld>
            <a:endParaRPr lang="en-US"/>
          </a:p>
        </p:txBody>
      </p:sp>
      <p:sp>
        <p:nvSpPr>
          <p:cNvPr id="5" name="Footer Placeholder 4">
            <a:extLst>
              <a:ext uri="{FF2B5EF4-FFF2-40B4-BE49-F238E27FC236}">
                <a16:creationId xmlns:a16="http://schemas.microsoft.com/office/drawing/2014/main" id="{600C906C-68A8-3F69-333E-7B5A0F013F2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96B2B22-E4F2-91BD-9C4A-4FC3FE182E7D}"/>
              </a:ext>
            </a:extLst>
          </p:cNvPr>
          <p:cNvSpPr>
            <a:spLocks noGrp="1"/>
          </p:cNvSpPr>
          <p:nvPr>
            <p:ph type="sldNum" sz="quarter" idx="12"/>
          </p:nvPr>
        </p:nvSpPr>
        <p:spPr/>
        <p:txBody>
          <a:bodyPr/>
          <a:lstStyle/>
          <a:p>
            <a:fld id="{E30AF5A0-43BB-4336-8627-9123B9144D80}" type="slidenum">
              <a:rPr lang="en-US" dirty="0"/>
              <a:t>19</a:t>
            </a:fld>
            <a:endParaRPr lang="en-US"/>
          </a:p>
        </p:txBody>
      </p:sp>
      <p:pic>
        <p:nvPicPr>
          <p:cNvPr id="7" name="Content Placeholder 6" descr="A screenshot of a computer&#10;&#10;AI-generated content may be incorrect.">
            <a:extLst>
              <a:ext uri="{FF2B5EF4-FFF2-40B4-BE49-F238E27FC236}">
                <a16:creationId xmlns:a16="http://schemas.microsoft.com/office/drawing/2014/main" id="{5A350C01-7239-1FFE-CF3C-476AD02FC14C}"/>
              </a:ext>
            </a:extLst>
          </p:cNvPr>
          <p:cNvPicPr>
            <a:picLocks noGrp="1" noChangeAspect="1"/>
          </p:cNvPicPr>
          <p:nvPr>
            <p:ph idx="4294967295"/>
          </p:nvPr>
        </p:nvPicPr>
        <p:blipFill>
          <a:blip r:embed="rId2"/>
          <a:srcRect b="18376"/>
          <a:stretch>
            <a:fillRect/>
          </a:stretch>
        </p:blipFill>
        <p:spPr>
          <a:xfrm>
            <a:off x="657727" y="-1671"/>
            <a:ext cx="10873293" cy="6878246"/>
          </a:xfrm>
          <a:prstGeom prst="rect">
            <a:avLst/>
          </a:prstGeom>
        </p:spPr>
      </p:pic>
    </p:spTree>
    <p:extLst>
      <p:ext uri="{BB962C8B-B14F-4D97-AF65-F5344CB8AC3E}">
        <p14:creationId xmlns:p14="http://schemas.microsoft.com/office/powerpoint/2010/main" val="826385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67C4-9863-C5F6-D512-073B6DCD445C}"/>
              </a:ext>
            </a:extLst>
          </p:cNvPr>
          <p:cNvSpPr>
            <a:spLocks noGrp="1"/>
          </p:cNvSpPr>
          <p:nvPr>
            <p:ph type="title"/>
          </p:nvPr>
        </p:nvSpPr>
        <p:spPr/>
        <p:txBody>
          <a:bodyPr/>
          <a:lstStyle/>
          <a:p>
            <a:pPr algn="ctr"/>
            <a:r>
              <a:rPr lang="en-US" dirty="0"/>
              <a:t>VAe</a:t>
            </a:r>
          </a:p>
        </p:txBody>
      </p:sp>
      <p:sp>
        <p:nvSpPr>
          <p:cNvPr id="3" name="Content Placeholder 2">
            <a:extLst>
              <a:ext uri="{FF2B5EF4-FFF2-40B4-BE49-F238E27FC236}">
                <a16:creationId xmlns:a16="http://schemas.microsoft.com/office/drawing/2014/main" id="{C5B27DE5-858A-DE6B-C99C-F08F1DA2DC1F}"/>
              </a:ext>
            </a:extLst>
          </p:cNvPr>
          <p:cNvSpPr>
            <a:spLocks noGrp="1"/>
          </p:cNvSpPr>
          <p:nvPr>
            <p:ph idx="1"/>
          </p:nvPr>
        </p:nvSpPr>
        <p:spPr>
          <a:xfrm>
            <a:off x="711841" y="3099950"/>
            <a:ext cx="10691265" cy="3636088"/>
          </a:xfrm>
        </p:spPr>
        <p:txBody>
          <a:bodyPr vert="horz" lIns="91440" tIns="45720" rIns="91440" bIns="45720" rtlCol="0" anchor="t">
            <a:normAutofit/>
          </a:bodyPr>
          <a:lstStyle/>
          <a:p>
            <a:r>
              <a:rPr lang="en-US" sz="2400"/>
              <a:t>But wait! Why a VAE exactly?? Why not just use some </a:t>
            </a:r>
            <a:r>
              <a:rPr lang="en-US" sz="2400" i="1"/>
              <a:t>other</a:t>
            </a:r>
            <a:r>
              <a:rPr lang="en-US" sz="2400"/>
              <a:t> method?</a:t>
            </a:r>
          </a:p>
          <a:p>
            <a:r>
              <a:rPr lang="en-US" sz="2400" b="1">
                <a:ea typeface="+mn-lt"/>
                <a:cs typeface="+mn-lt"/>
              </a:rPr>
              <a:t>Generative = learns patterns</a:t>
            </a:r>
            <a:r>
              <a:rPr lang="en-US" sz="2400">
                <a:ea typeface="+mn-lt"/>
                <a:cs typeface="+mn-lt"/>
              </a:rPr>
              <a:t>, </a:t>
            </a:r>
            <a:r>
              <a:rPr lang="en-US" sz="2400" i="1">
                <a:ea typeface="+mn-lt"/>
                <a:cs typeface="+mn-lt"/>
              </a:rPr>
              <a:t>not just finds them</a:t>
            </a:r>
            <a:r>
              <a:rPr lang="en-US" sz="2400">
                <a:ea typeface="+mn-lt"/>
                <a:cs typeface="+mn-lt"/>
              </a:rPr>
              <a:t> — can reconstruct and imagine new data.</a:t>
            </a:r>
            <a:endParaRPr lang="en-US" sz="2400"/>
          </a:p>
          <a:p>
            <a:r>
              <a:rPr lang="en-US" sz="2400">
                <a:ea typeface="+mn-lt"/>
                <a:cs typeface="+mn-lt"/>
              </a:rPr>
              <a:t>Turns compact data into something you can </a:t>
            </a:r>
            <a:r>
              <a:rPr lang="en-US" sz="2400" i="1">
                <a:ea typeface="+mn-lt"/>
                <a:cs typeface="+mn-lt"/>
              </a:rPr>
              <a:t>see</a:t>
            </a:r>
            <a:r>
              <a:rPr lang="en-US" sz="2400">
                <a:ea typeface="+mn-lt"/>
                <a:cs typeface="+mn-lt"/>
              </a:rPr>
              <a:t>, not just measure.</a:t>
            </a:r>
            <a:endParaRPr lang="en-US" sz="2400"/>
          </a:p>
          <a:p>
            <a:r>
              <a:rPr lang="en-US" sz="2400">
                <a:ea typeface="+mn-lt"/>
                <a:cs typeface="+mn-lt"/>
              </a:rPr>
              <a:t>Supports prediction by simulating </a:t>
            </a:r>
            <a:r>
              <a:rPr lang="en-US" sz="2400" b="1">
                <a:ea typeface="+mn-lt"/>
                <a:cs typeface="+mn-lt"/>
              </a:rPr>
              <a:t>plausible future or unseen behaviors</a:t>
            </a:r>
            <a:r>
              <a:rPr lang="en-US" sz="2400">
                <a:ea typeface="+mn-lt"/>
                <a:cs typeface="+mn-lt"/>
              </a:rPr>
              <a:t>.</a:t>
            </a:r>
            <a:endParaRPr lang="en-US" sz="2400"/>
          </a:p>
          <a:p>
            <a:pPr marL="0" indent="0">
              <a:buNone/>
            </a:pPr>
            <a:endParaRPr lang="en-US"/>
          </a:p>
        </p:txBody>
      </p:sp>
      <p:sp>
        <p:nvSpPr>
          <p:cNvPr id="4" name="Date Placeholder 3">
            <a:extLst>
              <a:ext uri="{FF2B5EF4-FFF2-40B4-BE49-F238E27FC236}">
                <a16:creationId xmlns:a16="http://schemas.microsoft.com/office/drawing/2014/main" id="{303CDCFA-DAEF-CA14-4973-511100331A59}"/>
              </a:ext>
            </a:extLst>
          </p:cNvPr>
          <p:cNvSpPr>
            <a:spLocks noGrp="1"/>
          </p:cNvSpPr>
          <p:nvPr>
            <p:ph type="dt" sz="half" idx="10"/>
          </p:nvPr>
        </p:nvSpPr>
        <p:spPr/>
        <p:txBody>
          <a:bodyPr/>
          <a:lstStyle/>
          <a:p>
            <a:fld id="{B5B04F63-5A76-4F9A-9ACE-19DB423103D2}" type="datetime1">
              <a:t>9/17/2025</a:t>
            </a:fld>
            <a:endParaRPr lang="en-US"/>
          </a:p>
        </p:txBody>
      </p:sp>
      <p:sp>
        <p:nvSpPr>
          <p:cNvPr id="5" name="Footer Placeholder 4">
            <a:extLst>
              <a:ext uri="{FF2B5EF4-FFF2-40B4-BE49-F238E27FC236}">
                <a16:creationId xmlns:a16="http://schemas.microsoft.com/office/drawing/2014/main" id="{8D234C39-5B3C-72D2-72F0-FAD8EECC762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4B217E3-9BCC-F9B9-04AC-F0B3890BB231}"/>
              </a:ext>
            </a:extLst>
          </p:cNvPr>
          <p:cNvSpPr>
            <a:spLocks noGrp="1"/>
          </p:cNvSpPr>
          <p:nvPr>
            <p:ph type="sldNum" sz="quarter" idx="12"/>
          </p:nvPr>
        </p:nvSpPr>
        <p:spPr/>
        <p:txBody>
          <a:bodyPr/>
          <a:lstStyle/>
          <a:p>
            <a:fld id="{E30AF5A0-43BB-4336-8627-9123B9144D80}" type="slidenum">
              <a:rPr lang="en-US" dirty="0"/>
              <a:t>20</a:t>
            </a:fld>
            <a:endParaRPr lang="en-US"/>
          </a:p>
        </p:txBody>
      </p:sp>
      <p:pic>
        <p:nvPicPr>
          <p:cNvPr id="7" name="Picture 6" descr="2,064,800+ Person Thinking Stock Photos, Pictures &amp; Royalty ...">
            <a:extLst>
              <a:ext uri="{FF2B5EF4-FFF2-40B4-BE49-F238E27FC236}">
                <a16:creationId xmlns:a16="http://schemas.microsoft.com/office/drawing/2014/main" id="{032AB931-434C-553D-8333-E567EE7695C5}"/>
              </a:ext>
            </a:extLst>
          </p:cNvPr>
          <p:cNvPicPr>
            <a:picLocks noChangeAspect="1"/>
          </p:cNvPicPr>
          <p:nvPr/>
        </p:nvPicPr>
        <p:blipFill>
          <a:blip r:embed="rId2"/>
          <a:stretch>
            <a:fillRect/>
          </a:stretch>
        </p:blipFill>
        <p:spPr>
          <a:xfrm>
            <a:off x="1546693" y="916922"/>
            <a:ext cx="2868146" cy="2177864"/>
          </a:xfrm>
          <a:prstGeom prst="rect">
            <a:avLst/>
          </a:prstGeom>
        </p:spPr>
      </p:pic>
    </p:spTree>
    <p:extLst>
      <p:ext uri="{BB962C8B-B14F-4D97-AF65-F5344CB8AC3E}">
        <p14:creationId xmlns:p14="http://schemas.microsoft.com/office/powerpoint/2010/main" val="1384943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08B37-6BA0-329F-972B-4C94AAE68996}"/>
              </a:ext>
            </a:extLst>
          </p:cNvPr>
          <p:cNvSpPr>
            <a:spLocks noGrp="1"/>
          </p:cNvSpPr>
          <p:nvPr>
            <p:ph type="dt" sz="half" idx="10"/>
          </p:nvPr>
        </p:nvSpPr>
        <p:spPr/>
        <p:txBody>
          <a:bodyPr/>
          <a:lstStyle/>
          <a:p>
            <a:fld id="{3312CDE7-9297-4BE1-8DB6-2A5FA25BA063}" type="datetime1">
              <a:t>9/17/2025</a:t>
            </a:fld>
            <a:endParaRPr lang="en-US"/>
          </a:p>
        </p:txBody>
      </p:sp>
      <p:sp>
        <p:nvSpPr>
          <p:cNvPr id="3" name="Footer Placeholder 2">
            <a:extLst>
              <a:ext uri="{FF2B5EF4-FFF2-40B4-BE49-F238E27FC236}">
                <a16:creationId xmlns:a16="http://schemas.microsoft.com/office/drawing/2014/main" id="{B4F60BD1-5802-7DA3-0816-BAA9877774ED}"/>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282EA91B-897D-43A8-033C-EF4C7545E391}"/>
              </a:ext>
            </a:extLst>
          </p:cNvPr>
          <p:cNvSpPr>
            <a:spLocks noGrp="1"/>
          </p:cNvSpPr>
          <p:nvPr>
            <p:ph type="sldNum" sz="quarter" idx="12"/>
          </p:nvPr>
        </p:nvSpPr>
        <p:spPr/>
        <p:txBody>
          <a:bodyPr/>
          <a:lstStyle/>
          <a:p>
            <a:fld id="{E30AF5A0-43BB-4336-8627-9123B9144D80}" type="slidenum">
              <a:rPr lang="en-US" dirty="0"/>
              <a:t>21</a:t>
            </a:fld>
            <a:endParaRPr lang="en-US"/>
          </a:p>
        </p:txBody>
      </p:sp>
      <p:pic>
        <p:nvPicPr>
          <p:cNvPr id="5" name="Picture 4" descr="VAE: Variational Autoencoders - How to Employ Neural Networks to Generate  New Images | Towards Data Science">
            <a:extLst>
              <a:ext uri="{FF2B5EF4-FFF2-40B4-BE49-F238E27FC236}">
                <a16:creationId xmlns:a16="http://schemas.microsoft.com/office/drawing/2014/main" id="{9948A2AA-677C-78E0-1296-413F02C646D6}"/>
              </a:ext>
            </a:extLst>
          </p:cNvPr>
          <p:cNvPicPr>
            <a:picLocks noChangeAspect="1"/>
          </p:cNvPicPr>
          <p:nvPr/>
        </p:nvPicPr>
        <p:blipFill>
          <a:blip r:embed="rId2"/>
          <a:stretch>
            <a:fillRect/>
          </a:stretch>
        </p:blipFill>
        <p:spPr>
          <a:xfrm>
            <a:off x="0" y="477796"/>
            <a:ext cx="12192000" cy="5902408"/>
          </a:xfrm>
          <a:prstGeom prst="rect">
            <a:avLst/>
          </a:prstGeom>
        </p:spPr>
      </p:pic>
    </p:spTree>
    <p:extLst>
      <p:ext uri="{BB962C8B-B14F-4D97-AF65-F5344CB8AC3E}">
        <p14:creationId xmlns:p14="http://schemas.microsoft.com/office/powerpoint/2010/main" val="3789010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09196F-512A-F4BF-4345-ABD7A7087FA3}"/>
              </a:ext>
            </a:extLst>
          </p:cNvPr>
          <p:cNvSpPr>
            <a:spLocks noGrp="1"/>
          </p:cNvSpPr>
          <p:nvPr>
            <p:ph type="dt" sz="half" idx="10"/>
          </p:nvPr>
        </p:nvSpPr>
        <p:spPr/>
        <p:txBody>
          <a:bodyPr/>
          <a:lstStyle/>
          <a:p>
            <a:fld id="{EDF7278F-BCBD-4848-BCBD-8775DC8CD737}" type="datetime1">
              <a:t>9/17/2025</a:t>
            </a:fld>
            <a:endParaRPr lang="en-US"/>
          </a:p>
        </p:txBody>
      </p:sp>
      <p:sp>
        <p:nvSpPr>
          <p:cNvPr id="3" name="Footer Placeholder 2">
            <a:extLst>
              <a:ext uri="{FF2B5EF4-FFF2-40B4-BE49-F238E27FC236}">
                <a16:creationId xmlns:a16="http://schemas.microsoft.com/office/drawing/2014/main" id="{990AD136-AB7E-F6FE-A310-AF52BD2642C6}"/>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BE55F0A-702A-4088-CD92-BCF21BD857F1}"/>
              </a:ext>
            </a:extLst>
          </p:cNvPr>
          <p:cNvSpPr>
            <a:spLocks noGrp="1"/>
          </p:cNvSpPr>
          <p:nvPr>
            <p:ph type="sldNum" sz="quarter" idx="12"/>
          </p:nvPr>
        </p:nvSpPr>
        <p:spPr/>
        <p:txBody>
          <a:bodyPr/>
          <a:lstStyle/>
          <a:p>
            <a:fld id="{E30AF5A0-43BB-4336-8627-9123B9144D80}" type="slidenum">
              <a:rPr lang="en-US" dirty="0"/>
              <a:t>22</a:t>
            </a:fld>
            <a:endParaRPr lang="en-US"/>
          </a:p>
        </p:txBody>
      </p:sp>
      <p:pic>
        <p:nvPicPr>
          <p:cNvPr id="6" name="Picture 5" descr="A diagram of a cell phone diagram&#10;&#10;AI-generated content may be incorrect.">
            <a:extLst>
              <a:ext uri="{FF2B5EF4-FFF2-40B4-BE49-F238E27FC236}">
                <a16:creationId xmlns:a16="http://schemas.microsoft.com/office/drawing/2014/main" id="{45D30943-1EAB-C7D0-68EA-7E7DF2EF7999}"/>
              </a:ext>
            </a:extLst>
          </p:cNvPr>
          <p:cNvPicPr>
            <a:picLocks noChangeAspect="1"/>
          </p:cNvPicPr>
          <p:nvPr/>
        </p:nvPicPr>
        <p:blipFill>
          <a:blip r:embed="rId2"/>
          <a:srcRect l="18637" t="11395" r="139" b="233"/>
          <a:stretch>
            <a:fillRect/>
          </a:stretch>
        </p:blipFill>
        <p:spPr>
          <a:xfrm>
            <a:off x="2982077" y="861238"/>
            <a:ext cx="6060262" cy="3905370"/>
          </a:xfrm>
          <a:prstGeom prst="rect">
            <a:avLst/>
          </a:prstGeom>
        </p:spPr>
      </p:pic>
      <p:sp>
        <p:nvSpPr>
          <p:cNvPr id="7" name="TextBox 6">
            <a:extLst>
              <a:ext uri="{FF2B5EF4-FFF2-40B4-BE49-F238E27FC236}">
                <a16:creationId xmlns:a16="http://schemas.microsoft.com/office/drawing/2014/main" id="{E81CFA89-D9A6-36E8-4314-84BA072FF13C}"/>
              </a:ext>
            </a:extLst>
          </p:cNvPr>
          <p:cNvSpPr txBox="1"/>
          <p:nvPr/>
        </p:nvSpPr>
        <p:spPr>
          <a:xfrm>
            <a:off x="942336" y="4953824"/>
            <a:ext cx="1013912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Bef>
                <a:spcPct val="0"/>
              </a:spcBef>
              <a:spcAft>
                <a:spcPct val="0"/>
              </a:spcAft>
            </a:pPr>
            <a:r>
              <a:rPr lang="en-US" sz="2400" b="1">
                <a:latin typeface="Calisto MT"/>
                <a:cs typeface="Arial"/>
              </a:rPr>
              <a:t>Interpolation</a:t>
            </a:r>
            <a:r>
              <a:rPr lang="en-US" sz="2400">
                <a:latin typeface="Calisto MT"/>
                <a:cs typeface="Arial"/>
              </a:rPr>
              <a:t>: </a:t>
            </a:r>
            <a:r>
              <a:rPr lang="en-US" sz="2400">
                <a:ea typeface="+mn-lt"/>
                <a:cs typeface="+mn-lt"/>
              </a:rPr>
              <a:t>If the latent space actually captured meaningful factors, the decoded images along the path should show </a:t>
            </a:r>
            <a:r>
              <a:rPr lang="en-US" sz="2400" b="1">
                <a:ea typeface="+mn-lt"/>
                <a:cs typeface="+mn-lt"/>
              </a:rPr>
              <a:t>smooth, realistic transitions</a:t>
            </a:r>
            <a:endParaRPr lang="en-US">
              <a:ea typeface="+mn-lt"/>
              <a:cs typeface="+mn-lt"/>
            </a:endParaRPr>
          </a:p>
        </p:txBody>
      </p:sp>
    </p:spTree>
    <p:extLst>
      <p:ext uri="{BB962C8B-B14F-4D97-AF65-F5344CB8AC3E}">
        <p14:creationId xmlns:p14="http://schemas.microsoft.com/office/powerpoint/2010/main" val="121282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3E916F-ECAF-9F9F-D245-1B7B09C83173}"/>
              </a:ext>
            </a:extLst>
          </p:cNvPr>
          <p:cNvSpPr>
            <a:spLocks noGrp="1"/>
          </p:cNvSpPr>
          <p:nvPr>
            <p:ph type="dt" sz="half" idx="10"/>
          </p:nvPr>
        </p:nvSpPr>
        <p:spPr/>
        <p:txBody>
          <a:bodyPr/>
          <a:lstStyle/>
          <a:p>
            <a:fld id="{17398F55-1C23-4FDF-9485-FAB9C388E394}" type="datetime1">
              <a:t>9/17/2025</a:t>
            </a:fld>
            <a:endParaRPr lang="en-US"/>
          </a:p>
        </p:txBody>
      </p:sp>
      <p:sp>
        <p:nvSpPr>
          <p:cNvPr id="3" name="Footer Placeholder 2">
            <a:extLst>
              <a:ext uri="{FF2B5EF4-FFF2-40B4-BE49-F238E27FC236}">
                <a16:creationId xmlns:a16="http://schemas.microsoft.com/office/drawing/2014/main" id="{4C5E8854-0D7C-1D16-01A4-F661ECA51BB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4EE6D988-E2E0-B219-790D-7901F19A9311}"/>
              </a:ext>
            </a:extLst>
          </p:cNvPr>
          <p:cNvSpPr>
            <a:spLocks noGrp="1"/>
          </p:cNvSpPr>
          <p:nvPr>
            <p:ph type="sldNum" sz="quarter" idx="12"/>
          </p:nvPr>
        </p:nvSpPr>
        <p:spPr/>
        <p:txBody>
          <a:bodyPr/>
          <a:lstStyle/>
          <a:p>
            <a:fld id="{E30AF5A0-43BB-4336-8627-9123B9144D80}" type="slidenum">
              <a:rPr lang="en-US" dirty="0"/>
              <a:t>23</a:t>
            </a:fld>
            <a:endParaRPr lang="en-US"/>
          </a:p>
        </p:txBody>
      </p:sp>
      <p:pic>
        <p:nvPicPr>
          <p:cNvPr id="5" name="Picture 4" descr="CVPR 2021 Oral] Soft-IntroVAE Project Site | soft-intro-vae-web">
            <a:extLst>
              <a:ext uri="{FF2B5EF4-FFF2-40B4-BE49-F238E27FC236}">
                <a16:creationId xmlns:a16="http://schemas.microsoft.com/office/drawing/2014/main" id="{EC88FF87-0637-0094-2C5B-C63CB74AFCF2}"/>
              </a:ext>
            </a:extLst>
          </p:cNvPr>
          <p:cNvPicPr>
            <a:picLocks noChangeAspect="1"/>
          </p:cNvPicPr>
          <p:nvPr/>
        </p:nvPicPr>
        <p:blipFill>
          <a:blip r:embed="rId2"/>
          <a:stretch>
            <a:fillRect/>
          </a:stretch>
        </p:blipFill>
        <p:spPr>
          <a:xfrm>
            <a:off x="2980151" y="447413"/>
            <a:ext cx="6304767" cy="6098870"/>
          </a:xfrm>
          <a:prstGeom prst="rect">
            <a:avLst/>
          </a:prstGeom>
        </p:spPr>
      </p:pic>
    </p:spTree>
    <p:extLst>
      <p:ext uri="{BB962C8B-B14F-4D97-AF65-F5344CB8AC3E}">
        <p14:creationId xmlns:p14="http://schemas.microsoft.com/office/powerpoint/2010/main" val="1320400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B4C8EF-4E11-3E41-7ED2-2063CBD3C6A2}"/>
              </a:ext>
            </a:extLst>
          </p:cNvPr>
          <p:cNvSpPr>
            <a:spLocks noGrp="1"/>
          </p:cNvSpPr>
          <p:nvPr>
            <p:ph type="dt" sz="half" idx="10"/>
          </p:nvPr>
        </p:nvSpPr>
        <p:spPr/>
        <p:txBody>
          <a:bodyPr/>
          <a:lstStyle/>
          <a:p>
            <a:fld id="{0B6467EB-67EF-4D72-8345-460BA6B97DC9}" type="datetime1">
              <a:t>9/17/2025</a:t>
            </a:fld>
            <a:endParaRPr lang="en-US"/>
          </a:p>
        </p:txBody>
      </p:sp>
      <p:sp>
        <p:nvSpPr>
          <p:cNvPr id="3" name="Footer Placeholder 2">
            <a:extLst>
              <a:ext uri="{FF2B5EF4-FFF2-40B4-BE49-F238E27FC236}">
                <a16:creationId xmlns:a16="http://schemas.microsoft.com/office/drawing/2014/main" id="{B2CC53CE-ED0D-38D6-4890-2EB512A07133}"/>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4717C47F-EBCD-DE6B-757A-4EF6EAFC9400}"/>
              </a:ext>
            </a:extLst>
          </p:cNvPr>
          <p:cNvSpPr>
            <a:spLocks noGrp="1"/>
          </p:cNvSpPr>
          <p:nvPr>
            <p:ph type="sldNum" sz="quarter" idx="12"/>
          </p:nvPr>
        </p:nvSpPr>
        <p:spPr/>
        <p:txBody>
          <a:bodyPr/>
          <a:lstStyle/>
          <a:p>
            <a:fld id="{E30AF5A0-43BB-4336-8627-9123B9144D80}" type="slidenum">
              <a:rPr lang="en-US" dirty="0"/>
              <a:t>24</a:t>
            </a:fld>
            <a:endParaRPr lang="en-US"/>
          </a:p>
        </p:txBody>
      </p:sp>
      <p:pic>
        <p:nvPicPr>
          <p:cNvPr id="5" name="Picture 4" descr="A diagram of a cell division&#10;&#10;AI-generated content may be incorrect.">
            <a:extLst>
              <a:ext uri="{FF2B5EF4-FFF2-40B4-BE49-F238E27FC236}">
                <a16:creationId xmlns:a16="http://schemas.microsoft.com/office/drawing/2014/main" id="{E27146D3-407A-CBB7-A67B-3813AA83306B}"/>
              </a:ext>
            </a:extLst>
          </p:cNvPr>
          <p:cNvPicPr>
            <a:picLocks noChangeAspect="1"/>
          </p:cNvPicPr>
          <p:nvPr/>
        </p:nvPicPr>
        <p:blipFill>
          <a:blip r:embed="rId2"/>
          <a:srcRect t="6714" r="273" b="353"/>
          <a:stretch>
            <a:fillRect/>
          </a:stretch>
        </p:blipFill>
        <p:spPr>
          <a:xfrm>
            <a:off x="3162801" y="937713"/>
            <a:ext cx="5864489" cy="4219659"/>
          </a:xfrm>
          <a:prstGeom prst="rect">
            <a:avLst/>
          </a:prstGeom>
        </p:spPr>
      </p:pic>
      <p:sp>
        <p:nvSpPr>
          <p:cNvPr id="6" name="TextBox 5">
            <a:extLst>
              <a:ext uri="{FF2B5EF4-FFF2-40B4-BE49-F238E27FC236}">
                <a16:creationId xmlns:a16="http://schemas.microsoft.com/office/drawing/2014/main" id="{AFB03546-A4CB-4B30-6409-4BA5BF582AAE}"/>
              </a:ext>
            </a:extLst>
          </p:cNvPr>
          <p:cNvSpPr txBox="1"/>
          <p:nvPr/>
        </p:nvSpPr>
        <p:spPr>
          <a:xfrm>
            <a:off x="3342138" y="5532972"/>
            <a:ext cx="5700637" cy="4582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6B5C5AD7-E319-D403-ED98-3F595059407D}"/>
              </a:ext>
            </a:extLst>
          </p:cNvPr>
          <p:cNvSpPr txBox="1"/>
          <p:nvPr/>
        </p:nvSpPr>
        <p:spPr>
          <a:xfrm>
            <a:off x="671490" y="5251304"/>
            <a:ext cx="1085429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Bef>
                <a:spcPct val="0"/>
              </a:spcBef>
              <a:spcAft>
                <a:spcPct val="0"/>
              </a:spcAft>
            </a:pPr>
            <a:r>
              <a:rPr lang="en-US" sz="2400" b="1">
                <a:latin typeface="Arial"/>
                <a:cs typeface="Arial"/>
              </a:rPr>
              <a:t>Trajectories</a:t>
            </a:r>
            <a:r>
              <a:rPr lang="en-US" sz="2400">
                <a:latin typeface="Arial"/>
                <a:cs typeface="Arial"/>
              </a:rPr>
              <a:t> link cellular behavior to microenvironment cues </a:t>
            </a:r>
            <a:endParaRPr lang="en-US" sz="2400">
              <a:latin typeface="Calisto MT" panose="02040603050505030304"/>
              <a:cs typeface="Arial"/>
            </a:endParaRPr>
          </a:p>
          <a:p>
            <a:pPr algn="ctr">
              <a:spcBef>
                <a:spcPct val="0"/>
              </a:spcBef>
              <a:spcAft>
                <a:spcPct val="0"/>
              </a:spcAft>
            </a:pPr>
            <a:r>
              <a:rPr lang="en-US" sz="2400">
                <a:latin typeface="Arial"/>
                <a:cs typeface="Arial"/>
              </a:rPr>
              <a:t>(i.e. host tissue contact -&gt; ERK signaling, cancer cell cluster sizes, etc)</a:t>
            </a:r>
            <a:endParaRPr lang="en-US" sz="2400"/>
          </a:p>
          <a:p>
            <a:pPr algn="l"/>
            <a:endParaRPr lang="en-US"/>
          </a:p>
        </p:txBody>
      </p:sp>
    </p:spTree>
    <p:extLst>
      <p:ext uri="{BB962C8B-B14F-4D97-AF65-F5344CB8AC3E}">
        <p14:creationId xmlns:p14="http://schemas.microsoft.com/office/powerpoint/2010/main" val="4108539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F368D2-90BA-3510-3255-2860BC0581B9}"/>
              </a:ext>
            </a:extLst>
          </p:cNvPr>
          <p:cNvSpPr>
            <a:spLocks noGrp="1"/>
          </p:cNvSpPr>
          <p:nvPr>
            <p:ph type="dt" sz="half" idx="10"/>
          </p:nvPr>
        </p:nvSpPr>
        <p:spPr/>
        <p:txBody>
          <a:bodyPr/>
          <a:lstStyle/>
          <a:p>
            <a:fld id="{60BA9D77-4325-4BC6-AEEC-83BD65FC93EF}" type="datetime1">
              <a:t>9/17/2025</a:t>
            </a:fld>
            <a:endParaRPr lang="en-US"/>
          </a:p>
        </p:txBody>
      </p:sp>
      <p:sp>
        <p:nvSpPr>
          <p:cNvPr id="3" name="Footer Placeholder 2">
            <a:extLst>
              <a:ext uri="{FF2B5EF4-FFF2-40B4-BE49-F238E27FC236}">
                <a16:creationId xmlns:a16="http://schemas.microsoft.com/office/drawing/2014/main" id="{D9F74064-20B7-C13D-B83C-59D56A850EE4}"/>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586C45B2-05AF-4E4B-A614-7C5540C549A1}"/>
              </a:ext>
            </a:extLst>
          </p:cNvPr>
          <p:cNvSpPr>
            <a:spLocks noGrp="1"/>
          </p:cNvSpPr>
          <p:nvPr>
            <p:ph type="sldNum" sz="quarter" idx="12"/>
          </p:nvPr>
        </p:nvSpPr>
        <p:spPr/>
        <p:txBody>
          <a:bodyPr/>
          <a:lstStyle/>
          <a:p>
            <a:fld id="{E30AF5A0-43BB-4336-8627-9123B9144D80}" type="slidenum">
              <a:rPr lang="en-US" dirty="0"/>
              <a:t>25</a:t>
            </a:fld>
            <a:endParaRPr lang="en-US"/>
          </a:p>
        </p:txBody>
      </p:sp>
      <p:pic>
        <p:nvPicPr>
          <p:cNvPr id="6" name="Picture 5" descr="A graph of a cell model&#10;&#10;AI-generated content may be incorrect.">
            <a:extLst>
              <a:ext uri="{FF2B5EF4-FFF2-40B4-BE49-F238E27FC236}">
                <a16:creationId xmlns:a16="http://schemas.microsoft.com/office/drawing/2014/main" id="{1B7C8170-12C5-3A7F-860F-4B18AC960FD8}"/>
              </a:ext>
            </a:extLst>
          </p:cNvPr>
          <p:cNvPicPr>
            <a:picLocks noChangeAspect="1"/>
          </p:cNvPicPr>
          <p:nvPr/>
        </p:nvPicPr>
        <p:blipFill>
          <a:blip r:embed="rId2"/>
          <a:stretch>
            <a:fillRect/>
          </a:stretch>
        </p:blipFill>
        <p:spPr>
          <a:xfrm>
            <a:off x="5626269" y="834692"/>
            <a:ext cx="4949992" cy="4819650"/>
          </a:xfrm>
          <a:prstGeom prst="rect">
            <a:avLst/>
          </a:prstGeom>
        </p:spPr>
      </p:pic>
      <p:pic>
        <p:nvPicPr>
          <p:cNvPr id="7" name="Picture 6">
            <a:extLst>
              <a:ext uri="{FF2B5EF4-FFF2-40B4-BE49-F238E27FC236}">
                <a16:creationId xmlns:a16="http://schemas.microsoft.com/office/drawing/2014/main" id="{2DB8843B-7FB0-929D-1094-71BA076D6B1C}"/>
              </a:ext>
            </a:extLst>
          </p:cNvPr>
          <p:cNvPicPr>
            <a:picLocks noChangeAspect="1"/>
          </p:cNvPicPr>
          <p:nvPr/>
        </p:nvPicPr>
        <p:blipFill>
          <a:blip r:embed="rId3"/>
          <a:stretch>
            <a:fillRect/>
          </a:stretch>
        </p:blipFill>
        <p:spPr>
          <a:xfrm>
            <a:off x="5481888" y="5737810"/>
            <a:ext cx="5238750" cy="371475"/>
          </a:xfrm>
          <a:prstGeom prst="rect">
            <a:avLst/>
          </a:prstGeom>
        </p:spPr>
      </p:pic>
      <p:sp>
        <p:nvSpPr>
          <p:cNvPr id="8" name="TextBox 7">
            <a:extLst>
              <a:ext uri="{FF2B5EF4-FFF2-40B4-BE49-F238E27FC236}">
                <a16:creationId xmlns:a16="http://schemas.microsoft.com/office/drawing/2014/main" id="{89D532BF-2265-6624-6ED6-D96F9D914AF1}"/>
              </a:ext>
            </a:extLst>
          </p:cNvPr>
          <p:cNvSpPr txBox="1"/>
          <p:nvPr/>
        </p:nvSpPr>
        <p:spPr>
          <a:xfrm>
            <a:off x="878590" y="1718470"/>
            <a:ext cx="474871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spcAft>
                <a:spcPct val="0"/>
              </a:spcAft>
            </a:pPr>
            <a:r>
              <a:rPr lang="en-US" sz="2400" b="1">
                <a:latin typeface="Arial"/>
                <a:cs typeface="Arial"/>
              </a:rPr>
              <a:t>Latent space</a:t>
            </a:r>
            <a:r>
              <a:rPr lang="en-US" sz="2400">
                <a:latin typeface="Arial"/>
                <a:cs typeface="Arial"/>
              </a:rPr>
              <a:t> maps ERK activity to microenvironmental cues</a:t>
            </a:r>
            <a:endParaRPr lang="en-US" sz="2400"/>
          </a:p>
          <a:p>
            <a:pPr algn="l"/>
            <a:endParaRPr lang="en-US"/>
          </a:p>
        </p:txBody>
      </p:sp>
    </p:spTree>
    <p:extLst>
      <p:ext uri="{BB962C8B-B14F-4D97-AF65-F5344CB8AC3E}">
        <p14:creationId xmlns:p14="http://schemas.microsoft.com/office/powerpoint/2010/main" val="203749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6AC43B6-A30C-6364-DE49-8E1F5C609E44}"/>
              </a:ext>
            </a:extLst>
          </p:cNvPr>
          <p:cNvSpPr>
            <a:spLocks noGrp="1"/>
          </p:cNvSpPr>
          <p:nvPr>
            <p:ph idx="1"/>
          </p:nvPr>
        </p:nvSpPr>
        <p:spPr>
          <a:xfrm>
            <a:off x="575374" y="2940304"/>
            <a:ext cx="10680827" cy="3604773"/>
          </a:xfrm>
        </p:spPr>
        <p:txBody>
          <a:bodyPr vert="horz" lIns="91440" tIns="45720" rIns="91440" bIns="45720" rtlCol="0" anchor="t">
            <a:normAutofit/>
          </a:bodyPr>
          <a:lstStyle/>
          <a:p>
            <a:pPr marL="0" indent="0">
              <a:lnSpc>
                <a:spcPct val="100000"/>
              </a:lnSpc>
              <a:spcBef>
                <a:spcPts val="0"/>
              </a:spcBef>
              <a:buNone/>
            </a:pPr>
            <a:r>
              <a:rPr lang="en-US"/>
              <a:t>A VAE works like your detective’s </a:t>
            </a:r>
            <a:r>
              <a:rPr lang="en-US" err="1"/>
              <a:t>caseboard</a:t>
            </a:r>
            <a:r>
              <a:rPr lang="en-US"/>
              <a:t>. It takes all that messy evidence (in my case, 3D multi-channel cell images) and distills it into neat, connected clues on the board (latent space). Suddenly, patterns emerge: who was near the scene, when people moved, what events happened close together.</a:t>
            </a:r>
            <a:endParaRPr lang="en-US" i="1"/>
          </a:p>
          <a:p>
            <a:pPr>
              <a:lnSpc>
                <a:spcPct val="100000"/>
              </a:lnSpc>
              <a:spcBef>
                <a:spcPts val="0"/>
              </a:spcBef>
            </a:pPr>
            <a:endParaRPr lang="en-US"/>
          </a:p>
          <a:p>
            <a:pPr marL="0" indent="0">
              <a:lnSpc>
                <a:spcPct val="100000"/>
              </a:lnSpc>
              <a:spcBef>
                <a:spcPts val="0"/>
              </a:spcBef>
              <a:buNone/>
            </a:pPr>
            <a:r>
              <a:rPr lang="en-US" b="1"/>
              <a:t>Now we can</a:t>
            </a:r>
            <a:r>
              <a:rPr lang="en-US"/>
              <a:t>:</a:t>
            </a:r>
            <a:br>
              <a:rPr lang="en-US"/>
            </a:br>
            <a:r>
              <a:rPr lang="en-US">
                <a:ea typeface="+mn-lt"/>
                <a:cs typeface="+mn-lt"/>
              </a:rPr>
              <a:t>1️⃣ </a:t>
            </a:r>
            <a:r>
              <a:rPr lang="en-US" b="1">
                <a:ea typeface="+mn-lt"/>
                <a:cs typeface="+mn-lt"/>
              </a:rPr>
              <a:t>Rebuild the crime scene</a:t>
            </a:r>
            <a:r>
              <a:rPr lang="en-US">
                <a:ea typeface="+mn-lt"/>
                <a:cs typeface="+mn-lt"/>
              </a:rPr>
              <a:t> — recreate what happened from the condensed clues (decode)</a:t>
            </a:r>
            <a:br>
              <a:rPr lang="en-US">
                <a:ea typeface="+mn-lt"/>
                <a:cs typeface="+mn-lt"/>
              </a:rPr>
            </a:br>
            <a:r>
              <a:rPr lang="en-US">
                <a:ea typeface="+mn-lt"/>
                <a:cs typeface="+mn-lt"/>
              </a:rPr>
              <a:t>2️⃣ </a:t>
            </a:r>
            <a:r>
              <a:rPr lang="en-US" b="1">
                <a:ea typeface="+mn-lt"/>
                <a:cs typeface="+mn-lt"/>
              </a:rPr>
              <a:t>Connect the dots</a:t>
            </a:r>
            <a:r>
              <a:rPr lang="en-US">
                <a:ea typeface="+mn-lt"/>
                <a:cs typeface="+mn-lt"/>
              </a:rPr>
              <a:t> — imagine the missing moments between two known events (interpolate)</a:t>
            </a:r>
            <a:br>
              <a:rPr lang="en-US">
                <a:ea typeface="+mn-lt"/>
                <a:cs typeface="+mn-lt"/>
              </a:rPr>
            </a:br>
            <a:r>
              <a:rPr lang="en-US">
                <a:ea typeface="+mn-lt"/>
                <a:cs typeface="+mn-lt"/>
              </a:rPr>
              <a:t>3️⃣ </a:t>
            </a:r>
            <a:r>
              <a:rPr lang="en-US" b="1">
                <a:ea typeface="+mn-lt"/>
                <a:cs typeface="+mn-lt"/>
              </a:rPr>
              <a:t>Spot the future culprits</a:t>
            </a:r>
            <a:r>
              <a:rPr lang="en-US">
                <a:ea typeface="+mn-lt"/>
                <a:cs typeface="+mn-lt"/>
              </a:rPr>
              <a:t> — identify which “suspects” or cells are most likely to make their move next. (predict)</a:t>
            </a:r>
            <a:endParaRPr lang="en-US"/>
          </a:p>
        </p:txBody>
      </p:sp>
      <p:sp>
        <p:nvSpPr>
          <p:cNvPr id="2" name="Date Placeholder 1">
            <a:extLst>
              <a:ext uri="{FF2B5EF4-FFF2-40B4-BE49-F238E27FC236}">
                <a16:creationId xmlns:a16="http://schemas.microsoft.com/office/drawing/2014/main" id="{220E7E46-BBFF-C807-CC84-500B8F03FE3F}"/>
              </a:ext>
            </a:extLst>
          </p:cNvPr>
          <p:cNvSpPr>
            <a:spLocks noGrp="1"/>
          </p:cNvSpPr>
          <p:nvPr>
            <p:ph type="dt" sz="half" idx="10"/>
          </p:nvPr>
        </p:nvSpPr>
        <p:spPr/>
        <p:txBody>
          <a:bodyPr/>
          <a:lstStyle/>
          <a:p>
            <a:fld id="{CCDB99C4-DB8A-4784-9B93-D0C933E36D05}" type="datetime1">
              <a:t>9/17/2025</a:t>
            </a:fld>
            <a:endParaRPr lang="en-US"/>
          </a:p>
        </p:txBody>
      </p:sp>
      <p:sp>
        <p:nvSpPr>
          <p:cNvPr id="3" name="Footer Placeholder 2">
            <a:extLst>
              <a:ext uri="{FF2B5EF4-FFF2-40B4-BE49-F238E27FC236}">
                <a16:creationId xmlns:a16="http://schemas.microsoft.com/office/drawing/2014/main" id="{E3C37CB4-DDAC-947F-C8FD-699435D0D437}"/>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9736289-1157-9DFA-1A82-98412F858976}"/>
              </a:ext>
            </a:extLst>
          </p:cNvPr>
          <p:cNvSpPr>
            <a:spLocks noGrp="1"/>
          </p:cNvSpPr>
          <p:nvPr>
            <p:ph type="sldNum" sz="quarter" idx="12"/>
          </p:nvPr>
        </p:nvSpPr>
        <p:spPr/>
        <p:txBody>
          <a:bodyPr/>
          <a:lstStyle/>
          <a:p>
            <a:fld id="{E30AF5A0-43BB-4336-8627-9123B9144D80}" type="slidenum">
              <a:rPr lang="en-US" dirty="0"/>
              <a:t>26</a:t>
            </a:fld>
            <a:endParaRPr lang="en-US"/>
          </a:p>
        </p:txBody>
      </p:sp>
      <p:pic>
        <p:nvPicPr>
          <p:cNvPr id="9" name="Picture 8" descr="8 Awesome Women Detectives in Comics - Nerdist">
            <a:extLst>
              <a:ext uri="{FF2B5EF4-FFF2-40B4-BE49-F238E27FC236}">
                <a16:creationId xmlns:a16="http://schemas.microsoft.com/office/drawing/2014/main" id="{E19977D5-3FD6-621C-2362-8C68C3EF501F}"/>
              </a:ext>
            </a:extLst>
          </p:cNvPr>
          <p:cNvPicPr>
            <a:picLocks noChangeAspect="1"/>
          </p:cNvPicPr>
          <p:nvPr/>
        </p:nvPicPr>
        <p:blipFill>
          <a:blip r:embed="rId2"/>
          <a:stretch>
            <a:fillRect/>
          </a:stretch>
        </p:blipFill>
        <p:spPr>
          <a:xfrm>
            <a:off x="716071" y="860935"/>
            <a:ext cx="3432131" cy="1941993"/>
          </a:xfrm>
          <a:prstGeom prst="rect">
            <a:avLst/>
          </a:prstGeom>
        </p:spPr>
      </p:pic>
      <p:sp>
        <p:nvSpPr>
          <p:cNvPr id="10" name="TextBox 9">
            <a:extLst>
              <a:ext uri="{FF2B5EF4-FFF2-40B4-BE49-F238E27FC236}">
                <a16:creationId xmlns:a16="http://schemas.microsoft.com/office/drawing/2014/main" id="{4B89DDCA-D72C-AECC-BFBA-387291F4787B}"/>
              </a:ext>
            </a:extLst>
          </p:cNvPr>
          <p:cNvSpPr txBox="1"/>
          <p:nvPr/>
        </p:nvSpPr>
        <p:spPr>
          <a:xfrm>
            <a:off x="4458024" y="1019002"/>
            <a:ext cx="6566717"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a:t>Picture this: a city wakes up to find a crime has been committed. You’re the detective. You’ve got hours of CCTV footage, piles of fingerprints, shoeprints in the mud, and witness statements...but they’re scattered everywhere and way too much to sort through one by one.</a:t>
            </a:r>
            <a:endParaRPr lang="en-US" sz="2000"/>
          </a:p>
        </p:txBody>
      </p:sp>
    </p:spTree>
    <p:extLst>
      <p:ext uri="{BB962C8B-B14F-4D97-AF65-F5344CB8AC3E}">
        <p14:creationId xmlns:p14="http://schemas.microsoft.com/office/powerpoint/2010/main" val="1693386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B2F6-D49D-8FE3-B3FF-EB91B55830EB}"/>
              </a:ext>
            </a:extLst>
          </p:cNvPr>
          <p:cNvSpPr>
            <a:spLocks noGrp="1"/>
          </p:cNvSpPr>
          <p:nvPr>
            <p:ph type="title"/>
          </p:nvPr>
        </p:nvSpPr>
        <p:spPr/>
        <p:txBody>
          <a:bodyPr/>
          <a:lstStyle/>
          <a:p>
            <a:pPr algn="ctr"/>
            <a:r>
              <a:rPr lang="en-US"/>
              <a:t>Implications</a:t>
            </a:r>
          </a:p>
        </p:txBody>
      </p:sp>
      <p:sp>
        <p:nvSpPr>
          <p:cNvPr id="3" name="Content Placeholder 2">
            <a:extLst>
              <a:ext uri="{FF2B5EF4-FFF2-40B4-BE49-F238E27FC236}">
                <a16:creationId xmlns:a16="http://schemas.microsoft.com/office/drawing/2014/main" id="{E775A20A-13AE-44FA-9329-B86C601EB750}"/>
              </a:ext>
            </a:extLst>
          </p:cNvPr>
          <p:cNvSpPr>
            <a:spLocks noGrp="1"/>
          </p:cNvSpPr>
          <p:nvPr>
            <p:ph idx="1"/>
          </p:nvPr>
        </p:nvSpPr>
        <p:spPr>
          <a:xfrm>
            <a:off x="709101" y="2094700"/>
            <a:ext cx="10682799" cy="3834514"/>
          </a:xfrm>
        </p:spPr>
        <p:txBody>
          <a:bodyPr vert="horz" lIns="91440" tIns="45720" rIns="91440" bIns="45720" rtlCol="0" anchor="t">
            <a:noAutofit/>
          </a:bodyPr>
          <a:lstStyle/>
          <a:p>
            <a:pPr marL="514350" indent="-514350"/>
            <a:r>
              <a:rPr lang="en-US" sz="2800">
                <a:latin typeface="Calisto MT"/>
                <a:ea typeface="+mn-lt"/>
                <a:cs typeface="Arial"/>
              </a:rPr>
              <a:t>Accurate cellular segmentation is critical for our pipeline, supporting reliable tracking, classification, and measurement, and provides the VAE with high-quality inputs to detect patterns.</a:t>
            </a:r>
          </a:p>
          <a:p>
            <a:pPr marL="0" indent="0">
              <a:buNone/>
            </a:pPr>
            <a:endParaRPr lang="en-US" sz="2800">
              <a:latin typeface="Calisto MT"/>
              <a:ea typeface="+mn-lt"/>
              <a:cs typeface="Arial"/>
            </a:endParaRPr>
          </a:p>
          <a:p>
            <a:pPr marL="457200" indent="-457200">
              <a:lnSpc>
                <a:spcPct val="100000"/>
              </a:lnSpc>
              <a:spcBef>
                <a:spcPts val="0"/>
              </a:spcBef>
              <a:buFont typeface="Arial,Sans-Serif" panose="020B0604020202020204" pitchFamily="34" charset="0"/>
            </a:pPr>
            <a:r>
              <a:rPr lang="en-US" sz="2800">
                <a:latin typeface="Calisto MT"/>
                <a:ea typeface="+mn-lt"/>
                <a:cs typeface="Arial"/>
              </a:rPr>
              <a:t>VAEs show promise in modeling early-stage invasion by capturing subtle single-cell transitions in latent space. Still, further refinement is required to optimize this approach.</a:t>
            </a:r>
          </a:p>
          <a:p>
            <a:pPr marL="514350" indent="-514350">
              <a:lnSpc>
                <a:spcPct val="100000"/>
              </a:lnSpc>
              <a:spcBef>
                <a:spcPct val="0"/>
              </a:spcBef>
              <a:spcAft>
                <a:spcPct val="0"/>
              </a:spcAft>
            </a:pPr>
            <a:endParaRPr lang="en-US" sz="2800">
              <a:ea typeface="+mn-lt"/>
              <a:cs typeface="Arial"/>
            </a:endParaRPr>
          </a:p>
        </p:txBody>
      </p:sp>
      <p:sp>
        <p:nvSpPr>
          <p:cNvPr id="4" name="Date Placeholder 3">
            <a:extLst>
              <a:ext uri="{FF2B5EF4-FFF2-40B4-BE49-F238E27FC236}">
                <a16:creationId xmlns:a16="http://schemas.microsoft.com/office/drawing/2014/main" id="{31F83A03-AA32-8226-F444-9F97B581EB9A}"/>
              </a:ext>
            </a:extLst>
          </p:cNvPr>
          <p:cNvSpPr>
            <a:spLocks noGrp="1"/>
          </p:cNvSpPr>
          <p:nvPr>
            <p:ph type="dt" sz="half" idx="10"/>
          </p:nvPr>
        </p:nvSpPr>
        <p:spPr/>
        <p:txBody>
          <a:bodyPr/>
          <a:lstStyle/>
          <a:p>
            <a:fld id="{0F2BF3C9-FDF9-4095-A3C3-3F5CA3A5651A}" type="datetime1">
              <a:t>9/17/2025</a:t>
            </a:fld>
            <a:endParaRPr lang="en-US"/>
          </a:p>
        </p:txBody>
      </p:sp>
      <p:sp>
        <p:nvSpPr>
          <p:cNvPr id="5" name="Footer Placeholder 4">
            <a:extLst>
              <a:ext uri="{FF2B5EF4-FFF2-40B4-BE49-F238E27FC236}">
                <a16:creationId xmlns:a16="http://schemas.microsoft.com/office/drawing/2014/main" id="{7064F059-FA4F-6518-9104-F7E308FF194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7BD16E2-813A-F2D3-DD91-ED3F931BA27F}"/>
              </a:ext>
            </a:extLst>
          </p:cNvPr>
          <p:cNvSpPr>
            <a:spLocks noGrp="1"/>
          </p:cNvSpPr>
          <p:nvPr>
            <p:ph type="sldNum" sz="quarter" idx="12"/>
          </p:nvPr>
        </p:nvSpPr>
        <p:spPr/>
        <p:txBody>
          <a:bodyPr/>
          <a:lstStyle/>
          <a:p>
            <a:fld id="{E30AF5A0-43BB-4336-8627-9123B9144D80}" type="slidenum">
              <a:rPr lang="en-US" dirty="0"/>
              <a:t>27</a:t>
            </a:fld>
            <a:endParaRPr lang="en-US"/>
          </a:p>
        </p:txBody>
      </p:sp>
    </p:spTree>
    <p:extLst>
      <p:ext uri="{BB962C8B-B14F-4D97-AF65-F5344CB8AC3E}">
        <p14:creationId xmlns:p14="http://schemas.microsoft.com/office/powerpoint/2010/main" val="3813456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B058F-87F3-0D6C-58FF-052BA1FC6B48}"/>
              </a:ext>
            </a:extLst>
          </p:cNvPr>
          <p:cNvSpPr>
            <a:spLocks noGrp="1"/>
          </p:cNvSpPr>
          <p:nvPr>
            <p:ph type="title"/>
          </p:nvPr>
        </p:nvSpPr>
        <p:spPr/>
        <p:txBody>
          <a:bodyPr/>
          <a:lstStyle/>
          <a:p>
            <a:pPr algn="ctr"/>
            <a:r>
              <a:rPr lang="en-US"/>
              <a:t>Summary</a:t>
            </a:r>
          </a:p>
        </p:txBody>
      </p:sp>
      <p:sp>
        <p:nvSpPr>
          <p:cNvPr id="3" name="Content Placeholder 2">
            <a:extLst>
              <a:ext uri="{FF2B5EF4-FFF2-40B4-BE49-F238E27FC236}">
                <a16:creationId xmlns:a16="http://schemas.microsoft.com/office/drawing/2014/main" id="{D52F919C-9E11-DF6F-CD0A-B47635A1675C}"/>
              </a:ext>
            </a:extLst>
          </p:cNvPr>
          <p:cNvSpPr>
            <a:spLocks noGrp="1"/>
          </p:cNvSpPr>
          <p:nvPr>
            <p:ph idx="1"/>
          </p:nvPr>
        </p:nvSpPr>
        <p:spPr>
          <a:xfrm>
            <a:off x="707756" y="1901445"/>
            <a:ext cx="10684144" cy="4027769"/>
          </a:xfrm>
        </p:spPr>
        <p:txBody>
          <a:bodyPr vert="horz" lIns="91440" tIns="45720" rIns="91440" bIns="45720" rtlCol="0" anchor="t">
            <a:normAutofit/>
          </a:bodyPr>
          <a:lstStyle/>
          <a:p>
            <a:pPr marL="0" indent="0">
              <a:buNone/>
            </a:pPr>
            <a:r>
              <a:rPr lang="en-US" sz="2800">
                <a:ea typeface="+mn-lt"/>
                <a:cs typeface="+mn-lt"/>
              </a:rPr>
              <a:t>Cancer in 4D is like a puzzle with thousands of hidden pieces. We’re building tools to see how they fit, and my piece could help reveal what drives cancer cells to invade</a:t>
            </a:r>
            <a:endParaRPr lang="en-US"/>
          </a:p>
        </p:txBody>
      </p:sp>
      <p:sp>
        <p:nvSpPr>
          <p:cNvPr id="4" name="Date Placeholder 3">
            <a:extLst>
              <a:ext uri="{FF2B5EF4-FFF2-40B4-BE49-F238E27FC236}">
                <a16:creationId xmlns:a16="http://schemas.microsoft.com/office/drawing/2014/main" id="{CBCB8096-5BF3-2851-8745-C099A1C7E409}"/>
              </a:ext>
            </a:extLst>
          </p:cNvPr>
          <p:cNvSpPr>
            <a:spLocks noGrp="1"/>
          </p:cNvSpPr>
          <p:nvPr>
            <p:ph type="dt" sz="half" idx="10"/>
          </p:nvPr>
        </p:nvSpPr>
        <p:spPr/>
        <p:txBody>
          <a:bodyPr/>
          <a:lstStyle/>
          <a:p>
            <a:fld id="{6A0D6737-2296-46C3-9C4A-EB4B95933776}" type="datetime1">
              <a:t>9/17/2025</a:t>
            </a:fld>
            <a:endParaRPr lang="en-US"/>
          </a:p>
        </p:txBody>
      </p:sp>
      <p:sp>
        <p:nvSpPr>
          <p:cNvPr id="5" name="Footer Placeholder 4">
            <a:extLst>
              <a:ext uri="{FF2B5EF4-FFF2-40B4-BE49-F238E27FC236}">
                <a16:creationId xmlns:a16="http://schemas.microsoft.com/office/drawing/2014/main" id="{7857DC9C-056E-1291-F430-0E93D2457EE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1EBA445-A45F-D5BA-2510-6B46DFDE715A}"/>
              </a:ext>
            </a:extLst>
          </p:cNvPr>
          <p:cNvSpPr>
            <a:spLocks noGrp="1"/>
          </p:cNvSpPr>
          <p:nvPr>
            <p:ph type="sldNum" sz="quarter" idx="12"/>
          </p:nvPr>
        </p:nvSpPr>
        <p:spPr/>
        <p:txBody>
          <a:bodyPr/>
          <a:lstStyle/>
          <a:p>
            <a:fld id="{E30AF5A0-43BB-4336-8627-9123B9144D80}" type="slidenum">
              <a:rPr lang="en-US" dirty="0"/>
              <a:t>28</a:t>
            </a:fld>
            <a:endParaRPr lang="en-US"/>
          </a:p>
        </p:txBody>
      </p:sp>
      <p:pic>
        <p:nvPicPr>
          <p:cNvPr id="7" name="Picture 6" descr="Jigsaw Puzzle Stock Illustrations – 117 ...">
            <a:extLst>
              <a:ext uri="{FF2B5EF4-FFF2-40B4-BE49-F238E27FC236}">
                <a16:creationId xmlns:a16="http://schemas.microsoft.com/office/drawing/2014/main" id="{22CEF358-8ABE-ED1A-9CA5-E2DF1A126C67}"/>
              </a:ext>
            </a:extLst>
          </p:cNvPr>
          <p:cNvPicPr>
            <a:picLocks noChangeAspect="1"/>
          </p:cNvPicPr>
          <p:nvPr/>
        </p:nvPicPr>
        <p:blipFill>
          <a:blip r:embed="rId2"/>
          <a:stretch>
            <a:fillRect/>
          </a:stretch>
        </p:blipFill>
        <p:spPr>
          <a:xfrm>
            <a:off x="4974615" y="3622299"/>
            <a:ext cx="2143125" cy="21431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84399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A56D-5029-C015-4CC2-87E33BAB6A9F}"/>
              </a:ext>
            </a:extLst>
          </p:cNvPr>
          <p:cNvSpPr>
            <a:spLocks noGrp="1"/>
          </p:cNvSpPr>
          <p:nvPr>
            <p:ph type="title"/>
          </p:nvPr>
        </p:nvSpPr>
        <p:spPr/>
        <p:txBody>
          <a:bodyPr/>
          <a:lstStyle/>
          <a:p>
            <a:pPr algn="ctr"/>
            <a:r>
              <a:rPr lang="en-US"/>
              <a:t>Methods</a:t>
            </a:r>
          </a:p>
        </p:txBody>
      </p:sp>
      <p:pic>
        <p:nvPicPr>
          <p:cNvPr id="7" name="Content Placeholder 6" descr="In-Depth Knowledge of Convolutional Neural Networks | by Suraj Yadav |  Medium">
            <a:extLst>
              <a:ext uri="{FF2B5EF4-FFF2-40B4-BE49-F238E27FC236}">
                <a16:creationId xmlns:a16="http://schemas.microsoft.com/office/drawing/2014/main" id="{6BE01023-B339-4B2C-6707-FF9A312E24BB}"/>
              </a:ext>
            </a:extLst>
          </p:cNvPr>
          <p:cNvPicPr>
            <a:picLocks noGrp="1" noChangeAspect="1"/>
          </p:cNvPicPr>
          <p:nvPr>
            <p:ph idx="1"/>
          </p:nvPr>
        </p:nvPicPr>
        <p:blipFill>
          <a:blip r:embed="rId2"/>
          <a:stretch>
            <a:fillRect/>
          </a:stretch>
        </p:blipFill>
        <p:spPr>
          <a:xfrm>
            <a:off x="3169332" y="1712671"/>
            <a:ext cx="5552045" cy="4150324"/>
          </a:xfrm>
          <a:prstGeom prst="rect">
            <a:avLst/>
          </a:prstGeom>
        </p:spPr>
      </p:pic>
      <p:sp>
        <p:nvSpPr>
          <p:cNvPr id="4" name="Date Placeholder 3">
            <a:extLst>
              <a:ext uri="{FF2B5EF4-FFF2-40B4-BE49-F238E27FC236}">
                <a16:creationId xmlns:a16="http://schemas.microsoft.com/office/drawing/2014/main" id="{EB2DB6F7-9E5B-16DA-86F1-B27763490602}"/>
              </a:ext>
            </a:extLst>
          </p:cNvPr>
          <p:cNvSpPr>
            <a:spLocks noGrp="1"/>
          </p:cNvSpPr>
          <p:nvPr>
            <p:ph type="dt" sz="half" idx="10"/>
          </p:nvPr>
        </p:nvSpPr>
        <p:spPr/>
        <p:txBody>
          <a:bodyPr/>
          <a:lstStyle/>
          <a:p>
            <a:fld id="{58742186-ECBC-4884-9579-E91E60F34FE7}" type="datetime1">
              <a:t>9/17/2025</a:t>
            </a:fld>
            <a:endParaRPr lang="en-US"/>
          </a:p>
        </p:txBody>
      </p:sp>
      <p:sp>
        <p:nvSpPr>
          <p:cNvPr id="5" name="Footer Placeholder 4">
            <a:extLst>
              <a:ext uri="{FF2B5EF4-FFF2-40B4-BE49-F238E27FC236}">
                <a16:creationId xmlns:a16="http://schemas.microsoft.com/office/drawing/2014/main" id="{9AC3DCDC-E3D6-2632-9F7F-4AED8B9EBA0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C35528B-F97F-899B-09C1-954DE3085F12}"/>
              </a:ext>
            </a:extLst>
          </p:cNvPr>
          <p:cNvSpPr>
            <a:spLocks noGrp="1"/>
          </p:cNvSpPr>
          <p:nvPr>
            <p:ph type="sldNum" sz="quarter" idx="12"/>
          </p:nvPr>
        </p:nvSpPr>
        <p:spPr/>
        <p:txBody>
          <a:bodyPr/>
          <a:lstStyle/>
          <a:p>
            <a:fld id="{E30AF5A0-43BB-4336-8627-9123B9144D80}" type="slidenum">
              <a:rPr lang="en-US" dirty="0"/>
              <a:t>29</a:t>
            </a:fld>
            <a:endParaRPr lang="en-US"/>
          </a:p>
        </p:txBody>
      </p:sp>
    </p:spTree>
    <p:extLst>
      <p:ext uri="{BB962C8B-B14F-4D97-AF65-F5344CB8AC3E}">
        <p14:creationId xmlns:p14="http://schemas.microsoft.com/office/powerpoint/2010/main" val="1903460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F309-BEA4-AF99-4419-338D3A03F5AD}"/>
              </a:ext>
            </a:extLst>
          </p:cNvPr>
          <p:cNvSpPr>
            <a:spLocks noGrp="1"/>
          </p:cNvSpPr>
          <p:nvPr>
            <p:ph type="title"/>
          </p:nvPr>
        </p:nvSpPr>
        <p:spPr>
          <a:xfrm>
            <a:off x="709101" y="820496"/>
            <a:ext cx="10682799" cy="1472630"/>
          </a:xfrm>
        </p:spPr>
        <p:txBody>
          <a:bodyPr/>
          <a:lstStyle/>
          <a:p>
            <a:r>
              <a:rPr lang="en-US"/>
              <a:t>  Results</a:t>
            </a:r>
          </a:p>
        </p:txBody>
      </p:sp>
      <p:pic>
        <p:nvPicPr>
          <p:cNvPr id="7" name="Content Placeholder 6">
            <a:extLst>
              <a:ext uri="{FF2B5EF4-FFF2-40B4-BE49-F238E27FC236}">
                <a16:creationId xmlns:a16="http://schemas.microsoft.com/office/drawing/2014/main" id="{20B13E41-0DA3-A46B-D248-A578E448DB0B}"/>
              </a:ext>
            </a:extLst>
          </p:cNvPr>
          <p:cNvPicPr>
            <a:picLocks noGrp="1" noChangeAspect="1"/>
          </p:cNvPicPr>
          <p:nvPr>
            <p:ph idx="1"/>
          </p:nvPr>
        </p:nvPicPr>
        <p:blipFill>
          <a:blip r:embed="rId2"/>
          <a:stretch>
            <a:fillRect/>
          </a:stretch>
        </p:blipFill>
        <p:spPr>
          <a:xfrm>
            <a:off x="4687189" y="933648"/>
            <a:ext cx="5943600" cy="1562100"/>
          </a:xfrm>
          <a:prstGeom prst="rect">
            <a:avLst/>
          </a:prstGeom>
          <a:ln>
            <a:noFill/>
          </a:ln>
          <a:effectLst>
            <a:outerShdw blurRad="292100" dist="139700" dir="2700000" algn="tl" rotWithShape="0">
              <a:srgbClr val="333333">
                <a:alpha val="65000"/>
              </a:srgbClr>
            </a:outerShdw>
          </a:effectLst>
        </p:spPr>
      </p:pic>
      <p:sp>
        <p:nvSpPr>
          <p:cNvPr id="4" name="Date Placeholder 3">
            <a:extLst>
              <a:ext uri="{FF2B5EF4-FFF2-40B4-BE49-F238E27FC236}">
                <a16:creationId xmlns:a16="http://schemas.microsoft.com/office/drawing/2014/main" id="{716F0522-063B-82DA-CA9B-623C97850D84}"/>
              </a:ext>
            </a:extLst>
          </p:cNvPr>
          <p:cNvSpPr>
            <a:spLocks noGrp="1"/>
          </p:cNvSpPr>
          <p:nvPr>
            <p:ph type="dt" sz="half" idx="10"/>
          </p:nvPr>
        </p:nvSpPr>
        <p:spPr/>
        <p:txBody>
          <a:bodyPr/>
          <a:lstStyle/>
          <a:p>
            <a:fld id="{07CA8621-B642-4385-8CAC-D96C4ABE5A3A}" type="datetime1">
              <a:t>9/17/2025</a:t>
            </a:fld>
            <a:endParaRPr lang="en-US"/>
          </a:p>
        </p:txBody>
      </p:sp>
      <p:sp>
        <p:nvSpPr>
          <p:cNvPr id="5" name="Footer Placeholder 4">
            <a:extLst>
              <a:ext uri="{FF2B5EF4-FFF2-40B4-BE49-F238E27FC236}">
                <a16:creationId xmlns:a16="http://schemas.microsoft.com/office/drawing/2014/main" id="{F008C6CC-859C-C8F2-5760-D08D140EE18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06045F3-EC81-0586-0B84-307B89A95957}"/>
              </a:ext>
            </a:extLst>
          </p:cNvPr>
          <p:cNvSpPr>
            <a:spLocks noGrp="1"/>
          </p:cNvSpPr>
          <p:nvPr>
            <p:ph type="sldNum" sz="quarter" idx="12"/>
          </p:nvPr>
        </p:nvSpPr>
        <p:spPr/>
        <p:txBody>
          <a:bodyPr/>
          <a:lstStyle/>
          <a:p>
            <a:fld id="{E30AF5A0-43BB-4336-8627-9123B9144D80}" type="slidenum">
              <a:rPr lang="en-US" dirty="0"/>
              <a:t>30</a:t>
            </a:fld>
            <a:endParaRPr lang="en-US"/>
          </a:p>
        </p:txBody>
      </p:sp>
      <p:pic>
        <p:nvPicPr>
          <p:cNvPr id="8" name="Picture 7" descr="A collage of images of a dog&#10;&#10;AI-generated content may be incorrect.">
            <a:extLst>
              <a:ext uri="{FF2B5EF4-FFF2-40B4-BE49-F238E27FC236}">
                <a16:creationId xmlns:a16="http://schemas.microsoft.com/office/drawing/2014/main" id="{53F0EBBA-437F-9A3E-482C-4347956587F7}"/>
              </a:ext>
            </a:extLst>
          </p:cNvPr>
          <p:cNvPicPr>
            <a:picLocks noChangeAspect="1"/>
          </p:cNvPicPr>
          <p:nvPr/>
        </p:nvPicPr>
        <p:blipFill>
          <a:blip r:embed="rId3"/>
          <a:stretch>
            <a:fillRect/>
          </a:stretch>
        </p:blipFill>
        <p:spPr>
          <a:xfrm>
            <a:off x="4686122" y="2660665"/>
            <a:ext cx="5943600" cy="1533525"/>
          </a:xfrm>
          <a:prstGeom prst="rect">
            <a:avLst/>
          </a:prstGeom>
          <a:ln>
            <a:noFill/>
          </a:ln>
          <a:effectLst>
            <a:outerShdw blurRad="292100" dist="139700" dir="2700000" algn="tl" rotWithShape="0">
              <a:srgbClr val="333333">
                <a:alpha val="65000"/>
              </a:srgbClr>
            </a:outerShdw>
          </a:effectLst>
        </p:spPr>
      </p:pic>
      <p:pic>
        <p:nvPicPr>
          <p:cNvPr id="9" name="Picture 8" descr="A collage of images of vehicles&#10;&#10;AI-generated content may be incorrect.">
            <a:extLst>
              <a:ext uri="{FF2B5EF4-FFF2-40B4-BE49-F238E27FC236}">
                <a16:creationId xmlns:a16="http://schemas.microsoft.com/office/drawing/2014/main" id="{967B6AEE-2F0D-AA75-F819-F52D0858B20A}"/>
              </a:ext>
            </a:extLst>
          </p:cNvPr>
          <p:cNvPicPr>
            <a:picLocks noChangeAspect="1"/>
          </p:cNvPicPr>
          <p:nvPr/>
        </p:nvPicPr>
        <p:blipFill>
          <a:blip r:embed="rId4"/>
          <a:stretch>
            <a:fillRect/>
          </a:stretch>
        </p:blipFill>
        <p:spPr>
          <a:xfrm>
            <a:off x="4686122" y="4387617"/>
            <a:ext cx="5943600" cy="15525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875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5A681-F0C1-273A-B4D7-952BB7D49D81}"/>
              </a:ext>
            </a:extLst>
          </p:cNvPr>
          <p:cNvSpPr>
            <a:spLocks noGrp="1"/>
          </p:cNvSpPr>
          <p:nvPr>
            <p:ph type="title"/>
          </p:nvPr>
        </p:nvSpPr>
        <p:spPr/>
        <p:txBody>
          <a:bodyPr/>
          <a:lstStyle/>
          <a:p>
            <a:pPr algn="ctr"/>
            <a:r>
              <a:rPr lang="en-US"/>
              <a:t>results</a:t>
            </a:r>
          </a:p>
        </p:txBody>
      </p:sp>
      <p:sp>
        <p:nvSpPr>
          <p:cNvPr id="4" name="Date Placeholder 3">
            <a:extLst>
              <a:ext uri="{FF2B5EF4-FFF2-40B4-BE49-F238E27FC236}">
                <a16:creationId xmlns:a16="http://schemas.microsoft.com/office/drawing/2014/main" id="{80A8E68D-C154-3587-C1C4-2B8FA4535702}"/>
              </a:ext>
            </a:extLst>
          </p:cNvPr>
          <p:cNvSpPr>
            <a:spLocks noGrp="1"/>
          </p:cNvSpPr>
          <p:nvPr>
            <p:ph type="dt" sz="half" idx="10"/>
          </p:nvPr>
        </p:nvSpPr>
        <p:spPr/>
        <p:txBody>
          <a:bodyPr/>
          <a:lstStyle/>
          <a:p>
            <a:fld id="{432F0CE8-CF0E-4F8B-9BB8-9030873BF618}" type="datetime1">
              <a:t>9/17/2025</a:t>
            </a:fld>
            <a:endParaRPr lang="en-US"/>
          </a:p>
        </p:txBody>
      </p:sp>
      <p:sp>
        <p:nvSpPr>
          <p:cNvPr id="5" name="Footer Placeholder 4">
            <a:extLst>
              <a:ext uri="{FF2B5EF4-FFF2-40B4-BE49-F238E27FC236}">
                <a16:creationId xmlns:a16="http://schemas.microsoft.com/office/drawing/2014/main" id="{7B554BA2-A368-098B-33A5-70C8F54217C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70B60C9-557E-CA00-7191-D4775FF52ECF}"/>
              </a:ext>
            </a:extLst>
          </p:cNvPr>
          <p:cNvSpPr>
            <a:spLocks noGrp="1"/>
          </p:cNvSpPr>
          <p:nvPr>
            <p:ph type="sldNum" sz="quarter" idx="12"/>
          </p:nvPr>
        </p:nvSpPr>
        <p:spPr/>
        <p:txBody>
          <a:bodyPr/>
          <a:lstStyle/>
          <a:p>
            <a:fld id="{E30AF5A0-43BB-4336-8627-9123B9144D80}" type="slidenum">
              <a:rPr lang="en-US" dirty="0"/>
              <a:t>31</a:t>
            </a:fld>
            <a:endParaRPr lang="en-US"/>
          </a:p>
        </p:txBody>
      </p:sp>
      <p:pic>
        <p:nvPicPr>
          <p:cNvPr id="10" name="Content Placeholder 9" descr="A collage of images of different colors&#10;&#10;AI-generated content may be incorrect.">
            <a:extLst>
              <a:ext uri="{FF2B5EF4-FFF2-40B4-BE49-F238E27FC236}">
                <a16:creationId xmlns:a16="http://schemas.microsoft.com/office/drawing/2014/main" id="{6854A847-6405-6496-D152-B9902E642058}"/>
              </a:ext>
            </a:extLst>
          </p:cNvPr>
          <p:cNvPicPr>
            <a:picLocks noGrp="1" noChangeAspect="1"/>
          </p:cNvPicPr>
          <p:nvPr>
            <p:ph idx="1"/>
          </p:nvPr>
        </p:nvPicPr>
        <p:blipFill>
          <a:blip r:embed="rId2"/>
          <a:stretch>
            <a:fillRect/>
          </a:stretch>
        </p:blipFill>
        <p:spPr>
          <a:xfrm>
            <a:off x="298907" y="1981931"/>
            <a:ext cx="5600700" cy="2905125"/>
          </a:xfrm>
          <a:prstGeom prst="rect">
            <a:avLst/>
          </a:prstGeom>
          <a:ln>
            <a:noFill/>
          </a:ln>
          <a:effectLst>
            <a:outerShdw blurRad="292100" dist="139700" dir="2700000" algn="tl" rotWithShape="0">
              <a:srgbClr val="333333">
                <a:alpha val="65000"/>
              </a:srgbClr>
            </a:outerShdw>
          </a:effectLst>
        </p:spPr>
      </p:pic>
      <p:pic>
        <p:nvPicPr>
          <p:cNvPr id="13" name="Picture 12" descr="A collage of images of different colors&#10;&#10;AI-generated content may be incorrect.">
            <a:extLst>
              <a:ext uri="{FF2B5EF4-FFF2-40B4-BE49-F238E27FC236}">
                <a16:creationId xmlns:a16="http://schemas.microsoft.com/office/drawing/2014/main" id="{52DADEB6-8898-57D2-6E61-1BC3E0337C80}"/>
              </a:ext>
            </a:extLst>
          </p:cNvPr>
          <p:cNvPicPr>
            <a:picLocks noChangeAspect="1"/>
          </p:cNvPicPr>
          <p:nvPr/>
        </p:nvPicPr>
        <p:blipFill>
          <a:blip r:embed="rId3"/>
          <a:stretch>
            <a:fillRect/>
          </a:stretch>
        </p:blipFill>
        <p:spPr>
          <a:xfrm>
            <a:off x="6208072" y="1969688"/>
            <a:ext cx="5707593" cy="29199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5941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5BF74-2DB5-7497-B12E-770E61531CF1}"/>
              </a:ext>
            </a:extLst>
          </p:cNvPr>
          <p:cNvSpPr>
            <a:spLocks noGrp="1"/>
          </p:cNvSpPr>
          <p:nvPr>
            <p:ph type="title"/>
          </p:nvPr>
        </p:nvSpPr>
        <p:spPr>
          <a:xfrm>
            <a:off x="709760" y="853653"/>
            <a:ext cx="10682140" cy="1439473"/>
          </a:xfrm>
        </p:spPr>
        <p:txBody>
          <a:bodyPr/>
          <a:lstStyle/>
          <a:p>
            <a:pPr algn="ctr"/>
            <a:r>
              <a:rPr lang="en-US"/>
              <a:t>results</a:t>
            </a:r>
          </a:p>
        </p:txBody>
      </p:sp>
      <p:pic>
        <p:nvPicPr>
          <p:cNvPr id="7" name="Content Placeholder 6" descr="A screenshot of a computer screen&#10;&#10;AI-generated content may be incorrect.">
            <a:extLst>
              <a:ext uri="{FF2B5EF4-FFF2-40B4-BE49-F238E27FC236}">
                <a16:creationId xmlns:a16="http://schemas.microsoft.com/office/drawing/2014/main" id="{60AEBA41-A5FB-B159-5F68-A8DF57ECD6C0}"/>
              </a:ext>
            </a:extLst>
          </p:cNvPr>
          <p:cNvPicPr>
            <a:picLocks noGrp="1" noChangeAspect="1"/>
          </p:cNvPicPr>
          <p:nvPr>
            <p:ph idx="1"/>
          </p:nvPr>
        </p:nvPicPr>
        <p:blipFill>
          <a:blip r:embed="rId2"/>
          <a:srcRect r="-14" b="-377"/>
          <a:stretch>
            <a:fillRect/>
          </a:stretch>
        </p:blipFill>
        <p:spPr>
          <a:xfrm>
            <a:off x="483762" y="1610028"/>
            <a:ext cx="5396583" cy="4218217"/>
          </a:xfrm>
          <a:prstGeom prst="rect">
            <a:avLst/>
          </a:prstGeom>
          <a:ln>
            <a:noFill/>
          </a:ln>
          <a:effectLst>
            <a:outerShdw blurRad="292100" dist="139700" dir="2700000" algn="tl" rotWithShape="0">
              <a:srgbClr val="333333">
                <a:alpha val="65000"/>
              </a:srgbClr>
            </a:outerShdw>
          </a:effectLst>
        </p:spPr>
      </p:pic>
      <p:sp>
        <p:nvSpPr>
          <p:cNvPr id="4" name="Date Placeholder 3">
            <a:extLst>
              <a:ext uri="{FF2B5EF4-FFF2-40B4-BE49-F238E27FC236}">
                <a16:creationId xmlns:a16="http://schemas.microsoft.com/office/drawing/2014/main" id="{461412E2-C27E-D4D2-0D03-7414408A701E}"/>
              </a:ext>
            </a:extLst>
          </p:cNvPr>
          <p:cNvSpPr>
            <a:spLocks noGrp="1"/>
          </p:cNvSpPr>
          <p:nvPr>
            <p:ph type="dt" sz="half" idx="10"/>
          </p:nvPr>
        </p:nvSpPr>
        <p:spPr/>
        <p:txBody>
          <a:bodyPr/>
          <a:lstStyle/>
          <a:p>
            <a:fld id="{18B1A41B-4BCD-4F5B-AA80-7DA09367265B}" type="datetime1">
              <a:t>9/17/2025</a:t>
            </a:fld>
            <a:endParaRPr lang="en-US"/>
          </a:p>
        </p:txBody>
      </p:sp>
      <p:sp>
        <p:nvSpPr>
          <p:cNvPr id="5" name="Footer Placeholder 4">
            <a:extLst>
              <a:ext uri="{FF2B5EF4-FFF2-40B4-BE49-F238E27FC236}">
                <a16:creationId xmlns:a16="http://schemas.microsoft.com/office/drawing/2014/main" id="{0B5EE74E-254F-B850-715F-4A75A8F1566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A731B29-9851-72E1-314D-C4C8D74CEF18}"/>
              </a:ext>
            </a:extLst>
          </p:cNvPr>
          <p:cNvSpPr>
            <a:spLocks noGrp="1"/>
          </p:cNvSpPr>
          <p:nvPr>
            <p:ph type="sldNum" sz="quarter" idx="12"/>
          </p:nvPr>
        </p:nvSpPr>
        <p:spPr/>
        <p:txBody>
          <a:bodyPr/>
          <a:lstStyle/>
          <a:p>
            <a:fld id="{E30AF5A0-43BB-4336-8627-9123B9144D80}" type="slidenum">
              <a:rPr lang="en-US" dirty="0"/>
              <a:t>32</a:t>
            </a:fld>
            <a:endParaRPr lang="en-US"/>
          </a:p>
        </p:txBody>
      </p:sp>
      <p:pic>
        <p:nvPicPr>
          <p:cNvPr id="9" name="Picture 8" descr="A collage of images of different colors&#10;&#10;AI-generated content may be incorrect.">
            <a:extLst>
              <a:ext uri="{FF2B5EF4-FFF2-40B4-BE49-F238E27FC236}">
                <a16:creationId xmlns:a16="http://schemas.microsoft.com/office/drawing/2014/main" id="{41C69D7C-62BC-FF24-2BE6-CF64D7BBAC61}"/>
              </a:ext>
            </a:extLst>
          </p:cNvPr>
          <p:cNvPicPr>
            <a:picLocks noChangeAspect="1"/>
          </p:cNvPicPr>
          <p:nvPr/>
        </p:nvPicPr>
        <p:blipFill>
          <a:blip r:embed="rId3"/>
          <a:stretch>
            <a:fillRect/>
          </a:stretch>
        </p:blipFill>
        <p:spPr>
          <a:xfrm>
            <a:off x="6286425" y="1611138"/>
            <a:ext cx="5452352" cy="42342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71442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ED2A-5543-76A8-7306-0A3003A136C4}"/>
              </a:ext>
            </a:extLst>
          </p:cNvPr>
          <p:cNvSpPr>
            <a:spLocks noGrp="1"/>
          </p:cNvSpPr>
          <p:nvPr>
            <p:ph type="title"/>
          </p:nvPr>
        </p:nvSpPr>
        <p:spPr/>
        <p:txBody>
          <a:bodyPr/>
          <a:lstStyle/>
          <a:p>
            <a:pPr algn="ctr"/>
            <a:r>
              <a:rPr lang="en-US"/>
              <a:t>Methods</a:t>
            </a:r>
          </a:p>
        </p:txBody>
      </p:sp>
      <p:pic>
        <p:nvPicPr>
          <p:cNvPr id="7" name="Content Placeholder 6" descr="Latent space visualization — Deep Learning bits #2 | by Julien Despois |  HackerNoon.com | Medium">
            <a:extLst>
              <a:ext uri="{FF2B5EF4-FFF2-40B4-BE49-F238E27FC236}">
                <a16:creationId xmlns:a16="http://schemas.microsoft.com/office/drawing/2014/main" id="{84DC8A46-769F-8DDB-4F77-AC137B0E50D6}"/>
              </a:ext>
            </a:extLst>
          </p:cNvPr>
          <p:cNvPicPr>
            <a:picLocks noGrp="1" noChangeAspect="1"/>
          </p:cNvPicPr>
          <p:nvPr>
            <p:ph idx="1"/>
          </p:nvPr>
        </p:nvPicPr>
        <p:blipFill>
          <a:blip r:embed="rId2"/>
          <a:stretch>
            <a:fillRect/>
          </a:stretch>
        </p:blipFill>
        <p:spPr>
          <a:xfrm>
            <a:off x="2009727" y="1713703"/>
            <a:ext cx="8077199" cy="3979389"/>
          </a:xfrm>
          <a:prstGeom prst="rect">
            <a:avLst/>
          </a:prstGeom>
        </p:spPr>
      </p:pic>
      <p:sp>
        <p:nvSpPr>
          <p:cNvPr id="4" name="Date Placeholder 3">
            <a:extLst>
              <a:ext uri="{FF2B5EF4-FFF2-40B4-BE49-F238E27FC236}">
                <a16:creationId xmlns:a16="http://schemas.microsoft.com/office/drawing/2014/main" id="{DC05C318-AC42-D803-6B62-69ABAC23E274}"/>
              </a:ext>
            </a:extLst>
          </p:cNvPr>
          <p:cNvSpPr>
            <a:spLocks noGrp="1"/>
          </p:cNvSpPr>
          <p:nvPr>
            <p:ph type="dt" sz="half" idx="10"/>
          </p:nvPr>
        </p:nvSpPr>
        <p:spPr/>
        <p:txBody>
          <a:bodyPr/>
          <a:lstStyle/>
          <a:p>
            <a:fld id="{498016D3-AE92-4D82-BF38-48EECCE3BD02}" type="datetime1">
              <a:t>9/17/2025</a:t>
            </a:fld>
            <a:endParaRPr lang="en-US"/>
          </a:p>
        </p:txBody>
      </p:sp>
      <p:sp>
        <p:nvSpPr>
          <p:cNvPr id="5" name="Footer Placeholder 4">
            <a:extLst>
              <a:ext uri="{FF2B5EF4-FFF2-40B4-BE49-F238E27FC236}">
                <a16:creationId xmlns:a16="http://schemas.microsoft.com/office/drawing/2014/main" id="{111CA09C-2325-D217-97F8-51407D5EEB2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A80A758-04D7-7E5B-77CE-64687074230F}"/>
              </a:ext>
            </a:extLst>
          </p:cNvPr>
          <p:cNvSpPr>
            <a:spLocks noGrp="1"/>
          </p:cNvSpPr>
          <p:nvPr>
            <p:ph type="sldNum" sz="quarter" idx="12"/>
          </p:nvPr>
        </p:nvSpPr>
        <p:spPr/>
        <p:txBody>
          <a:bodyPr/>
          <a:lstStyle/>
          <a:p>
            <a:fld id="{E30AF5A0-43BB-4336-8627-9123B9144D80}" type="slidenum">
              <a:rPr lang="en-US" dirty="0"/>
              <a:t>33</a:t>
            </a:fld>
            <a:endParaRPr lang="en-US"/>
          </a:p>
        </p:txBody>
      </p:sp>
    </p:spTree>
    <p:extLst>
      <p:ext uri="{BB962C8B-B14F-4D97-AF65-F5344CB8AC3E}">
        <p14:creationId xmlns:p14="http://schemas.microsoft.com/office/powerpoint/2010/main" val="933767974"/>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33</Slides>
  <Notes>0</Notes>
  <HiddenSlides>12</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ChronicleVTI</vt:lpstr>
      <vt:lpstr> </vt:lpstr>
      <vt:lpstr>Questions</vt:lpstr>
      <vt:lpstr>Challenges</vt:lpstr>
      <vt:lpstr>Challenges </vt:lpstr>
      <vt:lpstr>Solution </vt:lpstr>
      <vt:lpstr>    The pipeline</vt:lpstr>
      <vt:lpstr>DATa </vt:lpstr>
      <vt:lpstr>segmentation</vt:lpstr>
      <vt:lpstr>ERK Signaling</vt:lpstr>
      <vt:lpstr>tracking</vt:lpstr>
      <vt:lpstr>Machine Learning</vt:lpstr>
      <vt:lpstr>Obejective</vt:lpstr>
      <vt:lpstr>Cellpose</vt:lpstr>
      <vt:lpstr>Results</vt:lpstr>
      <vt:lpstr>Results</vt:lpstr>
      <vt:lpstr>results</vt:lpstr>
      <vt:lpstr>VAe</vt:lpstr>
      <vt:lpstr>PowerPoint Presentation</vt:lpstr>
      <vt:lpstr>PowerPoint Presentation</vt:lpstr>
      <vt:lpstr>VAe</vt:lpstr>
      <vt:lpstr>PowerPoint Presentation</vt:lpstr>
      <vt:lpstr>PowerPoint Presentation</vt:lpstr>
      <vt:lpstr>PowerPoint Presentation</vt:lpstr>
      <vt:lpstr>PowerPoint Presentation</vt:lpstr>
      <vt:lpstr>PowerPoint Presentation</vt:lpstr>
      <vt:lpstr>PowerPoint Presentation</vt:lpstr>
      <vt:lpstr>Implications</vt:lpstr>
      <vt:lpstr>Summary</vt:lpstr>
      <vt:lpstr>Methods</vt:lpstr>
      <vt:lpstr>  Results</vt:lpstr>
      <vt:lpstr>results</vt:lpstr>
      <vt:lpstr>results</vt:lpstr>
      <vt:lpstr>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13</cp:revision>
  <dcterms:created xsi:type="dcterms:W3CDTF">2025-07-31T18:19:50Z</dcterms:created>
  <dcterms:modified xsi:type="dcterms:W3CDTF">2025-09-18T02:22:06Z</dcterms:modified>
</cp:coreProperties>
</file>